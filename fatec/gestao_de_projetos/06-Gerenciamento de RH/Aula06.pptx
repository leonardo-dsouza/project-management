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9"/>
  </p:notesMasterIdLst>
  <p:sldIdLst>
    <p:sldId id="344" r:id="rId2"/>
    <p:sldId id="367" r:id="rId3"/>
    <p:sldId id="370" r:id="rId4"/>
    <p:sldId id="369" r:id="rId5"/>
    <p:sldId id="371" r:id="rId6"/>
    <p:sldId id="372" r:id="rId7"/>
    <p:sldId id="374" r:id="rId8"/>
    <p:sldId id="375" r:id="rId9"/>
    <p:sldId id="376" r:id="rId10"/>
    <p:sldId id="377" r:id="rId11"/>
    <p:sldId id="378" r:id="rId12"/>
    <p:sldId id="379" r:id="rId13"/>
    <p:sldId id="380" r:id="rId14"/>
    <p:sldId id="381" r:id="rId15"/>
    <p:sldId id="382" r:id="rId16"/>
    <p:sldId id="383" r:id="rId17"/>
    <p:sldId id="384" r:id="rId18"/>
  </p:sldIdLst>
  <p:sldSz cx="9144000" cy="5143500" type="screen16x9"/>
  <p:notesSz cx="6858000" cy="9144000"/>
  <p:defaultTextStyle>
    <a:lvl1pPr marL="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42" autoAdjust="0"/>
    <p:restoredTop sz="87567" autoAdjust="0"/>
  </p:normalViewPr>
  <p:slideViewPr>
    <p:cSldViewPr>
      <p:cViewPr>
        <p:scale>
          <a:sx n="94" d="100"/>
          <a:sy n="94" d="100"/>
        </p:scale>
        <p:origin x="-588" y="15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pt-BR" sz="1200"/>
            </a:lvl1pPr>
            <a:extLst/>
          </a:lstStyle>
          <a:p>
            <a:fld id="{A8ADFD5B-A66C-449C-B6E8-FB716D07777D}" type="datetimeFigureOut">
              <a:pPr/>
              <a:t>10/05/2015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>
            <a:extLst/>
          </a:lstStyle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>
            <a:extLst/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pt-BR" sz="1200"/>
            </a:lvl1pPr>
            <a:extLst/>
          </a:lstStyle>
          <a:p>
            <a:fld id="{CA5D3BF3-D352-46FC-8343-31F56E6730EA}" type="slidenum"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3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pt-BR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pt-BR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kumimoji="0" lang="pt-BR">
                <a:solidFill>
                  <a:srgbClr val="FFFFFF"/>
                </a:solidFill>
              </a:rPr>
              <a:pPr algn="ctr"/>
              <a:t>10/05/2015</a:t>
            </a:fld>
            <a:endParaRPr kumimoji="0" lang="pt-B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pt-BR" cap="all" baseline="0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606EA6-EFEA-4C30-9264-4F9291A5780D}" type="datetime1">
              <a:pPr/>
              <a:t>10/05/2015</a:t>
            </a:fld>
            <a:endParaRPr kumimoji="0" lang="pt-BR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pt-BR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pt-BR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pt-BR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pt-BR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pt-BR"/>
              <a:t>Clique para editar o título Mestre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CF9F07-3BC7-4570-B054-79111B0A380C}" type="datetime1">
              <a:pPr/>
              <a:t>10/05/2015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pt-BR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2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E4606EA6-EFEA-4C30-9264-4F9291A5780D}" type="datetime1">
              <a:pPr/>
              <a:t>10/05/2015</a:t>
            </a:fld>
            <a:endParaRPr kumimoji="0"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kumimoji="0"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pt-BR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E4606EA6-EFEA-4C30-9264-4F9291A5780D}" type="datetime1">
              <a:pPr/>
              <a:t>10/05/2015</a:t>
            </a:fld>
            <a:endParaRPr kumimoji="0"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kumimoji="0" lang="pt-B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DFADB5D-B7A0-47E3-AD2D-B1A6F8614213}" type="datetime1">
              <a:pPr/>
              <a:t>10/05/2015</a:t>
            </a:fld>
            <a:endParaRPr kumimoji="0"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2968126-03FC-49C0-B9B8-2B561CCC3D90}" type="datetime1">
              <a:pPr/>
              <a:t>10/05/2015</a:t>
            </a:fld>
            <a:endParaRPr kumimoji="0"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pt-BR" sz="4200" b="0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9A8198-4617-485E-9585-4840B69DBBA6}" type="datetime1">
              <a:pPr/>
              <a:t>10/05/2015</a:t>
            </a:fld>
            <a:endParaRPr kumimoji="0"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pt-BR" sz="1800"/>
            </a:lvl1pPr>
            <a:lvl2pPr eaLnBrk="1" latinLnBrk="0" hangingPunct="1">
              <a:buNone/>
              <a:defRPr kumimoji="0" lang="pt-BR" sz="1200"/>
            </a:lvl2pPr>
            <a:lvl3pPr eaLnBrk="1" latinLnBrk="0" hangingPunct="1">
              <a:buNone/>
              <a:defRPr kumimoji="0" lang="pt-BR" sz="1000"/>
            </a:lvl3pPr>
            <a:lvl4pPr eaLnBrk="1" latinLnBrk="0" hangingPunct="1">
              <a:buNone/>
              <a:defRPr kumimoji="0" lang="pt-BR" sz="900"/>
            </a:lvl4pPr>
            <a:lvl5pPr eaLnBrk="1" latinLnBrk="0" hangingPunct="1"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pt-BR"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pt-BR" sz="1700"/>
            </a:lvl1pPr>
            <a:lvl2pPr eaLnBrk="1" latinLnBrk="0" hangingPunct="1">
              <a:buFontTx/>
              <a:buNone/>
              <a:defRPr kumimoji="0" lang="pt-BR" sz="1200"/>
            </a:lvl2pPr>
            <a:lvl3pPr eaLnBrk="1" latinLnBrk="0" hangingPunct="1">
              <a:buFontTx/>
              <a:buNone/>
              <a:defRPr kumimoji="0" lang="pt-BR" sz="1000"/>
            </a:lvl3pPr>
            <a:lvl4pPr eaLnBrk="1" latinLnBrk="0" hangingPunct="1">
              <a:buFontTx/>
              <a:buNone/>
              <a:defRPr kumimoji="0" lang="pt-BR" sz="900"/>
            </a:lvl4pPr>
            <a:lvl5pPr eaLnBrk="1" latinLnBrk="0" hangingPunct="1">
              <a:buFontTx/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pt-BR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>
            <a:extLst/>
          </a:lstStyle>
          <a:p>
            <a:fld id="{E4606EA6-EFEA-4C30-9264-4F9291A5780D}" type="datetime1">
              <a:pPr/>
              <a:t>10/05/2015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pt-BR" sz="2800"/>
            </a:lvl1pPr>
            <a:extLst/>
          </a:lstStyle>
          <a:p>
            <a:pPr algn="ctr"/>
            <a:fld id="{8F82E0A0-C266-4798-8C8F-B9F91E9DA37E}" type="slidenum">
              <a:rPr kumimoji="0" lang="pt-BR" sz="28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>
            <a:extLst/>
          </a:lstStyle>
          <a:p>
            <a:endParaRPr kumimoji="0"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10/05/2015</a:t>
            </a:fld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pt-BR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pPr eaLnBrk="1" latinLnBrk="0" hangingPunct="1"/>
            <a:r>
              <a:rPr kumimoji="0" lang="pt-BR" smtClean="0"/>
              <a:t>Clique para editar o título mestre</a:t>
            </a:r>
            <a:endParaRPr kumimoji="0" 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latinLnBrk="0" hangingPunct="1">
        <a:spcBef>
          <a:spcPct val="0"/>
        </a:spcBef>
        <a:buNone/>
        <a:defRPr kumimoji="0" lang="pt-BR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2339752" y="4659982"/>
            <a:ext cx="6515100" cy="555526"/>
          </a:xfrm>
        </p:spPr>
        <p:txBody>
          <a:bodyPr>
            <a:normAutofit fontScale="55000" lnSpcReduction="20000"/>
          </a:bodyPr>
          <a:lstStyle>
            <a:extLst/>
          </a:lstStyle>
          <a:p>
            <a:r>
              <a:rPr lang="pt-BR" dirty="0" smtClean="0"/>
              <a:t>Análise e Desenvolvimento de Sistemas</a:t>
            </a:r>
          </a:p>
          <a:p>
            <a:r>
              <a:rPr lang="en-US" dirty="0" smtClean="0"/>
              <a:t>Prof. Claudio Lima </a:t>
            </a:r>
            <a:r>
              <a:rPr lang="en-US" dirty="0"/>
              <a:t>- http://</a:t>
            </a:r>
            <a:r>
              <a:rPr lang="en-US" dirty="0" smtClean="0"/>
              <a:t>lattes.cnpq.br/</a:t>
            </a:r>
            <a:r>
              <a:rPr lang="pt-BR" dirty="0"/>
              <a:t>9330552327454666</a:t>
            </a:r>
            <a:r>
              <a:rPr lang="en-US" dirty="0" smtClean="0"/>
              <a:t> </a:t>
            </a:r>
            <a:endParaRPr lang="en-US" dirty="0"/>
          </a:p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pt-BR" dirty="0" smtClean="0"/>
              <a:t>GESTÃO DE PROJETOS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881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Gerenciamento dos RH do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pt-BR" dirty="0" smtClean="0"/>
              <a:t>Segundo o Guia PMBOK, o gerenciamento do RH do projeto inclui os processos que organizam e gerenciam a equipe do projeto.</a:t>
            </a:r>
          </a:p>
          <a:p>
            <a:pPr algn="just"/>
            <a:r>
              <a:rPr lang="pt-BR" dirty="0" smtClean="0"/>
              <a:t>A equipe é composta por pessoas com funções e responsabilidades atribuídas com foco no término do projeto.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390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Gerenciamento dos RH do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 smtClean="0"/>
              <a:t>Os processos incluídos na GRH são: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798812"/>
            <a:ext cx="8712968" cy="33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461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Planejar o gerenciamento dos RH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0" y="1352550"/>
            <a:ext cx="9144000" cy="379095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u="sng" dirty="0" smtClean="0"/>
              <a:t>Identificação</a:t>
            </a:r>
            <a:r>
              <a:rPr lang="pt-BR" dirty="0" smtClean="0"/>
              <a:t> e documentação das funções, responsabilidade e </a:t>
            </a:r>
            <a:r>
              <a:rPr lang="pt-BR" u="sng" dirty="0" smtClean="0"/>
              <a:t>relações hierárquica do projeto</a:t>
            </a:r>
            <a:r>
              <a:rPr lang="pt-BR" dirty="0" smtClean="0"/>
              <a:t>.</a:t>
            </a:r>
          </a:p>
          <a:p>
            <a:pPr algn="just"/>
            <a:r>
              <a:rPr lang="pt-BR" dirty="0" smtClean="0"/>
              <a:t>Funções e responsabilidades</a:t>
            </a:r>
          </a:p>
          <a:p>
            <a:pPr lvl="1" algn="just"/>
            <a:r>
              <a:rPr lang="pt-BR" b="1" dirty="0" smtClean="0"/>
              <a:t>Função</a:t>
            </a:r>
            <a:r>
              <a:rPr lang="pt-BR" dirty="0" smtClean="0"/>
              <a:t> – parte do projeto pelo qual uma pessoa é responsável (engenheiro, advogado, projetista)</a:t>
            </a:r>
          </a:p>
          <a:p>
            <a:pPr lvl="1" algn="just"/>
            <a:r>
              <a:rPr lang="pt-BR" b="1" dirty="0" smtClean="0"/>
              <a:t>Autoridade</a:t>
            </a:r>
            <a:r>
              <a:rPr lang="pt-BR" dirty="0" smtClean="0"/>
              <a:t> – direito de aplicar recursos, tomar decisões, assinar aprovações </a:t>
            </a:r>
            <a:endParaRPr lang="pt-BR" dirty="0" smtClean="0"/>
          </a:p>
          <a:p>
            <a:pPr lvl="1" algn="just"/>
            <a:r>
              <a:rPr lang="pt-BR" b="1" dirty="0" smtClean="0"/>
              <a:t>Responsabilidade</a:t>
            </a:r>
            <a:r>
              <a:rPr lang="pt-BR" dirty="0" smtClean="0"/>
              <a:t> </a:t>
            </a:r>
            <a:r>
              <a:rPr lang="pt-BR" dirty="0" smtClean="0"/>
              <a:t>– trabalho que um membro da equipe deve  realizar para terminar as atividades do projeto</a:t>
            </a:r>
          </a:p>
          <a:p>
            <a:pPr lvl="1" algn="just"/>
            <a:r>
              <a:rPr lang="pt-BR" b="1" dirty="0" smtClean="0"/>
              <a:t>Competência</a:t>
            </a:r>
            <a:r>
              <a:rPr lang="pt-BR" dirty="0" smtClean="0"/>
              <a:t> – habilidade e capacidade para terminar as atividades do projeto</a:t>
            </a:r>
          </a:p>
          <a:p>
            <a:pPr lvl="1" algn="just"/>
            <a:endParaRPr lang="pt-BR" dirty="0" smtClean="0"/>
          </a:p>
          <a:p>
            <a:pPr lvl="1"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7670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Planejar o gerenciamento dos RH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07504" y="1352550"/>
            <a:ext cx="9036496" cy="3667472"/>
          </a:xfrm>
        </p:spPr>
        <p:txBody>
          <a:bodyPr>
            <a:normAutofit fontScale="92500"/>
          </a:bodyPr>
          <a:lstStyle/>
          <a:p>
            <a:r>
              <a:rPr lang="pt-BR" sz="2400" dirty="0" smtClean="0"/>
              <a:t>Definir o Organograma do projeto</a:t>
            </a:r>
          </a:p>
          <a:p>
            <a:r>
              <a:rPr lang="pt-BR" sz="2400" dirty="0" smtClean="0"/>
              <a:t>Criação do plano de gerenciamento de pessoal, que pode incluir:</a:t>
            </a:r>
          </a:p>
          <a:p>
            <a:pPr lvl="1"/>
            <a:r>
              <a:rPr lang="pt-BR" sz="2100" dirty="0" smtClean="0"/>
              <a:t>Informações de como e quando os membros serão contratados ou mobilizados</a:t>
            </a:r>
          </a:p>
          <a:p>
            <a:pPr lvl="1"/>
            <a:r>
              <a:rPr lang="pt-BR" sz="2100" dirty="0" smtClean="0"/>
              <a:t>Identificação da necessidade de treinamento</a:t>
            </a:r>
          </a:p>
          <a:p>
            <a:pPr lvl="1"/>
            <a:r>
              <a:rPr lang="pt-BR" sz="2100" dirty="0" smtClean="0"/>
              <a:t>Planos de reconhecimento e premiação</a:t>
            </a:r>
          </a:p>
          <a:p>
            <a:pPr lvl="1"/>
            <a:r>
              <a:rPr lang="pt-BR" sz="2100" dirty="0" smtClean="0"/>
              <a:t>Considerações sobre segurança(proteção as pessoas)</a:t>
            </a:r>
          </a:p>
          <a:p>
            <a:pPr lvl="1"/>
            <a:r>
              <a:rPr lang="pt-BR" sz="2100" dirty="0" smtClean="0"/>
              <a:t>Impacto na organização</a:t>
            </a:r>
          </a:p>
          <a:p>
            <a:pPr lvl="1"/>
            <a:r>
              <a:rPr lang="pt-BR" sz="2100" dirty="0" smtClean="0"/>
              <a:t>Tabela de horários</a:t>
            </a:r>
          </a:p>
          <a:p>
            <a:pPr lvl="1"/>
            <a:r>
              <a:rPr lang="pt-BR" sz="2100" dirty="0" smtClean="0"/>
              <a:t>Critérios de liberação</a:t>
            </a:r>
          </a:p>
          <a:p>
            <a:pPr lvl="1"/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1420510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Planejar o gerenciamento dos RH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35496" y="1352550"/>
            <a:ext cx="9073008" cy="3276600"/>
          </a:xfrm>
        </p:spPr>
        <p:txBody>
          <a:bodyPr/>
          <a:lstStyle/>
          <a:p>
            <a:r>
              <a:rPr lang="pt-BR" dirty="0" smtClean="0"/>
              <a:t>ENTRADAS</a:t>
            </a:r>
          </a:p>
          <a:p>
            <a:pPr lvl="1"/>
            <a:r>
              <a:rPr lang="pt-BR" dirty="0" smtClean="0"/>
              <a:t>Fatores organizacionais (departamentos envolvidos, acordos trabalhistas, áreas técnicas, hierarquia, diferenças culturais, relacionamento com liderança, partes interessadas)</a:t>
            </a:r>
          </a:p>
          <a:p>
            <a:pPr marL="365760" lvl="1" indent="0">
              <a:buNone/>
            </a:pPr>
            <a:endParaRPr lang="pt-BR" dirty="0" smtClean="0"/>
          </a:p>
          <a:p>
            <a:pPr marL="365760" lvl="1" indent="0">
              <a:buNone/>
            </a:pPr>
            <a:r>
              <a:rPr lang="pt-BR" dirty="0" smtClean="0"/>
              <a:t> 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8830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Planejar o gerenciamento dos RH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0" y="1352550"/>
            <a:ext cx="9108504" cy="35954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dirty="0" smtClean="0"/>
              <a:t>FERRAMENTAS E TÉCNICAS</a:t>
            </a:r>
          </a:p>
          <a:p>
            <a:pPr lvl="1" algn="just"/>
            <a:r>
              <a:rPr lang="pt-BR" b="1" dirty="0" smtClean="0"/>
              <a:t>MATRIZ DE RESPONSABILIDADE</a:t>
            </a:r>
            <a:r>
              <a:rPr lang="pt-BR" dirty="0" smtClean="0"/>
              <a:t>: Consiste em uma matriz de  dupla entrada que contempla as atividades a serem executadas, bem  como os correspondentes envolvidos na execução de cada atividade.</a:t>
            </a:r>
          </a:p>
          <a:p>
            <a:pPr lvl="1" algn="just"/>
            <a:r>
              <a:rPr lang="pt-BR" b="1" dirty="0" smtClean="0"/>
              <a:t>HISTOGRAMAS DE RECURSOS</a:t>
            </a:r>
            <a:r>
              <a:rPr lang="pt-BR" dirty="0" smtClean="0"/>
              <a:t>: Representa de forma gráfica, o número de recursos a ser empregado no projeto ao longo do tempo</a:t>
            </a:r>
          </a:p>
          <a:p>
            <a:pPr lvl="1" algn="just"/>
            <a:r>
              <a:rPr lang="pt-BR" b="1" dirty="0" smtClean="0"/>
              <a:t>GANTT CHART DE RECURSOS</a:t>
            </a:r>
            <a:r>
              <a:rPr lang="pt-BR" dirty="0" smtClean="0"/>
              <a:t>: Demostra quando os recursos serão utilizado no projeto. Correspondente a um cronograma de utilização de recursos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1674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Planejar o gerenciamento dos RH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336383"/>
            <a:ext cx="7071940" cy="3807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8926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Planejar o gerenciamento dos RH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353705"/>
            <a:ext cx="6480720" cy="3707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129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Mobilizar a Equipe 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323528" y="1352550"/>
            <a:ext cx="8439472" cy="330743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dirty="0" smtClean="0"/>
              <a:t>Obtenção de recursos necessários para terminar o projeto</a:t>
            </a:r>
          </a:p>
          <a:p>
            <a:pPr algn="just"/>
            <a:r>
              <a:rPr lang="pt-BR" dirty="0" smtClean="0"/>
              <a:t>A equipe de gerenciamento pode ter ou não controle sobre os membros da equipe do projeto</a:t>
            </a:r>
          </a:p>
          <a:p>
            <a:pPr algn="just"/>
            <a:r>
              <a:rPr lang="pt-BR" dirty="0" smtClean="0"/>
              <a:t>Designação de pessoal para o projeto (quadro de pessoal do projeto)</a:t>
            </a:r>
          </a:p>
          <a:p>
            <a:pPr algn="just"/>
            <a:r>
              <a:rPr lang="pt-BR" dirty="0" smtClean="0"/>
              <a:t>Disponibilidade de recursos</a:t>
            </a:r>
          </a:p>
          <a:p>
            <a:pPr algn="just"/>
            <a:r>
              <a:rPr lang="pt-BR" dirty="0" smtClean="0"/>
              <a:t>Plano de gerenciamento de pessoal (atualizações)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2137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Mobilizar a Equipe de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251520" y="1352550"/>
            <a:ext cx="8511480" cy="3595464"/>
          </a:xfrm>
        </p:spPr>
        <p:txBody>
          <a:bodyPr>
            <a:normAutofit fontScale="85000" lnSpcReduction="20000"/>
          </a:bodyPr>
          <a:lstStyle/>
          <a:p>
            <a:r>
              <a:rPr lang="pt-BR" dirty="0" smtClean="0"/>
              <a:t>ENTRADA</a:t>
            </a:r>
          </a:p>
          <a:p>
            <a:pPr lvl="1"/>
            <a:r>
              <a:rPr lang="pt-BR" dirty="0" smtClean="0"/>
              <a:t>Fatores organizacionais da empresa</a:t>
            </a:r>
          </a:p>
          <a:p>
            <a:pPr lvl="1"/>
            <a:r>
              <a:rPr lang="pt-BR" dirty="0" smtClean="0"/>
              <a:t>Disponibilidade – quem está disponível e quando</a:t>
            </a:r>
          </a:p>
          <a:p>
            <a:pPr lvl="1"/>
            <a:r>
              <a:rPr lang="pt-BR" dirty="0" smtClean="0"/>
              <a:t>Capacidade – quais competências  as pessoas possuem</a:t>
            </a:r>
          </a:p>
          <a:p>
            <a:pPr lvl="1"/>
            <a:r>
              <a:rPr lang="pt-BR" dirty="0" smtClean="0"/>
              <a:t>Experiência – trabalhos anteriores</a:t>
            </a:r>
          </a:p>
          <a:p>
            <a:pPr lvl="1"/>
            <a:r>
              <a:rPr lang="pt-BR" dirty="0" smtClean="0"/>
              <a:t>Interesses – em trabalhar no projeto</a:t>
            </a:r>
          </a:p>
          <a:p>
            <a:pPr lvl="1"/>
            <a:r>
              <a:rPr lang="pt-BR" dirty="0" smtClean="0"/>
              <a:t>Custo – quanto receber</a:t>
            </a:r>
          </a:p>
          <a:p>
            <a:pPr lvl="1"/>
            <a:r>
              <a:rPr lang="pt-BR" dirty="0" smtClean="0"/>
              <a:t>Funções e responsabilidades</a:t>
            </a:r>
          </a:p>
          <a:p>
            <a:pPr lvl="1"/>
            <a:r>
              <a:rPr lang="pt-BR" dirty="0" smtClean="0"/>
              <a:t>Organograma do projeto</a:t>
            </a:r>
          </a:p>
          <a:p>
            <a:pPr lvl="1"/>
            <a:r>
              <a:rPr lang="pt-BR" dirty="0" smtClean="0"/>
              <a:t>Plano de gerenciamento do projeto (RH e cronograma)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7399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Mobilizar a Equipe de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79512" y="1352550"/>
            <a:ext cx="8856984" cy="3235424"/>
          </a:xfrm>
        </p:spPr>
        <p:txBody>
          <a:bodyPr/>
          <a:lstStyle/>
          <a:p>
            <a:r>
              <a:rPr lang="pt-BR" dirty="0" smtClean="0"/>
              <a:t>FERRAMENTAS E TÉCNICAS</a:t>
            </a:r>
          </a:p>
          <a:p>
            <a:pPr lvl="1"/>
            <a:r>
              <a:rPr lang="pt-BR" dirty="0" smtClean="0"/>
              <a:t>Definições antecipadas</a:t>
            </a:r>
          </a:p>
          <a:p>
            <a:pPr lvl="1"/>
            <a:r>
              <a:rPr lang="pt-BR" dirty="0" smtClean="0"/>
              <a:t>Negociação ( capacidade de influenciar outras pessoas)</a:t>
            </a:r>
          </a:p>
          <a:p>
            <a:pPr lvl="1"/>
            <a:r>
              <a:rPr lang="pt-BR" dirty="0" smtClean="0"/>
              <a:t>Contratações ou mobilização</a:t>
            </a:r>
          </a:p>
          <a:p>
            <a:pPr lvl="1"/>
            <a:r>
              <a:rPr lang="pt-BR" dirty="0" smtClean="0"/>
              <a:t>Equipe virtuais (área geográficas diferentes, adicionar especialistas  distantes)</a:t>
            </a:r>
          </a:p>
          <a:p>
            <a:pPr marL="365760" lvl="1" indent="0">
              <a:buNone/>
            </a:pPr>
            <a:endParaRPr lang="pt-BR" dirty="0" smtClean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1668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Desenvolver a Equipe do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07504" y="1347614"/>
            <a:ext cx="8655496" cy="3456384"/>
          </a:xfrm>
        </p:spPr>
        <p:txBody>
          <a:bodyPr/>
          <a:lstStyle/>
          <a:p>
            <a:r>
              <a:rPr lang="pt-BR" dirty="0" smtClean="0"/>
              <a:t>Melhorar as competências e a interação de membros da equipe  para aprimorar o desempenho do projeto</a:t>
            </a:r>
          </a:p>
          <a:p>
            <a:pPr lvl="1"/>
            <a:r>
              <a:rPr lang="pt-BR" dirty="0" smtClean="0"/>
              <a:t>Aprimorar habilidades para aumentar sua capacidade de terminar as atividades</a:t>
            </a:r>
          </a:p>
          <a:p>
            <a:pPr lvl="1"/>
            <a:r>
              <a:rPr lang="pt-BR" dirty="0" smtClean="0"/>
              <a:t>Aprimorar sentimento de confiança e coesão na equipe para aumentar produtividade</a:t>
            </a:r>
          </a:p>
          <a:p>
            <a:pPr marL="365760" lvl="1" indent="0">
              <a:buNone/>
            </a:pP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5524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Desenvolver a Equipe do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79512" y="1352550"/>
            <a:ext cx="8583488" cy="3307432"/>
          </a:xfrm>
        </p:spPr>
        <p:txBody>
          <a:bodyPr/>
          <a:lstStyle/>
          <a:p>
            <a:r>
              <a:rPr lang="pt-BR" dirty="0" smtClean="0"/>
              <a:t>Avaliação do desempenho da equipe ( avaliações informais ou formais da equipe)</a:t>
            </a:r>
          </a:p>
          <a:p>
            <a:pPr lvl="1"/>
            <a:r>
              <a:rPr lang="pt-BR" dirty="0" smtClean="0"/>
              <a:t>Indicadores de eficácia</a:t>
            </a:r>
          </a:p>
          <a:p>
            <a:pPr lvl="1"/>
            <a:r>
              <a:rPr lang="pt-BR" dirty="0" smtClean="0"/>
              <a:t>Melhoria de desempenho</a:t>
            </a:r>
          </a:p>
          <a:p>
            <a:pPr lvl="1"/>
            <a:r>
              <a:rPr lang="pt-BR" dirty="0" smtClean="0"/>
              <a:t>Melhoria de competências</a:t>
            </a:r>
          </a:p>
          <a:p>
            <a:pPr lvl="1"/>
            <a:r>
              <a:rPr lang="pt-BR" dirty="0" smtClean="0"/>
              <a:t>Taxa de rotatividade de pessoal reduzida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9642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Desenvolver a Equipe do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pt-BR" dirty="0" smtClean="0"/>
              <a:t>ENTRADAS</a:t>
            </a:r>
          </a:p>
          <a:p>
            <a:pPr lvl="1" algn="just"/>
            <a:r>
              <a:rPr lang="pt-BR" dirty="0" smtClean="0"/>
              <a:t>Designação de pessoal para o projeto</a:t>
            </a:r>
          </a:p>
          <a:p>
            <a:pPr lvl="1" algn="just"/>
            <a:r>
              <a:rPr lang="pt-BR" dirty="0" smtClean="0"/>
              <a:t>Plano de gerenciamento de pessoal (estratégias, planos de treinamento, feedback, premiações)</a:t>
            </a:r>
          </a:p>
          <a:p>
            <a:pPr lvl="1" algn="just"/>
            <a:r>
              <a:rPr lang="pt-BR" dirty="0" smtClean="0"/>
              <a:t>Disponibilidade de recursos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6512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Desenvolver a Equipe do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 smtClean="0"/>
              <a:t>FERRAMENTAS E TÉCNICAS</a:t>
            </a:r>
          </a:p>
          <a:p>
            <a:pPr lvl="1"/>
            <a:r>
              <a:rPr lang="pt-BR" dirty="0" smtClean="0"/>
              <a:t>Habilidades de gerenciamento geral</a:t>
            </a:r>
          </a:p>
          <a:p>
            <a:pPr lvl="1"/>
            <a:r>
              <a:rPr lang="pt-BR" dirty="0" smtClean="0"/>
              <a:t>Treinamento</a:t>
            </a:r>
          </a:p>
          <a:p>
            <a:pPr lvl="1"/>
            <a:r>
              <a:rPr lang="pt-BR" dirty="0" smtClean="0"/>
              <a:t>Atividades de formação da equipe(aprimorar a equipe, aumentar coesão, confiança)</a:t>
            </a:r>
          </a:p>
          <a:p>
            <a:pPr lvl="2"/>
            <a:r>
              <a:rPr lang="pt-BR" dirty="0" smtClean="0"/>
              <a:t>Experiência profissional</a:t>
            </a:r>
          </a:p>
          <a:p>
            <a:pPr lvl="2"/>
            <a:r>
              <a:rPr lang="pt-BR" dirty="0" smtClean="0"/>
              <a:t>Atividades em grupo</a:t>
            </a:r>
          </a:p>
          <a:p>
            <a:pPr marL="685800" lvl="2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5762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Gerenciar a Equipe 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323528" y="1352550"/>
            <a:ext cx="8439472" cy="3595464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Avaliação do desempenho dos membros da equipe e fornecer feedback</a:t>
            </a:r>
          </a:p>
          <a:p>
            <a:r>
              <a:rPr lang="pt-BR" dirty="0" smtClean="0"/>
              <a:t>Resolução de problemas e coordenação de mudanças para melhorar o desempenho</a:t>
            </a:r>
          </a:p>
          <a:p>
            <a:r>
              <a:rPr lang="pt-BR" dirty="0" smtClean="0"/>
              <a:t>Observar o comportamento da equipe</a:t>
            </a:r>
          </a:p>
          <a:p>
            <a:r>
              <a:rPr lang="pt-BR" dirty="0" smtClean="0"/>
              <a:t>Gerencia conflitos </a:t>
            </a:r>
          </a:p>
          <a:p>
            <a:r>
              <a:rPr lang="pt-BR" dirty="0" smtClean="0"/>
              <a:t>Resolve problemas</a:t>
            </a:r>
          </a:p>
          <a:p>
            <a:r>
              <a:rPr lang="pt-BR" dirty="0" smtClean="0"/>
              <a:t>Avaliar desempenho de membros da equipe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59725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resentação em Tela Larga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4A09C3E02A604AA8862569A8596A32" ma:contentTypeVersion="10" ma:contentTypeDescription="Crie um novo documento." ma:contentTypeScope="" ma:versionID="9ebcba8d9189bd2d1d9ae1a9ecdf9ecf">
  <xsd:schema xmlns:xsd="http://www.w3.org/2001/XMLSchema" xmlns:xs="http://www.w3.org/2001/XMLSchema" xmlns:p="http://schemas.microsoft.com/office/2006/metadata/properties" xmlns:ns2="bcbcbace-201e-4ef7-8869-cccbfceb4df8" xmlns:ns3="bf55bb95-0e2d-49eb-8730-bda5c0a73d75" targetNamespace="http://schemas.microsoft.com/office/2006/metadata/properties" ma:root="true" ma:fieldsID="5728f961ced8355fef59faf963e69c4f" ns2:_="" ns3:_="">
    <xsd:import namespace="bcbcbace-201e-4ef7-8869-cccbfceb4df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cbace-201e-4ef7-8869-cccbfceb4d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55b3ef0-86e3-4c4b-bf32-5e67dec0a599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bcbcbace-201e-4ef7-8869-cccbfceb4d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E3C9311-B428-4C94-A4EA-1E3C2F27003E}"/>
</file>

<file path=customXml/itemProps2.xml><?xml version="1.0" encoding="utf-8"?>
<ds:datastoreItem xmlns:ds="http://schemas.openxmlformats.org/officeDocument/2006/customXml" ds:itemID="{F2DD5214-DCAC-4CD4-AA91-7C091B79D084}"/>
</file>

<file path=customXml/itemProps3.xml><?xml version="1.0" encoding="utf-8"?>
<ds:datastoreItem xmlns:ds="http://schemas.openxmlformats.org/officeDocument/2006/customXml" ds:itemID="{1C795F1F-CAB4-403C-B178-9A5C4B72BB64}"/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652</Words>
  <Application>Microsoft Office PowerPoint</Application>
  <PresentationFormat>Apresentação na tela (16:9)</PresentationFormat>
  <Paragraphs>90</Paragraphs>
  <Slides>17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Apresentação em Tela Larga</vt:lpstr>
      <vt:lpstr>GESTÃO DE PROJETOS</vt:lpstr>
      <vt:lpstr>Gerenciamento dos RH do Projeto</vt:lpstr>
      <vt:lpstr>Gerenciamento dos RH do Projeto</vt:lpstr>
      <vt:lpstr>Planejar o gerenciamento dos RH</vt:lpstr>
      <vt:lpstr>Planejar o gerenciamento dos RH</vt:lpstr>
      <vt:lpstr>Planejar o gerenciamento dos RH</vt:lpstr>
      <vt:lpstr>Planejar o gerenciamento dos RH</vt:lpstr>
      <vt:lpstr>Planejar o gerenciamento dos RH</vt:lpstr>
      <vt:lpstr>Planejar o gerenciamento dos RH</vt:lpstr>
      <vt:lpstr>Mobilizar a Equipe de Projeto</vt:lpstr>
      <vt:lpstr>Mobilizar a Equipe de Projeto</vt:lpstr>
      <vt:lpstr>Mobilizar a Equipe de Projeto</vt:lpstr>
      <vt:lpstr>Desenvolver a Equipe do Projeto</vt:lpstr>
      <vt:lpstr>Desenvolver a Equipe do Projeto</vt:lpstr>
      <vt:lpstr>Desenvolver a Equipe do Projeto</vt:lpstr>
      <vt:lpstr>Desenvolver a Equipe do Projeto</vt:lpstr>
      <vt:lpstr>Gerenciar a Equipe de Projeto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2012-07-30T18:40:18Z</dcterms:created>
  <dcterms:modified xsi:type="dcterms:W3CDTF">2015-05-10T20:51:06Z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1046</vt:i4>
  </property>
  <property fmtid="{D5CDD505-2E9C-101B-9397-08002B2CF9AE}" pid="3" name="_Version">
    <vt:lpwstr>12.0.4518</vt:lpwstr>
  </property>
  <property fmtid="{D5CDD505-2E9C-101B-9397-08002B2CF9AE}" pid="4" name="ContentTypeId">
    <vt:lpwstr>0x010100134A09C3E02A604AA8862569A8596A32</vt:lpwstr>
  </property>
</Properties>
</file>