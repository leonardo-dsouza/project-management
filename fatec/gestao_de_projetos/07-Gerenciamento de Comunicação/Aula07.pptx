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8"/>
  </p:notesMasterIdLst>
  <p:sldIdLst>
    <p:sldId id="344" r:id="rId2"/>
    <p:sldId id="367" r:id="rId3"/>
    <p:sldId id="388" r:id="rId4"/>
    <p:sldId id="389" r:id="rId5"/>
    <p:sldId id="385" r:id="rId6"/>
    <p:sldId id="371" r:id="rId7"/>
    <p:sldId id="390" r:id="rId8"/>
    <p:sldId id="391" r:id="rId9"/>
    <p:sldId id="392" r:id="rId10"/>
    <p:sldId id="393" r:id="rId11"/>
    <p:sldId id="394" r:id="rId12"/>
    <p:sldId id="395" r:id="rId13"/>
    <p:sldId id="396" r:id="rId14"/>
    <p:sldId id="397" r:id="rId15"/>
    <p:sldId id="398" r:id="rId16"/>
    <p:sldId id="399" r:id="rId17"/>
  </p:sldIdLst>
  <p:sldSz cx="9144000" cy="5143500" type="screen16x9"/>
  <p:notesSz cx="6858000" cy="9144000"/>
  <p:defaultTextStyle>
    <a:lvl1pPr marL="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521415D9-36F7-43E2-AB2F-B90AF26B5E84}">
      <p14:sectionLst xmlns:p14="http://schemas.microsoft.com/office/powerpoint/2010/main">
        <p14:section name="Seção Padrão" id="{203FB7D2-A22B-4B46-9938-D1F022054E7B}">
          <p14:sldIdLst>
            <p14:sldId id="344"/>
            <p14:sldId id="367"/>
            <p14:sldId id="388"/>
            <p14:sldId id="389"/>
            <p14:sldId id="385"/>
          </p14:sldIdLst>
        </p14:section>
        <p14:section name="Seção sem Título" id="{FABA8FFE-7717-4BB0-BF40-F5191D5EF92C}">
          <p14:sldIdLst>
            <p14:sldId id="371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42" autoAdjust="0"/>
    <p:restoredTop sz="87567" autoAdjust="0"/>
  </p:normalViewPr>
  <p:slideViewPr>
    <p:cSldViewPr>
      <p:cViewPr>
        <p:scale>
          <a:sx n="94" d="100"/>
          <a:sy n="94" d="100"/>
        </p:scale>
        <p:origin x="-588" y="-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pt-BR" sz="1200"/>
            </a:lvl1pPr>
            <a:extLst/>
          </a:lstStyle>
          <a:p>
            <a:fld id="{A8ADFD5B-A66C-449C-B6E8-FB716D07777D}" type="datetimeFigureOut">
              <a:pPr/>
              <a:t>24/05/2015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>
            <a:extLst/>
          </a:lstStyle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>
            <a:extLst/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pt-BR" sz="1200"/>
            </a:lvl1pPr>
            <a:extLst/>
          </a:lstStyle>
          <a:p>
            <a:fld id="{CA5D3BF3-D352-46FC-8343-31F56E6730EA}" type="slidenum"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232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CA5D3BF3-D352-46FC-8343-31F56E6730EA}" type="slidenum">
              <a:rPr lang="pt-BR" smtClean="0"/>
              <a:pPr/>
              <a:t>1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 eaLnBrk="1" latinLnBrk="0" hangingPunct="1">
              <a:buNone/>
              <a:defRPr kumimoji="0" lang="pt-BR" sz="2800">
                <a:solidFill>
                  <a:srgbClr val="FFFFFF"/>
                </a:solidFill>
              </a:defRPr>
            </a:lvl1pPr>
            <a:lvl2pPr marL="457200" indent="0" algn="ctr" eaLnBrk="1" latinLnBrk="0" hangingPunct="1">
              <a:buNone/>
            </a:lvl2pPr>
            <a:lvl3pPr marL="914400" indent="0" algn="ctr" eaLnBrk="1" latinLnBrk="0" hangingPunct="1">
              <a:buNone/>
            </a:lvl3pPr>
            <a:lvl4pPr marL="1371600" indent="0" algn="ctr" eaLnBrk="1" latinLnBrk="0" hangingPunct="1">
              <a:buNone/>
            </a:lvl4pPr>
            <a:lvl5pPr marL="1828800" indent="0" algn="ctr" eaLnBrk="1" latinLnBrk="0" hangingPunct="1">
              <a:buNone/>
            </a:lvl5pPr>
            <a:lvl6pPr marL="2286000" indent="0" algn="ctr" eaLnBrk="1" latinLnBrk="0" hangingPunct="1">
              <a:buNone/>
            </a:lvl6pPr>
            <a:lvl7pPr marL="2743200" indent="0" algn="ctr" eaLnBrk="1" latinLnBrk="0" hangingPunct="1">
              <a:buNone/>
            </a:lvl7pPr>
            <a:lvl8pPr marL="3200400" indent="0" algn="ctr" eaLnBrk="1" latinLnBrk="0" hangingPunct="1">
              <a:buNone/>
            </a:lvl8pPr>
            <a:lvl9pPr marL="3657600" indent="0" algn="ctr" eaLnBrk="1" latinLnBrk="0" hangingPunct="1">
              <a:buNone/>
            </a:lvl9pPr>
            <a:extLst/>
          </a:lstStyle>
          <a:p>
            <a:pPr eaLnBrk="1" latinLnBrk="0" hangingPunct="1"/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 eaLnBrk="1" latinLnBrk="0" hangingPunct="1">
              <a:defRPr kumimoji="0" lang="pt-BR"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kumimoji="0" lang="pt-BR">
                <a:solidFill>
                  <a:srgbClr val="FFFFFF"/>
                </a:solidFill>
              </a:rPr>
              <a:pPr algn="ctr"/>
              <a:t>24/05/2015</a:t>
            </a:fld>
            <a:endParaRPr kumimoji="0" lang="pt-BR" sz="200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 eaLnBrk="1" latinLnBrk="0" hangingPunct="1">
              <a:defRPr kumimoji="0" lang="pt-BR" cap="all" baseline="0"/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4606EA6-EFEA-4C30-9264-4F9291A5780D}" type="datetime1">
              <a:pPr/>
              <a:t>24/05/2015</a:t>
            </a:fld>
            <a:endParaRPr kumimoji="0" lang="pt-BR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pt-BR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 eaLnBrk="1" latinLnBrk="0" hangingPunct="1">
              <a:buNone/>
              <a:defRPr kumimoji="0" lang="pt-BR" sz="2800">
                <a:solidFill>
                  <a:schemeClr val="tx2"/>
                </a:solidFill>
              </a:defRPr>
            </a:lvl1pPr>
            <a:lvl2pPr eaLnBrk="1" latinLnBrk="0" hangingPunct="1">
              <a:buNone/>
              <a:defRPr kumimoji="0" lang="pt-BR" sz="1800">
                <a:solidFill>
                  <a:schemeClr val="tx1">
                    <a:tint val="75000"/>
                  </a:schemeClr>
                </a:solidFill>
              </a:defRPr>
            </a:lvl2pPr>
            <a:lvl3pPr eaLnBrk="1" latinLnBrk="0" hangingPunct="1">
              <a:buNone/>
              <a:defRPr kumimoji="0" lang="pt-BR" sz="1600">
                <a:solidFill>
                  <a:schemeClr val="tx1">
                    <a:tint val="75000"/>
                  </a:schemeClr>
                </a:solidFill>
              </a:defRPr>
            </a:lvl3pPr>
            <a:lvl4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4pPr>
            <a:lvl5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 eaLnBrk="1" latinLnBrk="0" hangingPunct="1">
              <a:buNone/>
              <a:defRPr kumimoji="0" lang="pt-BR"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kumimoji="0" lang="pt-BR"/>
              <a:t>Clique para editar o título Mestre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FCF9F07-3BC7-4570-B054-79111B0A380C}" type="datetime1">
              <a:pPr/>
              <a:t>24/05/2015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 eaLnBrk="1" latinLnBrk="0" hangingPunct="1">
              <a:defRPr kumimoji="0" lang="pt-BR"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2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40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extLst/>
          </a:lstStyle>
          <a:p>
            <a:endParaRPr kumimoji="0"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extLst/>
          </a:lstStyle>
          <a:p>
            <a:fld id="{E4606EA6-EFEA-4C30-9264-4F9291A5780D}" type="datetime1">
              <a:pPr/>
              <a:t>24/05/2015</a:t>
            </a:fld>
            <a:endParaRPr kumimoji="0"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extLst/>
          </a:lstStyle>
          <a:p>
            <a:endParaRPr kumimoji="0"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 eaLnBrk="1" latinLnBrk="0" hangingPunct="1">
              <a:defRPr kumimoji="0" lang="pt-BR"/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extLst/>
          </a:lstStyle>
          <a:p>
            <a:fld id="{E4606EA6-EFEA-4C30-9264-4F9291A5780D}" type="datetime1">
              <a:pPr/>
              <a:t>24/05/2015</a:t>
            </a:fld>
            <a:endParaRPr kumimoji="0" lang="pt-BR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extLst/>
          </a:lstStyle>
          <a:p>
            <a:endParaRPr kumimoji="0" lang="pt-BR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DFADB5D-B7A0-47E3-AD2D-B1A6F8614213}" type="datetime1">
              <a:pPr/>
              <a:t>24/05/2015</a:t>
            </a:fld>
            <a:endParaRPr kumimoji="0"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2968126-03FC-49C0-B9B8-2B561CCC3D90}" type="datetime1">
              <a:pPr/>
              <a:t>24/05/2015</a:t>
            </a:fld>
            <a:endParaRPr kumimoji="0"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 eaLnBrk="1" latinLnBrk="0" hangingPunct="1">
              <a:buNone/>
              <a:defRPr kumimoji="0" lang="pt-BR" sz="4200" b="0"/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49A8198-4617-485E-9585-4840B69DBBA6}" type="datetime1">
              <a:pPr/>
              <a:t>24/05/2015</a:t>
            </a:fld>
            <a:endParaRPr kumimoji="0"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eaLnBrk="1" latinLnBrk="0" hangingPunct="1">
              <a:spcAft>
                <a:spcPts val="1000"/>
              </a:spcAft>
              <a:buNone/>
              <a:defRPr kumimoji="0" lang="pt-BR" sz="1800"/>
            </a:lvl1pPr>
            <a:lvl2pPr eaLnBrk="1" latinLnBrk="0" hangingPunct="1">
              <a:buNone/>
              <a:defRPr kumimoji="0" lang="pt-BR" sz="1200"/>
            </a:lvl2pPr>
            <a:lvl3pPr eaLnBrk="1" latinLnBrk="0" hangingPunct="1">
              <a:buNone/>
              <a:defRPr kumimoji="0" lang="pt-BR" sz="1000"/>
            </a:lvl3pPr>
            <a:lvl4pPr eaLnBrk="1" latinLnBrk="0" hangingPunct="1">
              <a:buNone/>
              <a:defRPr kumimoji="0" lang="pt-BR" sz="900"/>
            </a:lvl4pPr>
            <a:lvl5pPr eaLnBrk="1" latinLnBrk="0" hangingPunct="1"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 eaLnBrk="1" latinLnBrk="0" hangingPunct="1">
              <a:buNone/>
              <a:defRPr kumimoji="0" lang="pt-BR" sz="3200"/>
            </a:lvl1pPr>
            <a:extLst/>
          </a:lstStyle>
          <a:p>
            <a:r>
              <a:rPr kumimoji="0" lang="pt-BR" smtClean="0"/>
              <a:t>Clique no ícone para adicionar uma imagem</a:t>
            </a:r>
            <a:endParaRPr kumimoji="0"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 eaLnBrk="1" latinLnBrk="0" hangingPunct="1">
              <a:buFontTx/>
              <a:buNone/>
              <a:defRPr kumimoji="0" lang="pt-BR" sz="1700"/>
            </a:lvl1pPr>
            <a:lvl2pPr eaLnBrk="1" latinLnBrk="0" hangingPunct="1">
              <a:buFontTx/>
              <a:buNone/>
              <a:defRPr kumimoji="0" lang="pt-BR" sz="1200"/>
            </a:lvl2pPr>
            <a:lvl3pPr eaLnBrk="1" latinLnBrk="0" hangingPunct="1">
              <a:buFontTx/>
              <a:buNone/>
              <a:defRPr kumimoji="0" lang="pt-BR" sz="1000"/>
            </a:lvl3pPr>
            <a:lvl4pPr eaLnBrk="1" latinLnBrk="0" hangingPunct="1">
              <a:buFontTx/>
              <a:buNone/>
              <a:defRPr kumimoji="0" lang="pt-BR" sz="900"/>
            </a:lvl4pPr>
            <a:lvl5pPr eaLnBrk="1" latinLnBrk="0" hangingPunct="1">
              <a:buFontTx/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 eaLnBrk="1" latinLnBrk="0" hangingPunct="1">
              <a:buNone/>
              <a:defRPr kumimoji="0" lang="pt-BR" sz="2800" b="0">
                <a:solidFill>
                  <a:srgbClr val="FFFFFF"/>
                </a:solidFill>
              </a:defRPr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>
            <a:extLst/>
          </a:lstStyle>
          <a:p>
            <a:fld id="{E4606EA6-EFEA-4C30-9264-4F9291A5780D}" type="datetime1">
              <a:pPr/>
              <a:t>24/05/2015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 eaLnBrk="1" latinLnBrk="0" hangingPunct="1">
              <a:defRPr kumimoji="0" lang="pt-BR" sz="2800"/>
            </a:lvl1pPr>
            <a:extLst/>
          </a:lstStyle>
          <a:p>
            <a:pPr algn="ctr"/>
            <a:fld id="{8F82E0A0-C266-4798-8C8F-B9F91E9DA37E}" type="slidenum">
              <a:rPr kumimoji="0" lang="pt-BR" sz="28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80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>
            <a:extLst/>
          </a:lstStyle>
          <a:p>
            <a:endParaRPr kumimoji="0"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fld id="{E4606EA6-EFEA-4C30-9264-4F9291A5780D}" type="datetime1">
              <a:pPr/>
              <a:t>24/05/2015</a:t>
            </a:fld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lang="pt-BR"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1400" b="1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pPr eaLnBrk="1" latinLnBrk="0" hangingPunct="1"/>
            <a:r>
              <a:rPr kumimoji="0" lang="pt-BR" smtClean="0"/>
              <a:t>Clique para editar o título mestre</a:t>
            </a:r>
            <a:endParaRPr kumimoji="0" 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1" latinLnBrk="0" hangingPunct="1">
        <a:spcBef>
          <a:spcPct val="0"/>
        </a:spcBef>
        <a:buNone/>
        <a:defRPr kumimoji="0" lang="pt-BR"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lang="pt-BR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lang="pt-BR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lang="pt-BR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/>
          </p:cNvSpPr>
          <p:nvPr>
            <p:ph type="subTitle" idx="1"/>
          </p:nvPr>
        </p:nvSpPr>
        <p:spPr>
          <a:xfrm>
            <a:off x="2339752" y="4659982"/>
            <a:ext cx="6515100" cy="555526"/>
          </a:xfrm>
        </p:spPr>
        <p:txBody>
          <a:bodyPr>
            <a:normAutofit fontScale="55000" lnSpcReduction="20000"/>
          </a:bodyPr>
          <a:lstStyle>
            <a:extLst/>
          </a:lstStyle>
          <a:p>
            <a:r>
              <a:rPr lang="pt-BR" dirty="0" smtClean="0"/>
              <a:t>Análise e Desenvolvimento de Sistemas</a:t>
            </a:r>
          </a:p>
          <a:p>
            <a:r>
              <a:rPr lang="en-US" dirty="0" smtClean="0"/>
              <a:t>Prof. Claudio Lima </a:t>
            </a:r>
            <a:r>
              <a:rPr lang="en-US" dirty="0"/>
              <a:t>- http://</a:t>
            </a:r>
            <a:r>
              <a:rPr lang="en-US" dirty="0" smtClean="0"/>
              <a:t>lattes.cnpq.br/</a:t>
            </a:r>
            <a:r>
              <a:rPr lang="pt-BR" dirty="0"/>
              <a:t>9330552327454666</a:t>
            </a:r>
            <a:r>
              <a:rPr lang="en-US" dirty="0" smtClean="0"/>
              <a:t> </a:t>
            </a:r>
            <a:endParaRPr lang="en-US" dirty="0"/>
          </a:p>
          <a:p>
            <a:endParaRPr lang="pt-BR" dirty="0"/>
          </a:p>
        </p:txBody>
      </p:sp>
      <p:sp>
        <p:nvSpPr>
          <p:cNvPr id="4" name="Rectangle 3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pt-BR" dirty="0" smtClean="0"/>
              <a:t>GESTÃO DE PROJETOS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8815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Gerenciamento </a:t>
            </a:r>
            <a:r>
              <a:rPr lang="pt-BR" dirty="0" smtClean="0"/>
              <a:t>das Comunicações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326592"/>
            <a:ext cx="6048672" cy="3804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3902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Gerenciamento das Comunicações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pt-BR" dirty="0"/>
              <a:t>A comunicação certamente é uma das áreas de conhecimento mais importantes para o GP, senão for a mais importante. Ela representa cerca de 90% do tempo do GP e é o elo de ligação entre as pessoas, as ideias e as informações</a:t>
            </a:r>
            <a:r>
              <a:rPr lang="pt-BR" dirty="0" smtClean="0"/>
              <a:t>.</a:t>
            </a:r>
          </a:p>
          <a:p>
            <a:pPr algn="just"/>
            <a:r>
              <a:rPr lang="pt-BR" dirty="0"/>
              <a:t>Além disso, a maioria dos problemas dos projetos são oriundos de falha de comunicação e existe uma forte correlação entre o desempenho do projeto e a habilidade do GP em administrar as comunicações.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3483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Gerenciamento das Comunicações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just"/>
            <a:r>
              <a:rPr lang="pt-BR" dirty="0"/>
              <a:t>Segundo o Guia PMBOK®, o gerenciamento das comunicações do projeto inclui os processos necessários para assegurar que as informações do projeto sejam geradas, coletadas, distribuídas, armazenadas, recuperadas e organizadas de maneira oportuna e apropriada.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9945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Principais Objetivos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pt-BR" dirty="0"/>
              <a:t>Conectar as diversas partes interessadas apesar de seus diferentes interesses e culturas para atender os objetivos do projeto;</a:t>
            </a:r>
          </a:p>
          <a:p>
            <a:pPr algn="just"/>
            <a:r>
              <a:rPr lang="pt-BR" dirty="0"/>
              <a:t>Fornecer as ligações críticas entre pessoas e informações necessárias para comunicações bem-sucedidas;</a:t>
            </a:r>
          </a:p>
          <a:p>
            <a:pPr algn="just"/>
            <a:r>
              <a:rPr lang="pt-BR" dirty="0"/>
              <a:t>Garantir a geração, disseminação, armazenamento, recuperação e descarte de informações do projeto;</a:t>
            </a:r>
          </a:p>
          <a:p>
            <a:pPr algn="just"/>
            <a:r>
              <a:rPr lang="pt-BR" dirty="0"/>
              <a:t>Manter as partes interessadas “alinhadas”.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9846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Fundamentos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107504" y="1352550"/>
            <a:ext cx="9036496" cy="3667472"/>
          </a:xfrm>
        </p:spPr>
        <p:txBody>
          <a:bodyPr>
            <a:normAutofit/>
          </a:bodyPr>
          <a:lstStyle/>
          <a:p>
            <a:r>
              <a:rPr lang="pt-BR" sz="2400" dirty="0"/>
              <a:t>Comunicação é um processo através do qual as informações são trocadas entre as pessoas com o uso de um sistema comum de símbolos, sinais ou comportamentos.</a:t>
            </a:r>
            <a:endParaRPr lang="pt-BR" sz="2400" dirty="0" smtClean="0"/>
          </a:p>
          <a:p>
            <a:pPr marL="365760" lvl="1" indent="0">
              <a:buNone/>
            </a:pPr>
            <a:endParaRPr lang="pt-BR" sz="2100" dirty="0"/>
          </a:p>
        </p:txBody>
      </p:sp>
    </p:spTree>
    <p:extLst>
      <p:ext uri="{BB962C8B-B14F-4D97-AF65-F5344CB8AC3E}">
        <p14:creationId xmlns:p14="http://schemas.microsoft.com/office/powerpoint/2010/main" val="1420510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Fundamentos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12" y="1302132"/>
            <a:ext cx="6584753" cy="3841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3599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Comunicação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107504" y="1352550"/>
            <a:ext cx="8655496" cy="32766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b="1" dirty="0"/>
              <a:t>Verbal: </a:t>
            </a:r>
            <a:r>
              <a:rPr lang="pt-BR" dirty="0"/>
              <a:t>é o tipo mais comum de comunicação. Deve-se usar a velocidade, tonalidade e inflexões na voz para chamar a atenção do receptor</a:t>
            </a:r>
            <a:r>
              <a:rPr lang="pt-BR" dirty="0" smtClean="0"/>
              <a:t>.</a:t>
            </a:r>
          </a:p>
          <a:p>
            <a:pPr algn="just"/>
            <a:r>
              <a:rPr lang="pt-BR" b="1" dirty="0"/>
              <a:t>Não Verbal: </a:t>
            </a:r>
            <a:r>
              <a:rPr lang="pt-BR" dirty="0"/>
              <a:t>comunicação através de gestos, expressões faciais, linguagem corporal, aparência, entre outros. Use seu corpo para atrair o receptor</a:t>
            </a:r>
            <a:r>
              <a:rPr lang="pt-BR" dirty="0" smtClean="0"/>
              <a:t>.</a:t>
            </a:r>
          </a:p>
          <a:p>
            <a:pPr algn="just"/>
            <a:r>
              <a:rPr lang="pt-BR" b="1" dirty="0"/>
              <a:t>Escrita ou Gráfica: </a:t>
            </a:r>
            <a:r>
              <a:rPr lang="pt-BR" dirty="0"/>
              <a:t>atualmente, uma das mais usadas no ambiente de trabalho, principalmente, através do e-mail. O GP usa muito para criar seus planos, gerar seus status </a:t>
            </a:r>
            <a:r>
              <a:rPr lang="pt-BR" dirty="0" err="1"/>
              <a:t>report</a:t>
            </a:r>
            <a:r>
              <a:rPr lang="pt-BR" dirty="0"/>
              <a:t>, ...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Use o estilo de escrita (Voz ativa ou passiva, vocabulário, estrutura, etc.) para atrair o receptor.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4363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Papeis do GP relacionados com a comunicação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107504" y="1352550"/>
            <a:ext cx="8928992" cy="3667472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dirty="0"/>
              <a:t>Alinhar os objetivos do projeto e disseminá-los garantindo comprometimento da equipe;</a:t>
            </a:r>
          </a:p>
          <a:p>
            <a:pPr algn="just"/>
            <a:r>
              <a:rPr lang="pt-BR" dirty="0"/>
              <a:t>Tomar </a:t>
            </a:r>
            <a:r>
              <a:rPr lang="pt-BR" dirty="0" smtClean="0"/>
              <a:t>decisão;</a:t>
            </a:r>
            <a:endParaRPr lang="pt-BR" dirty="0"/>
          </a:p>
          <a:p>
            <a:pPr algn="just"/>
            <a:r>
              <a:rPr lang="pt-BR" dirty="0"/>
              <a:t>Autorizar </a:t>
            </a:r>
            <a:r>
              <a:rPr lang="pt-BR" dirty="0" smtClean="0"/>
              <a:t>trabalho;</a:t>
            </a:r>
            <a:endParaRPr lang="pt-BR" dirty="0"/>
          </a:p>
          <a:p>
            <a:pPr algn="just"/>
            <a:r>
              <a:rPr lang="pt-BR" dirty="0"/>
              <a:t>Dirigir atividades;</a:t>
            </a:r>
          </a:p>
          <a:p>
            <a:pPr algn="just"/>
            <a:r>
              <a:rPr lang="pt-BR" dirty="0"/>
              <a:t>Negociar;</a:t>
            </a:r>
          </a:p>
          <a:p>
            <a:pPr algn="just"/>
            <a:r>
              <a:rPr lang="pt-BR" dirty="0"/>
              <a:t>Reportar;</a:t>
            </a:r>
          </a:p>
          <a:p>
            <a:pPr algn="just"/>
            <a:r>
              <a:rPr lang="pt-BR" dirty="0"/>
              <a:t>Atender reuniões;</a:t>
            </a:r>
          </a:p>
          <a:p>
            <a:pPr algn="just"/>
            <a:r>
              <a:rPr lang="pt-BR" dirty="0"/>
              <a:t>Administração geral do projeto, como marketing e vendas, relações públicas, ...;</a:t>
            </a:r>
          </a:p>
          <a:p>
            <a:pPr algn="just"/>
            <a:r>
              <a:rPr lang="pt-BR" dirty="0"/>
              <a:t>Administração de registros como atas, memorandos, cartas, boletins, relatórios, especificações, documentos de aquisição, ...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0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Processos do </a:t>
            </a:r>
            <a:r>
              <a:rPr lang="pt-BR" dirty="0" err="1" smtClean="0"/>
              <a:t>Gerenc</a:t>
            </a:r>
            <a:r>
              <a:rPr lang="pt-BR" dirty="0" smtClean="0"/>
              <a:t>. Das Comunicações</a:t>
            </a: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322452"/>
            <a:ext cx="6543575" cy="3712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5246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Planejar o </a:t>
            </a:r>
            <a:r>
              <a:rPr lang="pt-BR" dirty="0" err="1" smtClean="0"/>
              <a:t>Gerenc</a:t>
            </a:r>
            <a:r>
              <a:rPr lang="pt-BR" dirty="0" smtClean="0"/>
              <a:t>. Das Comunicações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35496" y="1352550"/>
            <a:ext cx="9001000" cy="3276600"/>
          </a:xfrm>
        </p:spPr>
        <p:txBody>
          <a:bodyPr/>
          <a:lstStyle/>
          <a:p>
            <a:pPr algn="just"/>
            <a:r>
              <a:rPr lang="pt-BR" dirty="0"/>
              <a:t>Segundo o Guia PMBOK®, planejar o gerenciamento das comunicações é o processo de determinar as necessidades de informação das partes interessadas no projeto e definir uma abordagem de comunicação.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Com esse intuito, o GP deve: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018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Planejar o </a:t>
            </a:r>
            <a:r>
              <a:rPr lang="pt-BR" dirty="0" err="1"/>
              <a:t>Gerenc</a:t>
            </a:r>
            <a:r>
              <a:rPr lang="pt-BR" dirty="0"/>
              <a:t>. Das Comunicações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107504" y="1352550"/>
            <a:ext cx="8928992" cy="32766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dirty="0"/>
              <a:t>Conectar as partes interessadas respondendo suas necessidades de informação, gerando confiança e entusiasmo pelo projeto e estimulando trabalho em equipe e cooperação;</a:t>
            </a:r>
          </a:p>
          <a:p>
            <a:pPr algn="just"/>
            <a:r>
              <a:rPr lang="pt-BR" dirty="0"/>
              <a:t>Agilizar a tomada de decisão disponibilizando a informação certa na hora certa para as pessoas certas;</a:t>
            </a:r>
          </a:p>
          <a:p>
            <a:pPr algn="just"/>
            <a:r>
              <a:rPr lang="pt-BR" dirty="0"/>
              <a:t>Garantir o alinhamento entre as pessoas disponibilizando uma documentação resumida e eficiente, o que implicará em menos discussões e conflitos.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0853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Algumas da melhores práticas do processo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107504" y="1352550"/>
            <a:ext cx="8928992" cy="359546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dirty="0"/>
              <a:t>Usar método 5W2H adaptado para análise (6W2H);</a:t>
            </a:r>
          </a:p>
          <a:p>
            <a:pPr algn="just"/>
            <a:r>
              <a:rPr lang="pt-BR" dirty="0"/>
              <a:t>Adaptar a cultura e estrutura organizacional;</a:t>
            </a:r>
          </a:p>
          <a:p>
            <a:pPr algn="just"/>
            <a:r>
              <a:rPr lang="pt-BR" dirty="0"/>
              <a:t>Considerar os interesses individuais e de grupo, seus conflitos e repertórios;</a:t>
            </a:r>
          </a:p>
          <a:p>
            <a:pPr algn="just"/>
            <a:r>
              <a:rPr lang="pt-BR" dirty="0"/>
              <a:t>Validar o plano com os interessados;</a:t>
            </a:r>
          </a:p>
          <a:p>
            <a:pPr algn="just"/>
            <a:r>
              <a:rPr lang="pt-BR" dirty="0"/>
              <a:t>Determinar mecanismos de feedback e resolução de conflitos;</a:t>
            </a:r>
          </a:p>
          <a:p>
            <a:pPr algn="just"/>
            <a:r>
              <a:rPr lang="pt-BR" dirty="0"/>
              <a:t>Garantir meios adequados para resolução de problemas, distribuição de informações e controle de mudanças</a:t>
            </a:r>
            <a:r>
              <a:rPr lang="pt-BR" dirty="0" smtClean="0"/>
              <a:t>;</a:t>
            </a:r>
          </a:p>
          <a:p>
            <a:pPr algn="just"/>
            <a:r>
              <a:rPr lang="pt-BR" dirty="0"/>
              <a:t>Usar modelos e boas práticas já validadas pelo PMO;</a:t>
            </a:r>
          </a:p>
          <a:p>
            <a:pPr algn="just"/>
            <a:r>
              <a:rPr lang="pt-BR" dirty="0"/>
              <a:t>Preparar plano de comunicações já no </a:t>
            </a:r>
            <a:r>
              <a:rPr lang="pt-BR" dirty="0" err="1"/>
              <a:t>kick</a:t>
            </a:r>
            <a:r>
              <a:rPr lang="pt-BR" dirty="0"/>
              <a:t>-off e revisar sempre.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8214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Algumas da melhores práticas do processo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352" y="1350536"/>
            <a:ext cx="4786828" cy="3761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5803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Gerenciar as </a:t>
            </a:r>
            <a:r>
              <a:rPr lang="pt-BR" dirty="0" smtClean="0"/>
              <a:t>comunicações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251520" y="1352550"/>
            <a:ext cx="8784976" cy="3667472"/>
          </a:xfrm>
        </p:spPr>
        <p:txBody>
          <a:bodyPr>
            <a:normAutofit fontScale="70000" lnSpcReduction="20000"/>
          </a:bodyPr>
          <a:lstStyle/>
          <a:p>
            <a:r>
              <a:rPr lang="pt-BR" dirty="0"/>
              <a:t>Gerenciar as comunicações, chamado de distribuir as informações na quarta edição do Guia PMBOK®, é o processo de colocar as informações necessárias à disposição das partes interessadas no projeto conforme planejado.</a:t>
            </a:r>
          </a:p>
          <a:p>
            <a:r>
              <a:rPr lang="pt-BR" dirty="0"/>
              <a:t>Envolve todo o ciclo de vida da informação descrito no plano de gerenciamento da comunicação iniciando pela geração, coleta, distribuição, armazenamento, recuperação, até o descarte final da informação.</a:t>
            </a:r>
            <a:br>
              <a:rPr lang="pt-BR" dirty="0"/>
            </a:br>
            <a:r>
              <a:rPr lang="pt-BR" dirty="0"/>
              <a:t>Atenção especial nesse processo, pois, não adianta um bom planejamento sem uma boa execução.</a:t>
            </a:r>
            <a:br>
              <a:rPr lang="pt-BR" dirty="0"/>
            </a:br>
            <a:r>
              <a:rPr lang="pt-BR" b="1" dirty="0"/>
              <a:t>O GP deve:</a:t>
            </a:r>
          </a:p>
          <a:p>
            <a:r>
              <a:rPr lang="pt-BR" dirty="0"/>
              <a:t>Manter todos na mesma página motivando a equipe, agilizando as decisões e minimizando os conflitos;</a:t>
            </a:r>
          </a:p>
          <a:p>
            <a:r>
              <a:rPr lang="pt-BR" dirty="0"/>
              <a:t>Preocupar-se em responder as solicitações de informações não previstas;</a:t>
            </a:r>
          </a:p>
          <a:p>
            <a:r>
              <a:rPr lang="pt-BR" dirty="0"/>
              <a:t>Garantir que ninguém alegue falta de conhecimento.</a:t>
            </a:r>
          </a:p>
        </p:txBody>
      </p:sp>
    </p:spTree>
    <p:extLst>
      <p:ext uri="{BB962C8B-B14F-4D97-AF65-F5344CB8AC3E}">
        <p14:creationId xmlns:p14="http://schemas.microsoft.com/office/powerpoint/2010/main" val="3015050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Controlar as </a:t>
            </a:r>
            <a:r>
              <a:rPr lang="pt-BR" dirty="0" smtClean="0"/>
              <a:t>comunicações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just"/>
            <a:r>
              <a:rPr lang="pt-BR" dirty="0"/>
              <a:t>Controlar as comunicações é o novo processo do Guia PMBOK® quinta edição e tem como objetivo controlar e monitorar as comunicações de modo a garantir que as necessidades de informação das partes interessadas sejam atendidas.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45942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resentação em Tela Larga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34A09C3E02A604AA8862569A8596A32" ma:contentTypeVersion="10" ma:contentTypeDescription="Crie um novo documento." ma:contentTypeScope="" ma:versionID="9ebcba8d9189bd2d1d9ae1a9ecdf9ecf">
  <xsd:schema xmlns:xsd="http://www.w3.org/2001/XMLSchema" xmlns:xs="http://www.w3.org/2001/XMLSchema" xmlns:p="http://schemas.microsoft.com/office/2006/metadata/properties" xmlns:ns2="bcbcbace-201e-4ef7-8869-cccbfceb4df8" xmlns:ns3="bf55bb95-0e2d-49eb-8730-bda5c0a73d75" targetNamespace="http://schemas.microsoft.com/office/2006/metadata/properties" ma:root="true" ma:fieldsID="5728f961ced8355fef59faf963e69c4f" ns2:_="" ns3:_="">
    <xsd:import namespace="bcbcbace-201e-4ef7-8869-cccbfceb4df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bcbace-201e-4ef7-8869-cccbfceb4d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355b3ef0-86e3-4c4b-bf32-5e67dec0a599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bcbcbace-201e-4ef7-8869-cccbfceb4df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CEF1CED-5A9E-4717-856C-C7D645E85583}"/>
</file>

<file path=customXml/itemProps2.xml><?xml version="1.0" encoding="utf-8"?>
<ds:datastoreItem xmlns:ds="http://schemas.openxmlformats.org/officeDocument/2006/customXml" ds:itemID="{53FB4933-B2EF-4702-9826-A58E21AAC6D5}"/>
</file>

<file path=customXml/itemProps3.xml><?xml version="1.0" encoding="utf-8"?>
<ds:datastoreItem xmlns:ds="http://schemas.openxmlformats.org/officeDocument/2006/customXml" ds:itemID="{582F175B-BE03-4CA0-919A-943018E04FB6}"/>
</file>

<file path=docProps/app.xml><?xml version="1.0" encoding="utf-8"?>
<Properties xmlns="http://schemas.openxmlformats.org/officeDocument/2006/extended-properties" xmlns:vt="http://schemas.openxmlformats.org/officeDocument/2006/docPropsVTypes">
  <Template>WidescreenPresentation</Template>
  <TotalTime>0</TotalTime>
  <Words>716</Words>
  <Application>Microsoft Office PowerPoint</Application>
  <PresentationFormat>Apresentação na tela (16:9)</PresentationFormat>
  <Paragraphs>57</Paragraphs>
  <Slides>16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7" baseType="lpstr">
      <vt:lpstr>Apresentação em Tela Larga</vt:lpstr>
      <vt:lpstr>GESTÃO DE PROJETOS</vt:lpstr>
      <vt:lpstr>Gerenciamento das Comunicações</vt:lpstr>
      <vt:lpstr>Gerenciamento das Comunicações</vt:lpstr>
      <vt:lpstr>Gerenciamento das Comunicações</vt:lpstr>
      <vt:lpstr>Principais Objetivos</vt:lpstr>
      <vt:lpstr>Fundamentos</vt:lpstr>
      <vt:lpstr>Fundamentos</vt:lpstr>
      <vt:lpstr>Tipos de Comunicação</vt:lpstr>
      <vt:lpstr>Papeis do GP relacionados com a comunicação</vt:lpstr>
      <vt:lpstr>Processos do Gerenc. Das Comunicações</vt:lpstr>
      <vt:lpstr>Planejar o Gerenc. Das Comunicações</vt:lpstr>
      <vt:lpstr>Planejar o Gerenc. Das Comunicações</vt:lpstr>
      <vt:lpstr>Algumas da melhores práticas do processo</vt:lpstr>
      <vt:lpstr>Algumas da melhores práticas do processo</vt:lpstr>
      <vt:lpstr>Gerenciar as comunicações</vt:lpstr>
      <vt:lpstr>Controlar as comunicações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2012-07-30T18:40:18Z</dcterms:created>
  <dcterms:modified xsi:type="dcterms:W3CDTF">2015-05-25T02:27:34Z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1046</vt:i4>
  </property>
  <property fmtid="{D5CDD505-2E9C-101B-9397-08002B2CF9AE}" pid="3" name="_Version">
    <vt:lpwstr>12.0.4518</vt:lpwstr>
  </property>
  <property fmtid="{D5CDD505-2E9C-101B-9397-08002B2CF9AE}" pid="4" name="ContentTypeId">
    <vt:lpwstr>0x010100134A09C3E02A604AA8862569A8596A32</vt:lpwstr>
  </property>
</Properties>
</file>