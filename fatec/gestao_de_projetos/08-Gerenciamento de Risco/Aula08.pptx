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5"/>
  </p:notesMasterIdLst>
  <p:sldIdLst>
    <p:sldId id="344" r:id="rId2"/>
    <p:sldId id="367" r:id="rId3"/>
    <p:sldId id="368" r:id="rId4"/>
    <p:sldId id="369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88" r:id="rId23"/>
    <p:sldId id="389" r:id="rId24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521415D9-36F7-43E2-AB2F-B90AF26B5E84}">
      <p14:sectionLst xmlns:p14="http://schemas.microsoft.com/office/powerpoint/2010/main">
        <p14:section name="Seção Padrão" id="{203FB7D2-A22B-4B46-9938-D1F022054E7B}">
          <p14:sldIdLst>
            <p14:sldId id="344"/>
            <p14:sldId id="367"/>
            <p14:sldId id="368"/>
            <p14:sldId id="369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 autoAdjust="0"/>
    <p:restoredTop sz="90231" autoAdjust="0"/>
  </p:normalViewPr>
  <p:slideViewPr>
    <p:cSldViewPr>
      <p:cViewPr>
        <p:scale>
          <a:sx n="94" d="100"/>
          <a:sy n="94" d="100"/>
        </p:scale>
        <p:origin x="-588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01/06/2015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01/06/2015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606EA6-EFEA-4C30-9264-4F9291A5780D}" type="datetime1">
              <a:pPr/>
              <a:t>01/06/2015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CF9F07-3BC7-4570-B054-79111B0A380C}" type="datetime1">
              <a:pPr/>
              <a:t>01/06/2015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01/06/2015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01/06/2015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FADB5D-B7A0-47E3-AD2D-B1A6F8614213}" type="datetime1">
              <a:pPr/>
              <a:t>01/06/2015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968126-03FC-49C0-B9B8-2B561CCC3D90}" type="datetime1">
              <a:pPr/>
              <a:t>01/06/2015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9A8198-4617-485E-9585-4840B69DBBA6}" type="datetime1">
              <a:pPr/>
              <a:t>01/06/2015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fld id="{E4606EA6-EFEA-4C30-9264-4F9291A5780D}" type="datetime1">
              <a:pPr/>
              <a:t>01/06/2015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01/06/2015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pPr eaLnBrk="1" latinLnBrk="0" hangingPunct="1"/>
            <a:r>
              <a:rPr kumimoji="0" lang="pt-BR" smtClean="0"/>
              <a:t>Clique para editar o título mestre</a:t>
            </a:r>
            <a:endParaRPr kumimoji="0"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>
            <a:extLst/>
          </a:lstStyle>
          <a:p>
            <a:r>
              <a:rPr lang="pt-BR" dirty="0" smtClean="0"/>
              <a:t>Análise e Desenvolvimento de Sistemas</a:t>
            </a:r>
          </a:p>
          <a:p>
            <a:r>
              <a:rPr lang="en-US" dirty="0" smtClean="0"/>
              <a:t>Prof. Claudio Lima </a:t>
            </a:r>
            <a:r>
              <a:rPr lang="en-US" dirty="0"/>
              <a:t>- http://</a:t>
            </a:r>
            <a:r>
              <a:rPr lang="en-US" dirty="0" smtClean="0"/>
              <a:t>lattes.cnpq.br/</a:t>
            </a:r>
            <a:r>
              <a:rPr lang="pt-BR" dirty="0"/>
              <a:t>9330552327454666</a:t>
            </a:r>
            <a:r>
              <a:rPr lang="en-US" dirty="0" smtClean="0"/>
              <a:t> </a:t>
            </a:r>
            <a:endParaRPr lang="en-US" dirty="0"/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pt-BR" dirty="0" smtClean="0"/>
              <a:t>GESTÃO DE 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Gerenciamento </a:t>
            </a:r>
            <a:r>
              <a:rPr lang="pt-BR" dirty="0" smtClean="0"/>
              <a:t>dos Riscos</a:t>
            </a:r>
            <a:endParaRPr lang="pt-BR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36" y="1324480"/>
            <a:ext cx="6050672" cy="3819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390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Fundamentos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19622"/>
            <a:ext cx="6234828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618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 smtClean="0"/>
              <a:t>É um evento ou condição incerta que, se ocorrer, tem um efeito positivo ou negativo no objetivo do projeto. Um risco tem um causa e, se essa ocorrer, uma consequência.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949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79512" y="1352550"/>
            <a:ext cx="8856984" cy="3276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 smtClean="0"/>
              <a:t>O que pode dar errado, vai dar errado! Lei de </a:t>
            </a:r>
            <a:r>
              <a:rPr lang="pt-BR" dirty="0" err="1" smtClean="0"/>
              <a:t>Murphi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Lidamos com riscos todos os dias na nossa vida, é uma ação continua</a:t>
            </a:r>
          </a:p>
          <a:p>
            <a:pPr algn="just"/>
            <a:r>
              <a:rPr lang="pt-BR" dirty="0" smtClean="0"/>
              <a:t>Seu tratamento é, na maioria da vezes, intuitivo.</a:t>
            </a:r>
          </a:p>
          <a:p>
            <a:pPr lvl="1" algn="just"/>
            <a:r>
              <a:rPr lang="pt-BR" dirty="0" smtClean="0"/>
              <a:t>“Criar um backup antes de substituir os arquivos”</a:t>
            </a:r>
          </a:p>
          <a:p>
            <a:pPr algn="just"/>
            <a:r>
              <a:rPr lang="pt-BR" dirty="0"/>
              <a:t>No âmbito do gerenciamento de projetos, assim como na vida, devemos ter uma abordagem </a:t>
            </a:r>
            <a:r>
              <a:rPr lang="pt-BR" dirty="0" err="1"/>
              <a:t>pró-ativa</a:t>
            </a:r>
            <a:r>
              <a:rPr lang="pt-BR" dirty="0"/>
              <a:t> e não reativa:</a:t>
            </a:r>
          </a:p>
          <a:p>
            <a:pPr lvl="1" algn="just"/>
            <a:r>
              <a:rPr lang="pt-BR" dirty="0"/>
              <a:t>“É melhor prevenir que remediar”</a:t>
            </a:r>
          </a:p>
          <a:p>
            <a:pPr marL="365760" lvl="1" indent="0" algn="just">
              <a:buNone/>
            </a:pPr>
            <a:endParaRPr lang="pt-BR" dirty="0"/>
          </a:p>
          <a:p>
            <a:pPr marL="365760" lvl="1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88680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Conceitos de  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79512" y="1352550"/>
            <a:ext cx="8856984" cy="3276600"/>
          </a:xfrm>
        </p:spPr>
        <p:txBody>
          <a:bodyPr>
            <a:noAutofit/>
          </a:bodyPr>
          <a:lstStyle/>
          <a:p>
            <a:pPr algn="just"/>
            <a:r>
              <a:rPr lang="pt-BR" sz="2800" dirty="0"/>
              <a:t>Riscos têm merecido especial atenção dos gestores </a:t>
            </a:r>
            <a:r>
              <a:rPr lang="pt-BR" sz="2800" dirty="0" smtClean="0"/>
              <a:t>de projeto </a:t>
            </a:r>
            <a:r>
              <a:rPr lang="pt-BR" sz="2800" dirty="0"/>
              <a:t>devido às grandes somas de </a:t>
            </a:r>
            <a:r>
              <a:rPr lang="pt-BR" sz="2800" dirty="0" smtClean="0"/>
              <a:t>dinheiro envolvidas </a:t>
            </a:r>
            <a:r>
              <a:rPr lang="pt-BR" sz="2800" dirty="0"/>
              <a:t>e pela reputação do time e </a:t>
            </a:r>
            <a:r>
              <a:rPr lang="pt-BR" sz="2800" dirty="0" smtClean="0"/>
              <a:t>dos patrocinadores do </a:t>
            </a:r>
            <a:r>
              <a:rPr lang="pt-BR" sz="2800" dirty="0"/>
              <a:t>projeto</a:t>
            </a:r>
            <a:r>
              <a:rPr lang="pt-BR" sz="2800" dirty="0" smtClean="0"/>
              <a:t>.</a:t>
            </a:r>
          </a:p>
          <a:p>
            <a:pPr algn="just"/>
            <a:r>
              <a:rPr lang="pt-BR" sz="2800" dirty="0"/>
              <a:t>Condições de risco incluem aspectos do ambiente </a:t>
            </a:r>
            <a:r>
              <a:rPr lang="pt-BR" sz="2800" dirty="0" smtClean="0"/>
              <a:t>do projeto </a:t>
            </a:r>
            <a:r>
              <a:rPr lang="pt-BR" sz="2800" dirty="0"/>
              <a:t>que contribuem para o risco do projeto, </a:t>
            </a:r>
            <a:r>
              <a:rPr lang="pt-BR" sz="2800" dirty="0" smtClean="0"/>
              <a:t>como práticas </a:t>
            </a:r>
            <a:r>
              <a:rPr lang="pt-BR" sz="2800" dirty="0"/>
              <a:t>precárias de gestão de projetos </a:t>
            </a:r>
            <a:r>
              <a:rPr lang="pt-BR" sz="2800" dirty="0" smtClean="0"/>
              <a:t>ou dependência </a:t>
            </a:r>
            <a:r>
              <a:rPr lang="pt-BR" sz="2800" dirty="0"/>
              <a:t>de participantes externos que não </a:t>
            </a:r>
            <a:r>
              <a:rPr lang="pt-BR" sz="2800" dirty="0" smtClean="0"/>
              <a:t>podem ser </a:t>
            </a:r>
            <a:r>
              <a:rPr lang="pt-BR" sz="2800" dirty="0"/>
              <a:t>controlados.</a:t>
            </a:r>
            <a:br>
              <a:rPr lang="pt-BR" sz="2800" dirty="0"/>
            </a:b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/>
              <a:t/>
            </a:r>
            <a:br>
              <a:rPr lang="pt-BR" sz="2800" dirty="0"/>
            </a:b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8528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de 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 smtClean="0"/>
              <a:t>Processo para identificação, análise e resposta monitoramento, controle  e planejamento do gerenciamento de riscos do projeto.</a:t>
            </a:r>
          </a:p>
          <a:p>
            <a:pPr algn="just"/>
            <a:r>
              <a:rPr lang="pt-BR" dirty="0" smtClean="0"/>
              <a:t>Busca aumentar a probabilidade de surgirem oportunidades  e reduzir a probabilidade e consequências dos impactos negativos no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437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Ameaças  X Oportunidade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Risco é alguma coisa que pode ou não ocorrer no projeto. Se ocorrer pode ter um impacto positivo ou negativo no projeto.</a:t>
            </a:r>
          </a:p>
          <a:p>
            <a:pPr algn="just"/>
            <a:r>
              <a:rPr lang="pt-BR" dirty="0" smtClean="0"/>
              <a:t>Impacto positivo são chamados de oportunidades.</a:t>
            </a:r>
          </a:p>
          <a:p>
            <a:pPr lvl="1" algn="just"/>
            <a:r>
              <a:rPr lang="pt-BR" dirty="0" smtClean="0"/>
              <a:t>Exemplo: O equipamento X é mais barato do que planejamos</a:t>
            </a:r>
          </a:p>
          <a:p>
            <a:pPr algn="just"/>
            <a:r>
              <a:rPr lang="pt-BR" dirty="0" smtClean="0"/>
              <a:t>Impacto Negativo são chamados de ameaças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646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de 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0" y="1352550"/>
            <a:ext cx="9144000" cy="3276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2800" dirty="0" smtClean="0"/>
              <a:t>Um gerenciamento efetivo de riscos deve se preocupar com os seguintes aspectos:</a:t>
            </a:r>
          </a:p>
          <a:p>
            <a:pPr lvl="1" algn="just"/>
            <a:r>
              <a:rPr lang="pt-BR" sz="2400" dirty="0" smtClean="0"/>
              <a:t>Compreender o projeto, produto ou processo a ser empreendido</a:t>
            </a:r>
          </a:p>
          <a:p>
            <a:pPr lvl="1" algn="just"/>
            <a:r>
              <a:rPr lang="pt-BR" sz="2400" dirty="0" smtClean="0"/>
              <a:t>Identificar os elementos do projeto sujeitos a riscos</a:t>
            </a:r>
          </a:p>
          <a:p>
            <a:pPr lvl="1" algn="just"/>
            <a:r>
              <a:rPr lang="pt-BR" sz="2400" dirty="0" smtClean="0"/>
              <a:t>Desenvolver uma lista de ameaças e fraquezas  para cada elemento.</a:t>
            </a:r>
          </a:p>
          <a:p>
            <a:pPr lvl="1" algn="just"/>
            <a:r>
              <a:rPr lang="pt-BR" sz="2400" dirty="0" smtClean="0"/>
              <a:t>Priorizar  ameaças e fraquezas.</a:t>
            </a:r>
          </a:p>
          <a:p>
            <a:pPr lvl="1" algn="just"/>
            <a:r>
              <a:rPr lang="pt-BR" sz="2400" dirty="0" smtClean="0"/>
              <a:t>Identificar impactos.</a:t>
            </a:r>
          </a:p>
          <a:p>
            <a:pPr lvl="1" algn="just"/>
            <a:r>
              <a:rPr lang="pt-BR" sz="2400" dirty="0" smtClean="0"/>
              <a:t>Identificar os controles a serem adotados para evitar, ou minimizar os impactos.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394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de 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 smtClean="0"/>
              <a:t>Problema e Risco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0267"/>
            <a:ext cx="7560840" cy="337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0353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Identificação de 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47614"/>
            <a:ext cx="8928992" cy="352839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/>
              <a:t>Processo que consiste em identificar os riscos que podem afetar o sucesso do projeto e verificar quais são suas características.</a:t>
            </a:r>
          </a:p>
          <a:p>
            <a:pPr algn="just"/>
            <a:r>
              <a:rPr lang="pt-BR" dirty="0" smtClean="0"/>
              <a:t>A identificação dos riscos ocorre em todas as fases.</a:t>
            </a:r>
          </a:p>
          <a:p>
            <a:pPr algn="just"/>
            <a:r>
              <a:rPr lang="pt-BR" dirty="0" smtClean="0"/>
              <a:t>Respostas simples e efetivas podem ser desenvolvidas e implementadas assim que os riscos são identificados. Gerentes de projeto ‘espertos’ iniciam o quanto antes a identificação dos riscos.</a:t>
            </a:r>
          </a:p>
          <a:p>
            <a:pPr algn="just"/>
            <a:r>
              <a:rPr lang="pt-BR" dirty="0" smtClean="0"/>
              <a:t>A identificação dos riscos não tem como ser finalizada antes de se completar a EAP.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180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Categoria de 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52550"/>
            <a:ext cx="9036496" cy="3595464"/>
          </a:xfrm>
        </p:spPr>
        <p:txBody>
          <a:bodyPr>
            <a:noAutofit/>
          </a:bodyPr>
          <a:lstStyle/>
          <a:p>
            <a:r>
              <a:rPr lang="pt-BR" sz="2400" dirty="0"/>
              <a:t>As categorias devem ser bem definidas e </a:t>
            </a:r>
            <a:r>
              <a:rPr lang="pt-BR" sz="2400" dirty="0" smtClean="0"/>
              <a:t>devem refletir </a:t>
            </a:r>
            <a:r>
              <a:rPr lang="pt-BR" sz="2400" dirty="0"/>
              <a:t>fontes comuns de risco para a indústria </a:t>
            </a:r>
            <a:r>
              <a:rPr lang="pt-BR" sz="2400" dirty="0" smtClean="0"/>
              <a:t>ou área </a:t>
            </a:r>
            <a:r>
              <a:rPr lang="pt-BR" sz="2400" dirty="0"/>
              <a:t>de aplicação e incluem riscos</a:t>
            </a:r>
            <a:r>
              <a:rPr lang="pt-BR" sz="2400" dirty="0" smtClean="0"/>
              <a:t>:</a:t>
            </a:r>
          </a:p>
          <a:p>
            <a:pPr lvl="1"/>
            <a:r>
              <a:rPr lang="pt-BR" sz="2000" dirty="0"/>
              <a:t>Técnicos, qualidade ou desempenho – confiar </a:t>
            </a:r>
            <a:r>
              <a:rPr lang="pt-BR" sz="2000" dirty="0" smtClean="0"/>
              <a:t>em tecnologia </a:t>
            </a:r>
            <a:r>
              <a:rPr lang="pt-BR" sz="2000" dirty="0"/>
              <a:t>desconhecida, metas de </a:t>
            </a:r>
            <a:r>
              <a:rPr lang="pt-BR" sz="2000" dirty="0" smtClean="0"/>
              <a:t>desempenho reais e </a:t>
            </a:r>
            <a:r>
              <a:rPr lang="pt-BR" sz="2000" dirty="0"/>
              <a:t>mudanças nos </a:t>
            </a:r>
            <a:r>
              <a:rPr lang="pt-BR" sz="2000" dirty="0" smtClean="0"/>
              <a:t>padrões de </a:t>
            </a:r>
            <a:r>
              <a:rPr lang="pt-BR" sz="2000" dirty="0"/>
              <a:t>indústria, etc</a:t>
            </a:r>
            <a:r>
              <a:rPr lang="pt-BR" sz="2000" dirty="0" smtClean="0"/>
              <a:t>.</a:t>
            </a:r>
          </a:p>
          <a:p>
            <a:pPr lvl="1"/>
            <a:r>
              <a:rPr lang="pt-BR" sz="2000" dirty="0"/>
              <a:t>Gerenciais – alocação precária de tempo e recursos</a:t>
            </a:r>
            <a:r>
              <a:rPr lang="pt-BR" sz="2000" dirty="0" smtClean="0"/>
              <a:t>,  qualidade </a:t>
            </a:r>
            <a:r>
              <a:rPr lang="pt-BR" sz="2000" dirty="0"/>
              <a:t>inadequada do plano de projeto, etc</a:t>
            </a:r>
            <a:r>
              <a:rPr lang="pt-BR" sz="2000" dirty="0" smtClean="0"/>
              <a:t>.</a:t>
            </a:r>
          </a:p>
          <a:p>
            <a:pPr lvl="1"/>
            <a:r>
              <a:rPr lang="pt-BR" sz="2000" dirty="0"/>
              <a:t>Organizacionais – custo, tempo e </a:t>
            </a:r>
            <a:r>
              <a:rPr lang="pt-BR" sz="2000" dirty="0" smtClean="0"/>
              <a:t>objetivos inconsistentes</a:t>
            </a:r>
            <a:r>
              <a:rPr lang="pt-BR" sz="2000" dirty="0"/>
              <a:t>, falta de priorização de projetos</a:t>
            </a:r>
            <a:r>
              <a:rPr lang="pt-BR" sz="2000" dirty="0" smtClean="0"/>
              <a:t>, insuficiência </a:t>
            </a:r>
            <a:r>
              <a:rPr lang="pt-BR" sz="2000" dirty="0"/>
              <a:t>ou interrupção de fundos e conflitos </a:t>
            </a:r>
            <a:r>
              <a:rPr lang="pt-BR" sz="2000" dirty="0" smtClean="0"/>
              <a:t>de recurso com outros projetos na </a:t>
            </a:r>
            <a:r>
              <a:rPr lang="pt-BR" sz="2000" dirty="0"/>
              <a:t>organização, etc.</a:t>
            </a:r>
            <a:br>
              <a:rPr lang="pt-BR" sz="2000" dirty="0"/>
            </a:b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/>
            </a:r>
            <a:br>
              <a:rPr lang="pt-BR" sz="2000" dirty="0"/>
            </a:b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04481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de Riscos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79512" y="1352550"/>
            <a:ext cx="8784976" cy="3451448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Riscos precisam ser avaliado segundo 2 aspectos:</a:t>
            </a:r>
          </a:p>
          <a:p>
            <a:pPr lvl="1" algn="just"/>
            <a:r>
              <a:rPr lang="pt-BR" dirty="0" smtClean="0"/>
              <a:t>Probabilidade de ocorrência (Baixa – Alta)</a:t>
            </a:r>
          </a:p>
          <a:p>
            <a:pPr lvl="1" algn="just"/>
            <a:r>
              <a:rPr lang="pt-BR" dirty="0" smtClean="0"/>
              <a:t>Gravidade (impacto) das </a:t>
            </a:r>
            <a:r>
              <a:rPr lang="pt-BR" dirty="0" err="1" smtClean="0"/>
              <a:t>consequencias</a:t>
            </a:r>
            <a:r>
              <a:rPr lang="pt-BR" dirty="0" smtClean="0"/>
              <a:t> (Baixa – Alta)</a:t>
            </a:r>
          </a:p>
          <a:p>
            <a:pPr algn="just"/>
            <a:r>
              <a:rPr lang="pt-BR" dirty="0" smtClean="0"/>
              <a:t>A análise deverá ser revista durante o ciclo de vida do projeto para ficar atualizada com mudanças nos riscos de projeto.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7535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Qualitativa de Riscos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7614"/>
            <a:ext cx="6120680" cy="3795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8961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Qualitativa de Riscos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323975"/>
            <a:ext cx="62293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1484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Qualitativa de Riscos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608" y="1392773"/>
            <a:ext cx="604837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391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Qualitativa de Riscos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663" y="1352550"/>
            <a:ext cx="6162675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1354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Planejamento de Resposta a Riscos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32" y="1322526"/>
            <a:ext cx="6334093" cy="3769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2597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de Resposta a Riscos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7614"/>
            <a:ext cx="6390109" cy="37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9152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de Resposta a Riscos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7614"/>
            <a:ext cx="5861670" cy="3794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6171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respostas aos Riscos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02410"/>
            <a:ext cx="5872330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4449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respostas aos Riscos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704" y="1339716"/>
            <a:ext cx="6394140" cy="3795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2282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Riscos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93" y="1419622"/>
            <a:ext cx="6583007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59544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bcbcbace-201e-4ef7-8869-cccbfceb4d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CE5EFCB-A7F7-418A-80C0-02FCD3986958}"/>
</file>

<file path=customXml/itemProps2.xml><?xml version="1.0" encoding="utf-8"?>
<ds:datastoreItem xmlns:ds="http://schemas.openxmlformats.org/officeDocument/2006/customXml" ds:itemID="{292A8BDA-AE6B-4E12-BBA3-3E26AC23619E}"/>
</file>

<file path=customXml/itemProps3.xml><?xml version="1.0" encoding="utf-8"?>
<ds:datastoreItem xmlns:ds="http://schemas.openxmlformats.org/officeDocument/2006/customXml" ds:itemID="{CBCAE528-00B8-4EFF-81B2-21C8F431EEB0}"/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645</Words>
  <Application>Microsoft Office PowerPoint</Application>
  <PresentationFormat>Apresentação na tela (16:9)</PresentationFormat>
  <Paragraphs>61</Paragraphs>
  <Slides>23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Apresentação em Tela Larga</vt:lpstr>
      <vt:lpstr>GESTÃO DE PROJETOS</vt:lpstr>
      <vt:lpstr>Gerenciamento dos Riscos</vt:lpstr>
      <vt:lpstr>Fundamentos</vt:lpstr>
      <vt:lpstr>Riscos</vt:lpstr>
      <vt:lpstr>Riscos</vt:lpstr>
      <vt:lpstr>Conceitos de  Riscos</vt:lpstr>
      <vt:lpstr>Gerenciamento de Riscos</vt:lpstr>
      <vt:lpstr>Ameaças  X Oportunidade</vt:lpstr>
      <vt:lpstr>Gerenciamento de Riscos</vt:lpstr>
      <vt:lpstr>Gerenciamento de Riscos</vt:lpstr>
      <vt:lpstr>Identificação de Riscos</vt:lpstr>
      <vt:lpstr>Categoria de Riscos</vt:lpstr>
      <vt:lpstr>Análise de Riscos</vt:lpstr>
      <vt:lpstr>Análise Qualitativa de Riscos</vt:lpstr>
      <vt:lpstr>Análise Qualitativa de Riscos</vt:lpstr>
      <vt:lpstr>Análise Qualitativa de Riscos</vt:lpstr>
      <vt:lpstr>Análise Qualitativa de Riscos</vt:lpstr>
      <vt:lpstr>Planejamento de Resposta a Riscos</vt:lpstr>
      <vt:lpstr>Planejamento de Resposta a Riscos</vt:lpstr>
      <vt:lpstr>Planejamento de Resposta a Riscos</vt:lpstr>
      <vt:lpstr>Tipos de respostas aos Riscos</vt:lpstr>
      <vt:lpstr>Tipos de respostas aos Riscos</vt:lpstr>
      <vt:lpstr>Plano de Riscos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2012-07-30T18:40:18Z</dcterms:created>
  <dcterms:modified xsi:type="dcterms:W3CDTF">2015-06-01T03:21:51Z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0x010100134A09C3E02A604AA8862569A8596A32</vt:lpwstr>
  </property>
</Properties>
</file>