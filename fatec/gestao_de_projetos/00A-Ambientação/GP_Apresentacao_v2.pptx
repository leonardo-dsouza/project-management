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4"/>
  </p:notesMasterIdLst>
  <p:sldIdLst>
    <p:sldId id="366" r:id="rId5"/>
    <p:sldId id="368" r:id="rId6"/>
    <p:sldId id="260" r:id="rId7"/>
    <p:sldId id="261" r:id="rId8"/>
    <p:sldId id="362" r:id="rId9"/>
    <p:sldId id="357" r:id="rId10"/>
    <p:sldId id="371" r:id="rId11"/>
    <p:sldId id="367" r:id="rId12"/>
    <p:sldId id="262" r:id="rId13"/>
  </p:sldIdLst>
  <p:sldSz cx="9144000" cy="5143500" type="screen16x9"/>
  <p:notesSz cx="6858000" cy="9144000"/>
  <p:defaultTextStyle>
    <a:lvl1pPr marL="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EF0E42-6B1A-2BB7-6652-6804655CE3E5}" v="14" dt="2026-08-04T17:54:44.3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42" autoAdjust="0"/>
    <p:restoredTop sz="87567" autoAdjust="0"/>
  </p:normalViewPr>
  <p:slideViewPr>
    <p:cSldViewPr>
      <p:cViewPr varScale="1">
        <p:scale>
          <a:sx n="68" d="100"/>
          <a:sy n="68" d="100"/>
        </p:scale>
        <p:origin x="1144" y="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pt-BR" sz="1200"/>
            </a:lvl1pPr>
            <a:extLst/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pt-BR" sz="1200"/>
            </a:lvl1pPr>
            <a:extLst/>
          </a:lstStyle>
          <a:p>
            <a:fld id="{A8ADFD5B-A66C-449C-B6E8-FB716D07777D}" type="datetimeFigureOut">
              <a:pPr/>
              <a:t>04/08/2026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pt-BR" sz="1200"/>
            </a:lvl1pPr>
            <a:extLst/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pt-BR" sz="1200"/>
            </a:lvl1pPr>
            <a:extLst/>
          </a:lstStyle>
          <a:p>
            <a:fld id="{CA5D3BF3-D352-46FC-8343-31F56E6730EA}" type="slidenum"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9232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552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0871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3262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 eaLnBrk="1" latinLnBrk="0" hangingPunct="1">
              <a:buNone/>
              <a:defRPr kumimoji="0" lang="pt-BR" sz="2800">
                <a:solidFill>
                  <a:srgbClr val="FFFFFF"/>
                </a:solidFill>
              </a:defRPr>
            </a:lvl1pPr>
            <a:lvl2pPr marL="457200" indent="0" algn="ctr" eaLnBrk="1" latinLnBrk="0" hangingPunct="1">
              <a:buNone/>
            </a:lvl2pPr>
            <a:lvl3pPr marL="914400" indent="0" algn="ctr" eaLnBrk="1" latinLnBrk="0" hangingPunct="1">
              <a:buNone/>
            </a:lvl3pPr>
            <a:lvl4pPr marL="1371600" indent="0" algn="ctr" eaLnBrk="1" latinLnBrk="0" hangingPunct="1">
              <a:buNone/>
            </a:lvl4pPr>
            <a:lvl5pPr marL="1828800" indent="0" algn="ctr" eaLnBrk="1" latinLnBrk="0" hangingPunct="1">
              <a:buNone/>
            </a:lvl5pPr>
            <a:lvl6pPr marL="2286000" indent="0" algn="ctr" eaLnBrk="1" latinLnBrk="0" hangingPunct="1">
              <a:buNone/>
            </a:lvl6pPr>
            <a:lvl7pPr marL="2743200" indent="0" algn="ctr" eaLnBrk="1" latinLnBrk="0" hangingPunct="1">
              <a:buNone/>
            </a:lvl7pPr>
            <a:lvl8pPr marL="3200400" indent="0" algn="ctr" eaLnBrk="1" latinLnBrk="0" hangingPunct="1">
              <a:buNone/>
            </a:lvl8pPr>
            <a:lvl9pPr marL="3657600" indent="0" algn="ctr" eaLnBrk="1" latinLnBrk="0" hangingPunct="1">
              <a:buNone/>
            </a:lvl9pPr>
            <a:extLst/>
          </a:lstStyle>
          <a:p>
            <a:pPr eaLnBrk="1" latinLnBrk="0" hangingPunct="1"/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 eaLnBrk="1" latinLnBrk="0" hangingPunct="1">
              <a:defRPr kumimoji="0" lang="pt-BR"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047E157E-8DCB-4F70-A0AF-5EB586A91DD4}" type="datetime1">
              <a:rPr kumimoji="0" lang="pt-BR">
                <a:solidFill>
                  <a:srgbClr val="FFFFFF"/>
                </a:solidFill>
              </a:rPr>
              <a:pPr algn="ctr"/>
              <a:t>04/08/2026</a:t>
            </a:fld>
            <a:endParaRPr kumimoji="0" lang="pt-BR" sz="200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pPr algn="r"/>
            <a:endParaRPr kumimoji="0" lang="pt-BR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kumimoji="0" lang="pt-BR">
                <a:solidFill>
                  <a:schemeClr val="tx2"/>
                </a:solidFill>
              </a:rPr>
              <a:pPr/>
              <a:t>‹nº›</a:t>
            </a:fld>
            <a:endParaRPr kumimoji="0" lang="pt-BR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 eaLnBrk="1" latinLnBrk="0" hangingPunct="1">
              <a:defRPr kumimoji="0" lang="pt-BR" cap="all" baseline="0"/>
            </a:lvl1pPr>
            <a:extLst/>
          </a:lstStyle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pPr/>
              <a:t>04/08/2026</a:t>
            </a:fld>
            <a:endParaRPr kumimoji="0" lang="pt-BR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 eaLnBrk="1" latinLnBrk="0" hangingPunct="1">
              <a:buNone/>
              <a:defRPr kumimoji="0" lang="pt-BR" sz="2800">
                <a:solidFill>
                  <a:schemeClr val="tx2"/>
                </a:solidFill>
              </a:defRPr>
            </a:lvl1pPr>
            <a:lvl2pPr eaLnBrk="1" latinLnBrk="0" hangingPunct="1">
              <a:buNone/>
              <a:defRPr kumimoji="0" lang="pt-BR" sz="1800">
                <a:solidFill>
                  <a:schemeClr val="tx1">
                    <a:tint val="75000"/>
                  </a:schemeClr>
                </a:solidFill>
              </a:defRPr>
            </a:lvl2pPr>
            <a:lvl3pPr eaLnBrk="1" latinLnBrk="0" hangingPunct="1">
              <a:buNone/>
              <a:defRPr kumimoji="0" lang="pt-BR" sz="1600">
                <a:solidFill>
                  <a:schemeClr val="tx1">
                    <a:tint val="75000"/>
                  </a:schemeClr>
                </a:solidFill>
              </a:defRPr>
            </a:lvl3pPr>
            <a:lvl4pPr eaLnBrk="1" latinLnBrk="0" hangingPunct="1">
              <a:buNone/>
              <a:defRPr kumimoji="0" lang="pt-BR" sz="1400">
                <a:solidFill>
                  <a:schemeClr val="tx1">
                    <a:tint val="75000"/>
                  </a:schemeClr>
                </a:solidFill>
              </a:defRPr>
            </a:lvl4pPr>
            <a:lvl5pPr eaLnBrk="1" latinLnBrk="0" hangingPunct="1">
              <a:buNone/>
              <a:defRPr kumimoji="0" lang="pt-BR"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 eaLnBrk="1" latinLnBrk="0" hangingPunct="1">
              <a:buNone/>
              <a:defRPr kumimoji="0" lang="pt-BR"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kumimoji="0" lang="pt-BR"/>
              <a:t>Clique para editar o título Mestre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9F07-3BC7-4570-B054-79111B0A380C}" type="datetime1">
              <a:pPr/>
              <a:t>04/08/2026</a:t>
            </a:fld>
            <a:endParaRPr kumimoji="0" lang="pt-BR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 eaLnBrk="1" latinLnBrk="0" hangingPunct="1">
              <a:defRPr kumimoji="0" lang="pt-BR"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kumimoji="0" lang="pt-BR" sz="2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240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0"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pPr/>
              <a:t>04/08/2026</a:t>
            </a:fld>
            <a:endParaRPr kumimoji="0"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 eaLnBrk="1" latinLnBrk="0" hangingPunct="1">
              <a:defRPr kumimoji="0" lang="pt-BR"/>
            </a:lvl1pPr>
            <a:extLst/>
          </a:lstStyle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pPr/>
              <a:t>04/08/2026</a:t>
            </a:fld>
            <a:endParaRPr kumimoji="0" lang="pt-BR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pt-BR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lang="pt-BR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lang="pt-BR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DB5D-B7A0-47E3-AD2D-B1A6F8614213}" type="datetime1">
              <a:pPr/>
              <a:t>04/08/2026</a:t>
            </a:fld>
            <a:endParaRPr kumimoji="0"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pt-BR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rgbClr val="FFFFFF"/>
                </a:solidFill>
              </a:rPr>
              <a:pPr/>
              <a:t>‹nº›</a:t>
            </a:fld>
            <a:endParaRPr kumimoji="0" lang="pt-BR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68126-03FC-49C0-B9B8-2B561CCC3D90}" type="datetime1">
              <a:pPr/>
              <a:t>04/08/2026</a:t>
            </a:fld>
            <a:endParaRPr kumimoji="0"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chemeClr val="tx2"/>
                </a:solidFill>
              </a:rPr>
              <a:pPr/>
              <a:t>‹nº›</a:t>
            </a:fld>
            <a:endParaRPr kumimoji="0" lang="pt-BR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 eaLnBrk="1" latinLnBrk="0" hangingPunct="1">
              <a:buNone/>
              <a:defRPr kumimoji="0" lang="pt-BR" sz="4200" b="0"/>
            </a:lvl1pPr>
            <a:extLst/>
          </a:lstStyle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8198-4617-485E-9585-4840B69DBBA6}" type="datetime1">
              <a:pPr/>
              <a:t>04/08/2026</a:t>
            </a:fld>
            <a:endParaRPr kumimoji="0"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pt-BR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rgbClr val="FFFFFF"/>
                </a:solidFill>
              </a:rPr>
              <a:pPr/>
              <a:t>‹nº›</a:t>
            </a:fld>
            <a:endParaRPr kumimoji="0" lang="pt-BR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 eaLnBrk="1" latinLnBrk="0" hangingPunct="1">
              <a:spcAft>
                <a:spcPts val="1000"/>
              </a:spcAft>
              <a:buNone/>
              <a:defRPr kumimoji="0" lang="pt-BR" sz="1800"/>
            </a:lvl1pPr>
            <a:lvl2pPr eaLnBrk="1" latinLnBrk="0" hangingPunct="1">
              <a:buNone/>
              <a:defRPr kumimoji="0" lang="pt-BR" sz="1200"/>
            </a:lvl2pPr>
            <a:lvl3pPr eaLnBrk="1" latinLnBrk="0" hangingPunct="1">
              <a:buNone/>
              <a:defRPr kumimoji="0" lang="pt-BR" sz="1000"/>
            </a:lvl3pPr>
            <a:lvl4pPr eaLnBrk="1" latinLnBrk="0" hangingPunct="1">
              <a:buNone/>
              <a:defRPr kumimoji="0" lang="pt-BR" sz="900"/>
            </a:lvl4pPr>
            <a:lvl5pPr eaLnBrk="1" latinLnBrk="0" hangingPunct="1">
              <a:buNone/>
              <a:defRPr kumimoji="0" lang="pt-BR" sz="9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 eaLnBrk="1" latinLnBrk="0" hangingPunct="1">
              <a:buNone/>
              <a:defRPr kumimoji="0" lang="pt-BR" sz="3200"/>
            </a:lvl1pPr>
            <a:extLst/>
          </a:lstStyle>
          <a:p>
            <a:r>
              <a:rPr kumimoji="0" lang="pt-BR"/>
              <a:t>Clique no ícone para adicionar uma imagem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 eaLnBrk="1" latinLnBrk="0" hangingPunct="1">
              <a:buFontTx/>
              <a:buNone/>
              <a:defRPr kumimoji="0" lang="pt-BR" sz="1700"/>
            </a:lvl1pPr>
            <a:lvl2pPr eaLnBrk="1" latinLnBrk="0" hangingPunct="1">
              <a:buFontTx/>
              <a:buNone/>
              <a:defRPr kumimoji="0" lang="pt-BR" sz="1200"/>
            </a:lvl2pPr>
            <a:lvl3pPr eaLnBrk="1" latinLnBrk="0" hangingPunct="1">
              <a:buFontTx/>
              <a:buNone/>
              <a:defRPr kumimoji="0" lang="pt-BR" sz="1000"/>
            </a:lvl3pPr>
            <a:lvl4pPr eaLnBrk="1" latinLnBrk="0" hangingPunct="1">
              <a:buFontTx/>
              <a:buNone/>
              <a:defRPr kumimoji="0" lang="pt-BR" sz="900"/>
            </a:lvl4pPr>
            <a:lvl5pPr eaLnBrk="1" latinLnBrk="0" hangingPunct="1">
              <a:buFontTx/>
              <a:buNone/>
              <a:defRPr kumimoji="0" lang="pt-BR" sz="9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 eaLnBrk="1" latinLnBrk="0" hangingPunct="1">
              <a:buNone/>
              <a:defRPr kumimoji="0" lang="pt-BR" sz="2800" b="0">
                <a:solidFill>
                  <a:srgbClr val="FFFFFF"/>
                </a:solidFill>
              </a:defRPr>
            </a:lvl1pPr>
            <a:extLst/>
          </a:lstStyle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E4606EA6-EFEA-4C30-9264-4F9291A5780D}" type="datetime1">
              <a:pPr/>
              <a:t>04/08/2026</a:t>
            </a:fld>
            <a:endParaRPr kumimoji="0" lang="pt-BR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 eaLnBrk="1" latinLnBrk="0" hangingPunct="1">
              <a:defRPr kumimoji="0" lang="pt-BR" sz="2800"/>
            </a:lvl1pPr>
            <a:extLst/>
          </a:lstStyle>
          <a:p>
            <a:pPr algn="ctr"/>
            <a:fld id="{8F82E0A0-C266-4798-8C8F-B9F91E9DA37E}" type="slidenum">
              <a:rPr kumimoji="0" lang="pt-BR" sz="28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280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endParaRPr kumimoji="0"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98B7F-CD15-4C33-9FFC-0364D6C1D1A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23260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9CAD7F35-0AD9-4348-9BD3-6CE8D03AB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6A3913-211A-4416-B351-E8AF4B8ACA4A}" type="datetimeFigureOut">
              <a:rPr lang="pt-BR"/>
              <a:pPr>
                <a:defRPr/>
              </a:pPr>
              <a:t>04/08/2026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F875E646-D4AD-4C64-B2C9-462968DF7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8467FE66-F545-40D8-ACA4-DEE0D10D0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5C929-FF81-4EF3-9541-DBA5CE1B6B5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10407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lang="pt-BR" sz="1400">
                <a:solidFill>
                  <a:schemeClr val="tx2"/>
                </a:solidFill>
              </a:defRPr>
            </a:lvl1pPr>
            <a:extLst/>
          </a:lstStyle>
          <a:p>
            <a:fld id="{E4606EA6-EFEA-4C30-9264-4F9291A5780D}" type="datetime1">
              <a:pPr/>
              <a:t>04/08/2026</a:t>
            </a:fld>
            <a:endParaRPr kumimoji="0" lang="pt-BR" sz="140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lang="pt-BR" sz="1400">
                <a:solidFill>
                  <a:schemeClr val="tx2"/>
                </a:solidFill>
              </a:defRPr>
            </a:lvl1pPr>
            <a:extLst/>
          </a:lstStyle>
          <a:p>
            <a:pPr algn="r"/>
            <a:endParaRPr kumimoji="0" lang="pt-BR" sz="140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lang="pt-BR"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1400" b="1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eaLnBrk="1" latinLnBrk="0" hangingPunct="1"/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  <p:sldLayoutId id="2147483660" r:id="rId11"/>
  </p:sldLayoutIdLst>
  <p:txStyles>
    <p:titleStyle>
      <a:lvl1pPr algn="l" rtl="0" eaLnBrk="1" latinLnBrk="0" hangingPunct="1">
        <a:spcBef>
          <a:spcPct val="0"/>
        </a:spcBef>
        <a:buNone/>
        <a:defRPr kumimoji="0" lang="pt-BR"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lang="pt-BR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lang="pt-BR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lang="pt-BR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lang="pt-BR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lang="pt-BR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ArLo94Gqr4WNWnIVKtO_HH8L5gz-2JAaNhax8YgW4Ek/edit?usp=sharing" TargetMode="Externa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/>
          </p:cNvSpPr>
          <p:nvPr>
            <p:ph type="subTitle" idx="1"/>
          </p:nvPr>
        </p:nvSpPr>
        <p:spPr>
          <a:xfrm>
            <a:off x="2339752" y="4659982"/>
            <a:ext cx="6515100" cy="555526"/>
          </a:xfrm>
        </p:spPr>
        <p:txBody>
          <a:bodyPr>
            <a:normAutofit fontScale="55000" lnSpcReduction="20000"/>
          </a:bodyPr>
          <a:lstStyle/>
          <a:p>
            <a:r>
              <a:rPr lang="pt-BR" dirty="0"/>
              <a:t>Análise e Desenvolvimento de Sistemas</a:t>
            </a:r>
          </a:p>
          <a:p>
            <a:r>
              <a:rPr lang="en-US" dirty="0"/>
              <a:t>Prof. Claudio Lima - http://lattes.cnpq.br/</a:t>
            </a:r>
            <a:r>
              <a:rPr lang="pt-BR" dirty="0"/>
              <a:t>9330552327454666</a:t>
            </a:r>
            <a:r>
              <a:rPr lang="en-US" dirty="0"/>
              <a:t> </a:t>
            </a:r>
          </a:p>
          <a:p>
            <a:endParaRPr lang="pt-BR" dirty="0"/>
          </a:p>
        </p:txBody>
      </p:sp>
      <p:sp>
        <p:nvSpPr>
          <p:cNvPr id="4" name="Rectang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pt-BR" sz="4400" b="1" dirty="0" err="1">
                <a:solidFill>
                  <a:schemeClr val="tx1"/>
                </a:solidFill>
              </a:rPr>
              <a:t>Gestão</a:t>
            </a:r>
            <a:r>
              <a:rPr lang="en-US" altLang="pt-BR" sz="4400" b="1" dirty="0">
                <a:solidFill>
                  <a:schemeClr val="tx1"/>
                </a:solidFill>
              </a:rPr>
              <a:t> DE PROJETOS</a:t>
            </a:r>
          </a:p>
        </p:txBody>
      </p:sp>
    </p:spTree>
    <p:extLst>
      <p:ext uri="{BB962C8B-B14F-4D97-AF65-F5344CB8AC3E}">
        <p14:creationId xmlns:p14="http://schemas.microsoft.com/office/powerpoint/2010/main" val="1411462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131590"/>
            <a:ext cx="8712968" cy="4155926"/>
          </a:xfrm>
        </p:spPr>
        <p:txBody>
          <a:bodyPr lIns="92075" tIns="46038" rIns="92075" bIns="46038">
            <a:normAutofit lnSpcReduction="10000"/>
          </a:bodyPr>
          <a:lstStyle/>
          <a:p>
            <a:pPr>
              <a:lnSpc>
                <a:spcPct val="80000"/>
              </a:lnSpc>
              <a:defRPr/>
            </a:pPr>
            <a:endParaRPr lang="pt-BR" altLang="pt-BR" sz="2400" b="1" dirty="0"/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altLang="pt-BR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Formação Acadêmica :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Graduado em Ciência da Computação;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Pós Graduado em Formação Pedagógica;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Pós Graduado em Engenharia de Sistemas;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Pós Graduado em Psicopedagogia.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Mestrado Incompleto em Engenharia da Computação.</a:t>
            </a:r>
          </a:p>
          <a:p>
            <a:pPr algn="just">
              <a:lnSpc>
                <a:spcPct val="80000"/>
              </a:lnSpc>
              <a:defRPr/>
            </a:pPr>
            <a:endParaRPr lang="pt-BR" altLang="pt-BR" sz="1800" dirty="0"/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altLang="pt-BR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Experiência Profissional :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Tenho experiência 20 anos no Mercado de Tecnologia Gestão GSB – Gerdau- SA;</a:t>
            </a:r>
          </a:p>
          <a:p>
            <a:pPr algn="just">
              <a:lnSpc>
                <a:spcPct val="80000"/>
              </a:lnSpc>
              <a:defRPr/>
            </a:pPr>
            <a:r>
              <a:rPr lang="pt-BR" sz="1800" dirty="0"/>
              <a:t>Atualmente trabalho com Professor da Fatec-SJC, ETEC e no curso de Gestão Empresarial da FATEC, modalidade a distância.</a:t>
            </a:r>
            <a:endParaRPr lang="pt-BR" altLang="pt-BR" sz="1800" dirty="0"/>
          </a:p>
          <a:p>
            <a:pPr>
              <a:lnSpc>
                <a:spcPct val="80000"/>
              </a:lnSpc>
              <a:defRPr/>
            </a:pPr>
            <a:endParaRPr lang="pt-BR" altLang="pt-BR" sz="1800" dirty="0"/>
          </a:p>
          <a:p>
            <a:pPr marL="0" indent="0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altLang="pt-BR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e-mail: </a:t>
            </a:r>
            <a:r>
              <a:rPr lang="pt-BR" altLang="pt-BR" sz="1800" dirty="0"/>
              <a:t>claudioelima@gmail.com</a:t>
            </a:r>
          </a:p>
        </p:txBody>
      </p:sp>
      <p:sp>
        <p:nvSpPr>
          <p:cNvPr id="7" name="Rectangle 5"/>
          <p:cNvSpPr txBox="1">
            <a:spLocks noChangeArrowheads="1"/>
          </p:cNvSpPr>
          <p:nvPr/>
        </p:nvSpPr>
        <p:spPr bwMode="auto">
          <a:xfrm>
            <a:off x="0" y="0"/>
            <a:ext cx="9144000" cy="844154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eaLnBrk="1" hangingPunct="1">
              <a:spcBef>
                <a:spcPct val="0"/>
              </a:spcBef>
              <a:buNone/>
              <a:defRPr kumimoji="0"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pt-BR" altLang="pt-BR" dirty="0"/>
              <a:t>Informações sobre o </a:t>
            </a:r>
            <a:r>
              <a:rPr lang="pt-BR" altLang="pt-BR" dirty="0" err="1"/>
              <a:t>Profº</a:t>
            </a:r>
            <a:r>
              <a:rPr lang="pt-BR" altLang="pt-BR" dirty="0"/>
              <a:t>. Claudio</a:t>
            </a:r>
          </a:p>
        </p:txBody>
      </p:sp>
      <p:pic>
        <p:nvPicPr>
          <p:cNvPr id="3" name="Imagem 2" descr="Homem de barba e óculos&#10;&#10;Descrição gerada automaticamente">
            <a:extLst>
              <a:ext uri="{FF2B5EF4-FFF2-40B4-BE49-F238E27FC236}">
                <a16:creationId xmlns:a16="http://schemas.microsoft.com/office/drawing/2014/main" id="{223466CA-7599-4C69-A186-5C5296FFF9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913" y="1275606"/>
            <a:ext cx="2264087" cy="226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477869"/>
      </p:ext>
    </p:extLst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41FA367-B275-4ADC-BCB8-23993FB64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235" y="195263"/>
            <a:ext cx="6172200" cy="857250"/>
          </a:xfrm>
        </p:spPr>
        <p:txBody>
          <a:bodyPr/>
          <a:lstStyle/>
          <a:p>
            <a:pPr eaLnBrk="1" hangingPunct="1"/>
            <a:r>
              <a:rPr lang="en-US" altLang="pt-BR" sz="2700"/>
              <a:t>Objetivos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17D28C7E-2B1A-4A2C-97C7-0AF06B791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 vert="horz" lIns="91440" tIns="45720" rIns="91440" bIns="45720" anchor="t">
            <a:normAutofit/>
          </a:bodyPr>
          <a:lstStyle/>
          <a:p>
            <a:pPr algn="ctr" eaLnBrk="1" hangingPunct="1">
              <a:buFontTx/>
              <a:buNone/>
            </a:pPr>
            <a:endParaRPr lang="pt-BR" altLang="pt-BR" dirty="0"/>
          </a:p>
          <a:p>
            <a:pPr>
              <a:buNone/>
            </a:pPr>
            <a:r>
              <a:rPr lang="pt-BR" sz="1800" b="0" i="0" dirty="0">
                <a:solidFill>
                  <a:srgbClr val="000000"/>
                </a:solidFill>
                <a:effectLst/>
                <a:latin typeface="TwCenMT-Regular"/>
              </a:rPr>
              <a:t>Conhecer e aplicar técnicas, métodos e ferramentas para uma gestão </a:t>
            </a:r>
            <a:r>
              <a:rPr lang="pt-BR" sz="1800" dirty="0">
                <a:solidFill>
                  <a:srgbClr val="000000"/>
                </a:solidFill>
                <a:latin typeface="TwCenMT-Regular"/>
              </a:rPr>
              <a:t>de projetos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TwCenMT-Regular"/>
              </a:rPr>
              <a:t>.</a:t>
            </a:r>
            <a:r>
              <a:rPr lang="pt-BR" dirty="0"/>
              <a:t> </a:t>
            </a:r>
            <a:br>
              <a:rPr lang="pt-BR" dirty="0"/>
            </a:br>
            <a:endParaRPr lang="pt-BR" alt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029E6C7-CE63-4FC4-ADD2-3A797A3C3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pt-BR"/>
              <a:t>Ementa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6B4F77F-A696-4120-BCDB-13250F967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512" y="1363266"/>
            <a:ext cx="8964488" cy="3780234"/>
          </a:xfrm>
        </p:spPr>
        <p:txBody>
          <a:bodyPr>
            <a:normAutofit fontScale="70000" lnSpcReduction="20000"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TwCenMT-Regular"/>
              </a:rPr>
              <a:t>Definição de projeto segundo concepção difundida pelas melhores práticas de gestão de projetos. Histórico do desenvolvimento do conjunto de conhecimentos de gestão de projetos. Comparação entre o gerenciamento por projetos com o gerenciamento tradicional. O ciclo de vida de um projeto. Os fatores de sucesso e insucesso de projetos e sua mensuração. 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TwCenMT-Regular"/>
              </a:rPr>
              <a:t>As 10 de conhecimento para a gestão de projetos e seus processos :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TwCenMT-Regular"/>
              </a:rPr>
              <a:t>Integração;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TwCenMT-Regular"/>
              </a:rPr>
              <a:t>Escopo</a:t>
            </a:r>
            <a:r>
              <a:rPr lang="pt-BR" sz="2000" dirty="0">
                <a:solidFill>
                  <a:srgbClr val="000000"/>
                </a:solidFill>
                <a:latin typeface="TwCenMT-Regular"/>
              </a:rPr>
              <a:t>;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TwCenMT-Regular"/>
              </a:rPr>
              <a:t>Tempo;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TwCenMT-Regular"/>
              </a:rPr>
              <a:t>Custo</a:t>
            </a:r>
            <a:r>
              <a:rPr lang="pt-BR" sz="2000" dirty="0">
                <a:solidFill>
                  <a:srgbClr val="000000"/>
                </a:solidFill>
                <a:latin typeface="TwCenMT-Regular"/>
              </a:rPr>
              <a:t>;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TwCenMT-Regular"/>
              </a:rPr>
              <a:t>Qualidade;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TwCenMT-Regular"/>
              </a:rPr>
              <a:t>Recursos Humanos;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TwCenMT-Regular"/>
              </a:rPr>
              <a:t>Comunicações;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TwCenMT-Regular"/>
              </a:rPr>
              <a:t>Riscos;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TwCenMT-Regular"/>
              </a:rPr>
              <a:t>Aquisições;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TwCenMT-Regular"/>
              </a:rPr>
              <a:t>Partes Interessadas.</a:t>
            </a:r>
            <a:r>
              <a:rPr lang="pt-BR" sz="1200" dirty="0"/>
              <a:t> </a:t>
            </a:r>
            <a:br>
              <a:rPr lang="pt-BR" sz="1200" dirty="0"/>
            </a:br>
            <a:endParaRPr lang="en-US" altLang="pt-BR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BC309B-3625-4FBE-9A54-9E49712C6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941C9C-6038-4F1B-A382-406FE0F970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7850832" cy="3019399"/>
          </a:xfrm>
        </p:spPr>
        <p:txBody>
          <a:bodyPr/>
          <a:lstStyle/>
          <a:p>
            <a:r>
              <a:rPr lang="pt-BR" dirty="0"/>
              <a:t>Expositiva;</a:t>
            </a:r>
          </a:p>
          <a:p>
            <a:r>
              <a:rPr lang="pt-BR" dirty="0"/>
              <a:t>Mídias;</a:t>
            </a:r>
          </a:p>
          <a:p>
            <a:r>
              <a:rPr lang="pt-BR" dirty="0"/>
              <a:t>Pesquisas;</a:t>
            </a:r>
          </a:p>
          <a:p>
            <a:r>
              <a:rPr lang="pt-BR" b="0" i="0" dirty="0">
                <a:solidFill>
                  <a:srgbClr val="202124"/>
                </a:solidFill>
                <a:effectLst/>
                <a:latin typeface="Google Sans"/>
              </a:rPr>
              <a:t>Aprendizagem Baseada em Projetos </a:t>
            </a:r>
            <a:r>
              <a:rPr lang="pt-BR" b="1" i="0" dirty="0">
                <a:solidFill>
                  <a:srgbClr val="202124"/>
                </a:solidFill>
                <a:effectLst/>
                <a:latin typeface="Google Sans"/>
              </a:rPr>
              <a:t>Reais</a:t>
            </a:r>
            <a:r>
              <a:rPr lang="pt-BR" b="0" i="0" dirty="0">
                <a:solidFill>
                  <a:srgbClr val="202124"/>
                </a:solidFill>
                <a:effectLst/>
                <a:latin typeface="Google Sans"/>
              </a:rPr>
              <a:t> (RPBL)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32125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57250"/>
          </a:xfrm>
        </p:spPr>
        <p:txBody>
          <a:bodyPr vert="horz" anchor="b">
            <a:normAutofit/>
          </a:bodyPr>
          <a:lstStyle/>
          <a:p>
            <a:r>
              <a:rPr lang="en-US" dirty="0" err="1"/>
              <a:t>Carga</a:t>
            </a:r>
            <a:r>
              <a:rPr lang="en-US" dirty="0"/>
              <a:t> </a:t>
            </a:r>
            <a:r>
              <a:rPr lang="en-US" dirty="0" err="1"/>
              <a:t>Horária</a:t>
            </a:r>
            <a:r>
              <a:rPr lang="en-US" dirty="0"/>
              <a:t> da </a:t>
            </a:r>
            <a:r>
              <a:rPr lang="en-US" dirty="0" err="1"/>
              <a:t>Disciplina</a:t>
            </a:r>
            <a:endParaRPr lang="pt-BR" dirty="0"/>
          </a:p>
        </p:txBody>
      </p:sp>
      <p:sp>
        <p:nvSpPr>
          <p:cNvPr id="8195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pt-BR" b="1" dirty="0" err="1"/>
              <a:t>Carga</a:t>
            </a:r>
            <a:r>
              <a:rPr lang="en-US" altLang="pt-BR" b="1" dirty="0"/>
              <a:t> </a:t>
            </a:r>
            <a:r>
              <a:rPr lang="en-US" altLang="pt-BR" b="1" dirty="0" err="1"/>
              <a:t>Horária</a:t>
            </a:r>
            <a:r>
              <a:rPr lang="en-US" altLang="pt-BR" b="1" dirty="0"/>
              <a:t> </a:t>
            </a:r>
            <a:r>
              <a:rPr lang="en-US" altLang="pt-BR" b="1" dirty="0" err="1"/>
              <a:t>Semanal</a:t>
            </a:r>
            <a:endParaRPr lang="en-US" altLang="pt-BR" b="1" dirty="0"/>
          </a:p>
          <a:p>
            <a:pPr lvl="1"/>
            <a:r>
              <a:rPr lang="en-US" altLang="pt-BR" dirty="0"/>
              <a:t>04 horas/aula</a:t>
            </a:r>
          </a:p>
          <a:p>
            <a:pPr lvl="2"/>
            <a:r>
              <a:rPr lang="en-US" altLang="pt-BR" dirty="0"/>
              <a:t>02 </a:t>
            </a:r>
            <a:r>
              <a:rPr lang="en-US" altLang="pt-BR" dirty="0" err="1"/>
              <a:t>teóricas</a:t>
            </a:r>
            <a:endParaRPr lang="en-US" altLang="pt-BR" dirty="0"/>
          </a:p>
          <a:p>
            <a:pPr lvl="2"/>
            <a:r>
              <a:rPr lang="en-US" altLang="pt-BR" dirty="0"/>
              <a:t>02 </a:t>
            </a:r>
            <a:r>
              <a:rPr lang="en-US" altLang="pt-BR" dirty="0" err="1"/>
              <a:t>práticas</a:t>
            </a:r>
            <a:endParaRPr lang="en-US" altLang="pt-BR" dirty="0"/>
          </a:p>
          <a:p>
            <a:pPr marL="0" indent="0">
              <a:buFont typeface="Wingdings" pitchFamily="2" charset="2"/>
              <a:buNone/>
            </a:pPr>
            <a:r>
              <a:rPr lang="en-US" altLang="pt-BR" b="1" dirty="0" err="1"/>
              <a:t>Carga</a:t>
            </a:r>
            <a:r>
              <a:rPr lang="en-US" altLang="pt-BR" b="1" dirty="0"/>
              <a:t> </a:t>
            </a:r>
            <a:r>
              <a:rPr lang="en-US" altLang="pt-BR" b="1" dirty="0" err="1"/>
              <a:t>Horária</a:t>
            </a:r>
            <a:r>
              <a:rPr lang="en-US" altLang="pt-BR" b="1" dirty="0"/>
              <a:t> </a:t>
            </a:r>
            <a:r>
              <a:rPr lang="en-US" altLang="pt-BR" b="1" dirty="0" err="1"/>
              <a:t>Semestral</a:t>
            </a:r>
            <a:endParaRPr lang="en-US" altLang="pt-BR" b="1" dirty="0"/>
          </a:p>
          <a:p>
            <a:pPr lvl="1"/>
            <a:r>
              <a:rPr lang="pt-BR" altLang="pt-BR" dirty="0"/>
              <a:t>80 horas/aula</a:t>
            </a:r>
          </a:p>
        </p:txBody>
      </p:sp>
    </p:spTree>
    <p:extLst>
      <p:ext uri="{BB962C8B-B14F-4D97-AF65-F5344CB8AC3E}">
        <p14:creationId xmlns:p14="http://schemas.microsoft.com/office/powerpoint/2010/main" val="4159740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Critério de Avaliação</a:t>
            </a:r>
          </a:p>
        </p:txBody>
      </p:sp>
      <p:sp>
        <p:nvSpPr>
          <p:cNvPr id="3" name="Rectangle 2"/>
          <p:cNvSpPr>
            <a:spLocks noGrp="1"/>
          </p:cNvSpPr>
          <p:nvPr>
            <p:ph sz="quarter" idx="13"/>
          </p:nvPr>
        </p:nvSpPr>
        <p:spPr>
          <a:xfrm>
            <a:off x="0" y="1635646"/>
            <a:ext cx="9144000" cy="4032448"/>
          </a:xfrm>
        </p:spPr>
        <p:txBody>
          <a:bodyPr vert="horz" lIns="91440" tIns="45720" rIns="91440" bIns="45720" anchor="ctr">
            <a:normAutofit/>
          </a:bodyPr>
          <a:lstStyle/>
          <a:p>
            <a:pPr marL="0" indent="0">
              <a:buNone/>
            </a:pPr>
            <a:r>
              <a:rPr lang="pt-BR" sz="2000" dirty="0"/>
              <a:t>✅ </a:t>
            </a:r>
            <a:r>
              <a:rPr lang="pt-BR" sz="2000" b="1" dirty="0"/>
              <a:t>Requisitos para Aprovação:</a:t>
            </a:r>
            <a:endParaRPr lang="pt-BR" sz="2000" dirty="0"/>
          </a:p>
          <a:p>
            <a:pPr marL="0" indent="0">
              <a:buNone/>
            </a:pPr>
            <a:r>
              <a:rPr lang="pt-BR" sz="2000" b="1" dirty="0"/>
              <a:t>Média final:</a:t>
            </a:r>
            <a:r>
              <a:rPr lang="pt-BR" sz="2000" dirty="0"/>
              <a:t> É necessário obter </a:t>
            </a:r>
            <a:r>
              <a:rPr lang="pt-BR" sz="2000" b="1" dirty="0"/>
              <a:t>GP &gt;= 6</a:t>
            </a:r>
            <a:r>
              <a:rPr lang="pt-BR" sz="2000" dirty="0"/>
              <a:t> para que a nota do API seja considerada.</a:t>
            </a:r>
            <a:br>
              <a:rPr lang="pt-BR" sz="2000" dirty="0"/>
            </a:br>
            <a:r>
              <a:rPr lang="pt-BR" sz="2000" dirty="0"/>
              <a:t>A disciplina </a:t>
            </a:r>
            <a:r>
              <a:rPr lang="pt-BR" sz="2000" b="1" dirty="0"/>
              <a:t>GP</a:t>
            </a:r>
            <a:r>
              <a:rPr lang="pt-BR" sz="2000" dirty="0"/>
              <a:t> contará com </a:t>
            </a:r>
            <a:r>
              <a:rPr lang="pt-BR" sz="2000" b="1" dirty="0"/>
              <a:t>3 atividades avaliativas individuais</a:t>
            </a:r>
            <a:r>
              <a:rPr lang="pt-BR" sz="2000" dirty="0"/>
              <a:t> e </a:t>
            </a:r>
            <a:r>
              <a:rPr lang="pt-BR" sz="2000" b="1" dirty="0"/>
              <a:t>2 provas e/ou </a:t>
            </a:r>
            <a:r>
              <a:rPr lang="pt-BR" sz="2000" b="1"/>
              <a:t>1 substituição</a:t>
            </a:r>
            <a:r>
              <a:rPr lang="pt-BR" sz="2000" dirty="0"/>
              <a:t> ao longo do semestre.</a:t>
            </a:r>
          </a:p>
          <a:p>
            <a:pPr marL="0" indent="0">
              <a:buNone/>
            </a:pPr>
            <a:r>
              <a:rPr lang="pt-BR" sz="2000" dirty="0"/>
              <a:t>📋 </a:t>
            </a:r>
            <a:r>
              <a:rPr lang="pt-BR" sz="2000" b="1" dirty="0"/>
              <a:t>Conceito e Situação:</a:t>
            </a:r>
            <a:endParaRPr lang="pt-BR" sz="2000" dirty="0"/>
          </a:p>
          <a:p>
            <a:pPr marL="0" indent="0">
              <a:buNone/>
            </a:pPr>
            <a:r>
              <a:rPr lang="pt-BR" sz="2000" b="1" dirty="0"/>
              <a:t>20 faltas:</a:t>
            </a:r>
            <a:r>
              <a:rPr lang="pt-BR" sz="2000" dirty="0"/>
              <a:t> ❌ </a:t>
            </a:r>
            <a:r>
              <a:rPr lang="pt-BR" sz="2000" i="1" dirty="0"/>
              <a:t>Reprovado por faltas</a:t>
            </a:r>
            <a:endParaRPr lang="pt-BR" sz="2000" dirty="0"/>
          </a:p>
          <a:p>
            <a:pPr marL="0" indent="0">
              <a:buNone/>
            </a:pPr>
            <a:r>
              <a:rPr lang="pt-BR" sz="2000" b="1" dirty="0"/>
              <a:t>Média Final &lt; 6:</a:t>
            </a:r>
            <a:r>
              <a:rPr lang="pt-BR" sz="2000" dirty="0"/>
              <a:t> ❌ </a:t>
            </a:r>
            <a:r>
              <a:rPr lang="pt-BR" sz="2000" i="1" dirty="0"/>
              <a:t>Reprovado</a:t>
            </a:r>
            <a:endParaRPr lang="pt-BR" sz="2000" dirty="0"/>
          </a:p>
          <a:p>
            <a:pPr marL="0" indent="0">
              <a:buNone/>
            </a:pPr>
            <a:r>
              <a:rPr lang="pt-BR" sz="2000" b="1" dirty="0"/>
              <a:t>Média Final ≥ 6:</a:t>
            </a:r>
            <a:r>
              <a:rPr lang="pt-BR" sz="2000" dirty="0"/>
              <a:t> ✅ </a:t>
            </a:r>
            <a:r>
              <a:rPr lang="pt-BR" sz="2000" i="1" dirty="0"/>
              <a:t>Aprovado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🚫 </a:t>
            </a:r>
            <a:r>
              <a:rPr lang="pt-BR" sz="2000" b="1" dirty="0"/>
              <a:t>Atenção:</a:t>
            </a:r>
            <a:br>
              <a:rPr lang="pt-BR" sz="2000" dirty="0"/>
            </a:br>
            <a:r>
              <a:rPr lang="pt-BR" sz="2000" b="1" dirty="0"/>
              <a:t>Exame Final:</a:t>
            </a:r>
            <a:r>
              <a:rPr lang="pt-BR" sz="2000" dirty="0"/>
              <a:t> será concedido somente aos alunos que </a:t>
            </a:r>
            <a:r>
              <a:rPr lang="pt-BR" sz="2000" b="1" dirty="0"/>
              <a:t>não forem reprovados por falta</a:t>
            </a:r>
            <a:r>
              <a:rPr lang="pt-BR" sz="2000" dirty="0"/>
              <a:t>.</a:t>
            </a:r>
          </a:p>
          <a:p>
            <a:pPr marL="0" indent="0">
              <a:buNone/>
            </a:pPr>
            <a:endParaRPr lang="pt-BR" sz="2800" dirty="0"/>
          </a:p>
          <a:p>
            <a:pPr marL="274320" lvl="1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023874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730843-7C16-60AE-F759-33880D42D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dirty="0"/>
              <a:t>Temas para as Atividades Avaliativas Individual (AAI)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4A3F72A-C08B-6B2B-FA24-155F2AC654EA}"/>
              </a:ext>
            </a:extLst>
          </p:cNvPr>
          <p:cNvSpPr txBox="1"/>
          <p:nvPr/>
        </p:nvSpPr>
        <p:spPr>
          <a:xfrm>
            <a:off x="0" y="2387084"/>
            <a:ext cx="88518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hlinkClick r:id="rId2"/>
              </a:rPr>
              <a:t>https://docs.google.com/spreadsheets/d/1ArLo94Gqr4WNWnIVKtO_HH8L5gz-2JAaNhax8YgW4Ek/edit?usp=sharing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003326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41975DB-D8AB-438A-8F01-CA21C51AE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235" y="195263"/>
            <a:ext cx="6172200" cy="857250"/>
          </a:xfrm>
        </p:spPr>
        <p:txBody>
          <a:bodyPr/>
          <a:lstStyle/>
          <a:p>
            <a:pPr eaLnBrk="1" hangingPunct="1"/>
            <a:r>
              <a:rPr lang="en-US" altLang="pt-BR"/>
              <a:t>Bibliografia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9466769-46F1-4B53-8844-2DB6432AB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pt-BR" sz="1800" b="0" i="0" dirty="0">
                <a:solidFill>
                  <a:srgbClr val="FF0000"/>
                </a:solidFill>
                <a:effectLst/>
                <a:latin typeface="TwCenMT-Regular"/>
              </a:rPr>
              <a:t>Bibliografia Básica</a:t>
            </a:r>
            <a:br>
              <a:rPr lang="pt-BR" sz="1800" b="0" i="0" dirty="0">
                <a:solidFill>
                  <a:srgbClr val="FF0000"/>
                </a:solidFill>
                <a:effectLst/>
                <a:latin typeface="TwCenMT-Regular"/>
              </a:rPr>
            </a:br>
            <a:r>
              <a:rPr lang="pt-BR" sz="1800" b="0" i="0" dirty="0">
                <a:solidFill>
                  <a:srgbClr val="DA1F28"/>
                </a:solidFill>
                <a:effectLst/>
                <a:latin typeface="Wingdings-Regular"/>
              </a:rPr>
              <a:t>◼ 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TwCenMT-Regular"/>
              </a:rPr>
              <a:t>CAVALIERI, A et al. AMA - Manual de Gerenciamento de Projetos. 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TwCenMT-Regular"/>
              </a:rPr>
              <a:t>Brasport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TwCenMT-Regular"/>
              </a:rPr>
              <a:t>, 2009.</a:t>
            </a:r>
            <a:br>
              <a:rPr lang="pt-BR" sz="1800" b="0" i="0" dirty="0">
                <a:solidFill>
                  <a:srgbClr val="000000"/>
                </a:solidFill>
                <a:effectLst/>
                <a:latin typeface="TwCenMT-Regular"/>
              </a:rPr>
            </a:br>
            <a:r>
              <a:rPr lang="pt-BR" sz="1800" b="0" i="0" dirty="0">
                <a:solidFill>
                  <a:srgbClr val="DA1F28"/>
                </a:solidFill>
                <a:effectLst/>
                <a:latin typeface="Wingdings-Regular"/>
              </a:rPr>
              <a:t>◼ 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TwCenMT-Regular"/>
              </a:rPr>
              <a:t>Um Guia de Conhecimento em Gerenciamento de Projetos</a:t>
            </a:r>
            <a:r>
              <a:rPr lang="pt-BR" dirty="0"/>
              <a:t> </a:t>
            </a:r>
            <a:br>
              <a:rPr lang="pt-BR" dirty="0"/>
            </a:br>
            <a:endParaRPr lang="pt-BR" altLang="pt-B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resentação em Tela Larga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34A09C3E02A604AA8862569A8596A32" ma:contentTypeVersion="10" ma:contentTypeDescription="Crie um novo documento." ma:contentTypeScope="" ma:versionID="9ebcba8d9189bd2d1d9ae1a9ecdf9ecf">
  <xsd:schema xmlns:xsd="http://www.w3.org/2001/XMLSchema" xmlns:xs="http://www.w3.org/2001/XMLSchema" xmlns:p="http://schemas.microsoft.com/office/2006/metadata/properties" xmlns:ns2="bcbcbace-201e-4ef7-8869-cccbfceb4df8" xmlns:ns3="bf55bb95-0e2d-49eb-8730-bda5c0a73d75" targetNamespace="http://schemas.microsoft.com/office/2006/metadata/properties" ma:root="true" ma:fieldsID="5728f961ced8355fef59faf963e69c4f" ns2:_="" ns3:_="">
    <xsd:import namespace="bcbcbace-201e-4ef7-8869-cccbfceb4df8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bcbace-201e-4ef7-8869-cccbfceb4d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355b3ef0-86e3-4c4b-bf32-5e67dec0a599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bcbace-201e-4ef7-8869-cccbfceb4df8">
      <Terms xmlns="http://schemas.microsoft.com/office/infopath/2007/PartnerControls"/>
    </lcf76f155ced4ddcb4097134ff3c332f>
    <TaxCatchAll xmlns="bf55bb95-0e2d-49eb-8730-bda5c0a73d75" xsi:nil="true"/>
  </documentManagement>
</p:properties>
</file>

<file path=customXml/itemProps1.xml><?xml version="1.0" encoding="utf-8"?>
<ds:datastoreItem xmlns:ds="http://schemas.openxmlformats.org/officeDocument/2006/customXml" ds:itemID="{9C7BCEA4-DDF5-441E-B5EA-2BD880D1D1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bcbace-201e-4ef7-8869-cccbfceb4df8"/>
    <ds:schemaRef ds:uri="bf55bb95-0e2d-49eb-8730-bda5c0a73d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4CE109-BB9A-4059-9BDF-8C6C0608A5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82C976-5D49-4B8A-A868-9E156B9CFD90}">
  <ds:schemaRefs>
    <ds:schemaRef ds:uri="http://schemas.microsoft.com/office/2006/metadata/properties"/>
    <ds:schemaRef ds:uri="http://schemas.microsoft.com/office/infopath/2007/PartnerControls"/>
    <ds:schemaRef ds:uri="0b73b5d8-c4e7-4c35-afe4-196ff5d930c9"/>
    <ds:schemaRef ds:uri="849fa1f3-77c5-486b-a7d1-73169648f326"/>
    <ds:schemaRef ds:uri="e62effa8-c612-4657-b64e-83124bbab7cb"/>
    <ds:schemaRef ds:uri="d78dacd4-ba8a-4506-8839-a918012505f4"/>
    <ds:schemaRef ds:uri="1b33fe4a-b510-4f34-bdad-ca4ca3f53012"/>
    <ds:schemaRef ds:uri="8a541ec5-5174-4d84-b55d-e8e4b286cca6"/>
    <ds:schemaRef ds:uri="70df149b-fe3d-4e67-a90f-0cbdfddf1312"/>
    <ds:schemaRef ds:uri="dfdf0eb2-a6ac-4f22-a8b7-230089c9822d"/>
    <ds:schemaRef ds:uri="8eed8331-59c8-4f23-8714-b6653687bb65"/>
    <ds:schemaRef ds:uri="4f8a575f-8453-4ab3-9699-104a6bc48a32"/>
    <ds:schemaRef ds:uri="7c38dc6f-a8b4-4f79-a2c6-b82ddc17a729"/>
    <ds:schemaRef ds:uri="9f296061-4dbf-4598-a9c7-d84ff4c00645"/>
    <ds:schemaRef ds:uri="bfbee7e0-398a-4815-b35c-c54febb545ef"/>
    <ds:schemaRef ds:uri="d909782a-a368-4ed6-941f-95ec1820b119"/>
    <ds:schemaRef ds:uri="bcbcbace-201e-4ef7-8869-cccbfceb4df8"/>
    <ds:schemaRef ds:uri="bf55bb95-0e2d-49eb-8730-bda5c0a73d7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WidescreenPresentation</Template>
  <TotalTime>0</TotalTime>
  <Words>412</Words>
  <Application>Microsoft Office PowerPoint</Application>
  <PresentationFormat>Apresentação na tela (16:9)</PresentationFormat>
  <Paragraphs>60</Paragraphs>
  <Slides>9</Slides>
  <Notes>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Apresentação em Tela Larga</vt:lpstr>
      <vt:lpstr>Gestão DE PROJETOS</vt:lpstr>
      <vt:lpstr>Apresentação do PowerPoint</vt:lpstr>
      <vt:lpstr>Objetivos</vt:lpstr>
      <vt:lpstr>Ementa</vt:lpstr>
      <vt:lpstr>Metodologia</vt:lpstr>
      <vt:lpstr>Carga Horária da Disciplina</vt:lpstr>
      <vt:lpstr>Critério de Avaliação</vt:lpstr>
      <vt:lpstr>Temas para as Atividades Avaliativas Individual (AAI)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Gestão DE PROJETOS</dc:title>
  <dc:creator/>
  <cp:lastModifiedBy/>
  <cp:revision>12</cp:revision>
  <dcterms:created xsi:type="dcterms:W3CDTF">2012-07-30T18:40:18Z</dcterms:created>
  <dcterms:modified xsi:type="dcterms:W3CDTF">2026-08-04T17:55:09Z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1046</vt:i4>
  </property>
  <property fmtid="{D5CDD505-2E9C-101B-9397-08002B2CF9AE}" pid="3" name="_Version">
    <vt:lpwstr>12.0.4518</vt:lpwstr>
  </property>
  <property fmtid="{D5CDD505-2E9C-101B-9397-08002B2CF9AE}" pid="4" name="ContentTypeId">
    <vt:lpwstr>0x010100134A09C3E02A604AA8862569A8596A32</vt:lpwstr>
  </property>
  <property fmtid="{D5CDD505-2E9C-101B-9397-08002B2CF9AE}" pid="5" name="MediaServiceImageTags">
    <vt:lpwstr/>
  </property>
</Properties>
</file>