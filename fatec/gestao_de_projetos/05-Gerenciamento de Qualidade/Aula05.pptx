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3"/>
  </p:notesMasterIdLst>
  <p:sldIdLst>
    <p:sldId id="344" r:id="rId2"/>
    <p:sldId id="366" r:id="rId3"/>
    <p:sldId id="380" r:id="rId4"/>
    <p:sldId id="381" r:id="rId5"/>
    <p:sldId id="371" r:id="rId6"/>
    <p:sldId id="372" r:id="rId7"/>
    <p:sldId id="373" r:id="rId8"/>
    <p:sldId id="370" r:id="rId9"/>
    <p:sldId id="375" r:id="rId10"/>
    <p:sldId id="376" r:id="rId11"/>
    <p:sldId id="377" r:id="rId12"/>
    <p:sldId id="378" r:id="rId13"/>
    <p:sldId id="379" r:id="rId14"/>
    <p:sldId id="383" r:id="rId15"/>
    <p:sldId id="387" r:id="rId16"/>
    <p:sldId id="388" r:id="rId17"/>
    <p:sldId id="389" r:id="rId18"/>
    <p:sldId id="390" r:id="rId19"/>
    <p:sldId id="391" r:id="rId20"/>
    <p:sldId id="392" r:id="rId21"/>
    <p:sldId id="393" r:id="rId22"/>
  </p:sldIdLst>
  <p:sldSz cx="9144000" cy="5143500" type="screen16x9"/>
  <p:notesSz cx="6858000" cy="9144000"/>
  <p:defaultTextStyle>
    <a:lvl1pPr marL="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42" autoAdjust="0"/>
    <p:restoredTop sz="87567" autoAdjust="0"/>
  </p:normalViewPr>
  <p:slideViewPr>
    <p:cSldViewPr>
      <p:cViewPr>
        <p:scale>
          <a:sx n="94" d="100"/>
          <a:sy n="94" d="100"/>
        </p:scale>
        <p:origin x="-588" y="-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pt-BR" sz="1200"/>
            </a:lvl1pPr>
            <a:extLst/>
          </a:lstStyle>
          <a:p>
            <a:fld id="{A8ADFD5B-A66C-449C-B6E8-FB716D07777D}" type="datetimeFigureOut">
              <a:pPr/>
              <a:t>10/05/2015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>
            <a:extLst/>
          </a:lstStyle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>
            <a:extLst/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pt-BR" sz="1200"/>
            </a:lvl1pPr>
            <a:extLst/>
          </a:lstStyle>
          <a:p>
            <a:fld id="{CA5D3BF3-D352-46FC-8343-31F56E6730EA}" type="slidenum"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23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CA5D3BF3-D352-46FC-8343-31F56E6730EA}" type="slidenum">
              <a:rPr lang="pt-BR" smtClean="0"/>
              <a:pPr/>
              <a:t>1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eaLnBrk="1" latinLnBrk="0" hangingPunct="1">
              <a:buNone/>
              <a:defRPr kumimoji="0" lang="pt-BR" sz="2800">
                <a:solidFill>
                  <a:srgbClr val="FFFFFF"/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  <a:extLst/>
          </a:lstStyle>
          <a:p>
            <a:pPr eaLnBrk="1" latinLnBrk="0" hangingPunct="1"/>
            <a:r>
              <a:rPr lang="pt-BR" smtClean="0"/>
              <a:t>Clique para editar o estilo do subtítulo mestre</a:t>
            </a:r>
            <a:endParaRPr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eaLnBrk="1" latinLnBrk="0" hangingPunct="1">
              <a:defRPr kumimoji="0" lang="pt-BR"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kumimoji="0" lang="pt-BR">
                <a:solidFill>
                  <a:srgbClr val="FFFFFF"/>
                </a:solidFill>
              </a:rPr>
              <a:pPr algn="ctr"/>
              <a:t>10/05/2015</a:t>
            </a:fld>
            <a:endParaRPr kumimoji="0" lang="pt-BR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eaLnBrk="1" latinLnBrk="0" hangingPunct="1">
              <a:defRPr kumimoji="0" lang="pt-BR" cap="all" baseline="0"/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4606EA6-EFEA-4C30-9264-4F9291A5780D}" type="datetime1">
              <a:pPr/>
              <a:t>10/05/2015</a:t>
            </a:fld>
            <a:endParaRPr kumimoji="0" lang="pt-BR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eaLnBrk="1" latinLnBrk="0" hangingPunct="1">
              <a:buNone/>
              <a:defRPr kumimoji="0" lang="pt-BR" sz="2800">
                <a:solidFill>
                  <a:schemeClr val="tx2"/>
                </a:solidFill>
              </a:defRPr>
            </a:lvl1pPr>
            <a:lvl2pPr eaLnBrk="1" latinLnBrk="0" hangingPunct="1">
              <a:buNone/>
              <a:defRPr kumimoji="0" lang="pt-BR" sz="1800">
                <a:solidFill>
                  <a:schemeClr val="tx1">
                    <a:tint val="75000"/>
                  </a:schemeClr>
                </a:solidFill>
              </a:defRPr>
            </a:lvl2pPr>
            <a:lvl3pPr eaLnBrk="1" latinLnBrk="0" hangingPunct="1">
              <a:buNone/>
              <a:defRPr kumimoji="0" lang="pt-BR" sz="1600">
                <a:solidFill>
                  <a:schemeClr val="tx1">
                    <a:tint val="75000"/>
                  </a:schemeClr>
                </a:solidFill>
              </a:defRPr>
            </a:lvl3pPr>
            <a:lvl4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4pPr>
            <a:lvl5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eaLnBrk="1" latinLnBrk="0" hangingPunct="1">
              <a:buNone/>
              <a:defRPr kumimoji="0" lang="pt-BR"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kumimoji="0" lang="pt-BR"/>
              <a:t>Clique para editar o título Mestre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FCF9F07-3BC7-4570-B054-79111B0A380C}" type="datetime1">
              <a:pPr/>
              <a:t>10/05/2015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eaLnBrk="1" latinLnBrk="0" hangingPunct="1">
              <a:defRPr kumimoji="0" lang="pt-BR"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2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extLst/>
          </a:lstStyle>
          <a:p>
            <a:fld id="{E4606EA6-EFEA-4C30-9264-4F9291A5780D}" type="datetime1">
              <a:pPr/>
              <a:t>10/05/2015</a:t>
            </a:fld>
            <a:endParaRPr kumimoji="0"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extLst/>
          </a:lstStyle>
          <a:p>
            <a:endParaRPr kumimoji="0"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eaLnBrk="1" latinLnBrk="0" hangingPunct="1">
              <a:defRPr kumimoji="0" lang="pt-BR"/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extLst/>
          </a:lstStyle>
          <a:p>
            <a:fld id="{E4606EA6-EFEA-4C30-9264-4F9291A5780D}" type="datetime1">
              <a:pPr/>
              <a:t>10/05/2015</a:t>
            </a:fld>
            <a:endParaRPr kumimoji="0" lang="pt-B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extLst/>
          </a:lstStyle>
          <a:p>
            <a:endParaRPr kumimoji="0" lang="pt-BR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DFADB5D-B7A0-47E3-AD2D-B1A6F8614213}" type="datetime1">
              <a:pPr/>
              <a:t>10/05/2015</a:t>
            </a:fld>
            <a:endParaRPr kumimoji="0"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2968126-03FC-49C0-B9B8-2B561CCC3D90}" type="datetime1">
              <a:pPr/>
              <a:t>10/05/2015</a:t>
            </a:fld>
            <a:endParaRPr kumimoji="0"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eaLnBrk="1" latinLnBrk="0" hangingPunct="1">
              <a:buNone/>
              <a:defRPr kumimoji="0" lang="pt-BR" sz="4200" b="0"/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49A8198-4617-485E-9585-4840B69DBBA6}" type="datetime1">
              <a:pPr/>
              <a:t>10/05/2015</a:t>
            </a:fld>
            <a:endParaRPr kumimoji="0"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pt-BR" sz="1800"/>
            </a:lvl1pPr>
            <a:lvl2pPr eaLnBrk="1" latinLnBrk="0" hangingPunct="1">
              <a:buNone/>
              <a:defRPr kumimoji="0" lang="pt-BR" sz="1200"/>
            </a:lvl2pPr>
            <a:lvl3pPr eaLnBrk="1" latinLnBrk="0" hangingPunct="1">
              <a:buNone/>
              <a:defRPr kumimoji="0" lang="pt-BR" sz="1000"/>
            </a:lvl3pPr>
            <a:lvl4pPr eaLnBrk="1" latinLnBrk="0" hangingPunct="1">
              <a:buNone/>
              <a:defRPr kumimoji="0" lang="pt-BR" sz="900"/>
            </a:lvl4pPr>
            <a:lvl5pPr eaLnBrk="1" latinLnBrk="0" hangingPunct="1"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eaLnBrk="1" latinLnBrk="0" hangingPunct="1">
              <a:buNone/>
              <a:defRPr kumimoji="0" lang="pt-BR" sz="3200"/>
            </a:lvl1pPr>
            <a:extLst/>
          </a:lstStyle>
          <a:p>
            <a:r>
              <a:rPr kumimoji="0" lang="pt-BR" smtClean="0"/>
              <a:t>Clique no ícone para adicionar uma imagem</a:t>
            </a:r>
            <a:endParaRPr kumimoji="0"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eaLnBrk="1" latinLnBrk="0" hangingPunct="1">
              <a:buFontTx/>
              <a:buNone/>
              <a:defRPr kumimoji="0" lang="pt-BR" sz="1700"/>
            </a:lvl1pPr>
            <a:lvl2pPr eaLnBrk="1" latinLnBrk="0" hangingPunct="1">
              <a:buFontTx/>
              <a:buNone/>
              <a:defRPr kumimoji="0" lang="pt-BR" sz="1200"/>
            </a:lvl2pPr>
            <a:lvl3pPr eaLnBrk="1" latinLnBrk="0" hangingPunct="1">
              <a:buFontTx/>
              <a:buNone/>
              <a:defRPr kumimoji="0" lang="pt-BR" sz="1000"/>
            </a:lvl3pPr>
            <a:lvl4pPr eaLnBrk="1" latinLnBrk="0" hangingPunct="1">
              <a:buFontTx/>
              <a:buNone/>
              <a:defRPr kumimoji="0" lang="pt-BR" sz="900"/>
            </a:lvl4pPr>
            <a:lvl5pPr eaLnBrk="1" latinLnBrk="0" hangingPunct="1">
              <a:buFontTx/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eaLnBrk="1" latinLnBrk="0" hangingPunct="1">
              <a:buNone/>
              <a:defRPr kumimoji="0" lang="pt-BR" sz="2800" b="0">
                <a:solidFill>
                  <a:srgbClr val="FFFFFF"/>
                </a:solidFill>
              </a:defRPr>
            </a:lvl1pPr>
            <a:extLst/>
          </a:lstStyle>
          <a:p>
            <a:pPr eaLnBrk="1" latinLnBrk="0" hangingPunct="1"/>
            <a:r>
              <a:rPr lang="pt-BR" smtClean="0"/>
              <a:t>Clique para editar o título mestre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>
            <a:extLst/>
          </a:lstStyle>
          <a:p>
            <a:fld id="{E4606EA6-EFEA-4C30-9264-4F9291A5780D}" type="datetime1">
              <a:pPr/>
              <a:t>10/05/2015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eaLnBrk="1" latinLnBrk="0" hangingPunct="1">
              <a:defRPr kumimoji="0" lang="pt-BR" sz="2800"/>
            </a:lvl1pPr>
            <a:extLst/>
          </a:lstStyle>
          <a:p>
            <a:pPr algn="ctr"/>
            <a:fld id="{8F82E0A0-C266-4798-8C8F-B9F91E9DA37E}" type="slidenum">
              <a:rPr kumimoji="0" lang="pt-BR" sz="28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>
            <a:extLst/>
          </a:lstStyle>
          <a:p>
            <a:endParaRPr kumimoji="0"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98B7F-CD15-4C33-9FFC-0364D6C1D1A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94300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pPr/>
              <a:t>10/05/2015</a:t>
            </a:fld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lang="pt-BR"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1400" b="1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pPr eaLnBrk="1" latinLnBrk="0" hangingPunct="1"/>
            <a:r>
              <a:rPr kumimoji="0" lang="pt-BR" smtClean="0"/>
              <a:t>Clique para editar o título mestre</a:t>
            </a:r>
            <a:endParaRPr kumimoji="0" 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xStyles>
    <p:titleStyle>
      <a:lvl1pPr algn="l" rtl="0" eaLnBrk="1" latinLnBrk="0" hangingPunct="1">
        <a:spcBef>
          <a:spcPct val="0"/>
        </a:spcBef>
        <a:buNone/>
        <a:defRPr kumimoji="0" lang="pt-BR"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/>
          </p:cNvSpPr>
          <p:nvPr>
            <p:ph type="subTitle" idx="1"/>
          </p:nvPr>
        </p:nvSpPr>
        <p:spPr>
          <a:xfrm>
            <a:off x="2339752" y="4659982"/>
            <a:ext cx="6515100" cy="555526"/>
          </a:xfrm>
        </p:spPr>
        <p:txBody>
          <a:bodyPr>
            <a:normAutofit fontScale="55000" lnSpcReduction="20000"/>
          </a:bodyPr>
          <a:lstStyle>
            <a:extLst/>
          </a:lstStyle>
          <a:p>
            <a:r>
              <a:rPr lang="pt-BR" dirty="0" smtClean="0"/>
              <a:t>Análise e Desenvolvimento de Sistemas</a:t>
            </a:r>
          </a:p>
          <a:p>
            <a:r>
              <a:rPr lang="en-US" dirty="0" smtClean="0"/>
              <a:t>Prof. Claudio Lima </a:t>
            </a:r>
            <a:r>
              <a:rPr lang="en-US" dirty="0"/>
              <a:t>- http://</a:t>
            </a:r>
            <a:r>
              <a:rPr lang="en-US" dirty="0" smtClean="0"/>
              <a:t>lattes.cnpq.br/</a:t>
            </a:r>
            <a:r>
              <a:rPr lang="pt-BR" dirty="0"/>
              <a:t>9330552327454666</a:t>
            </a:r>
            <a:r>
              <a:rPr lang="en-US" dirty="0" smtClean="0"/>
              <a:t> </a:t>
            </a:r>
            <a:endParaRPr lang="en-US" dirty="0"/>
          </a:p>
          <a:p>
            <a:endParaRPr lang="pt-BR" dirty="0"/>
          </a:p>
        </p:txBody>
      </p:sp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pt-BR" dirty="0" smtClean="0"/>
              <a:t>GESTÃO DE PROJETOS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881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Gerenciamento da Qualidade</a:t>
            </a:r>
            <a:endParaRPr lang="pt-BR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141" y="1312090"/>
            <a:ext cx="6151172" cy="3831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5259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Fundamento sobre qualidade de Projetos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pt-BR" dirty="0" smtClean="0"/>
              <a:t>Segundo Organização Mundial da Saúde, qualidade de vida é a percepção do individuo de sua posição na vida, no contexto da cultura e sistemas de valores nos quais ele vive, e em relação aos seus objetivos, expectativas, padrões e preocupações. Grau de comprimento do requisito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698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Conceitos  para entendimento dos processos de GQP</a:t>
            </a:r>
            <a:endParaRPr lang="pt-BR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16" y="1419622"/>
            <a:ext cx="9027852" cy="280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458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Gerenciamento da Qualidade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O </a:t>
            </a:r>
            <a:r>
              <a:rPr lang="pt-BR" dirty="0" smtClean="0"/>
              <a:t>GQP busca </a:t>
            </a:r>
            <a:r>
              <a:rPr lang="pt-BR" dirty="0"/>
              <a:t>assegurar que o projeto satisfaça as necessidades do cliente e envolve todas atividades do projeto por todo o seu ciclo de vida</a:t>
            </a:r>
            <a:r>
              <a:rPr lang="pt-BR" dirty="0" smtClean="0"/>
              <a:t>.</a:t>
            </a:r>
          </a:p>
          <a:p>
            <a:pPr algn="just"/>
            <a:r>
              <a:rPr lang="pt-BR" dirty="0"/>
              <a:t>O Gerenciamento da qualidade implementa o sistema de gestão da qualidade por meio de políticas e procedimentos com atividades de melhoria contínua de processos.</a:t>
            </a:r>
          </a:p>
        </p:txBody>
      </p:sp>
    </p:spTree>
    <p:extLst>
      <p:ext uri="{BB962C8B-B14F-4D97-AF65-F5344CB8AC3E}">
        <p14:creationId xmlns:p14="http://schemas.microsoft.com/office/powerpoint/2010/main" val="3597677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Gerenciamento da Qualidade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pt-BR" dirty="0"/>
              <a:t>O g</a:t>
            </a:r>
            <a:r>
              <a:rPr lang="pt-BR" dirty="0" smtClean="0"/>
              <a:t>erente de projeto </a:t>
            </a:r>
            <a:r>
              <a:rPr lang="pt-BR" dirty="0"/>
              <a:t>deve conscientizar toda equipe sobre a importância de buscar os objetivos da qualidade e para isso, deve oferecer as condições necessárias para que o time possa alcançá-los.</a:t>
            </a:r>
          </a:p>
        </p:txBody>
      </p:sp>
    </p:spTree>
    <p:extLst>
      <p:ext uri="{BB962C8B-B14F-4D97-AF65-F5344CB8AC3E}">
        <p14:creationId xmlns:p14="http://schemas.microsoft.com/office/powerpoint/2010/main" val="181716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Gerenciamento da Qualidade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87" y="1510874"/>
            <a:ext cx="6374018" cy="3632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1043608" y="1326208"/>
            <a:ext cx="3456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Os processos incluídos na </a:t>
            </a:r>
            <a:r>
              <a:rPr lang="pt-BR" dirty="0" smtClean="0"/>
              <a:t>GQP </a:t>
            </a:r>
            <a:r>
              <a:rPr lang="pt-BR" dirty="0"/>
              <a:t>são:</a:t>
            </a:r>
          </a:p>
        </p:txBody>
      </p:sp>
    </p:spTree>
    <p:extLst>
      <p:ext uri="{BB962C8B-B14F-4D97-AF65-F5344CB8AC3E}">
        <p14:creationId xmlns:p14="http://schemas.microsoft.com/office/powerpoint/2010/main" val="3929821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Planejar o Gerenciamento da Qualidade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/>
              <a:t>Identificar os requisitos e/ou padrões da qualidade relevantes ao projeto e ao produto e determinar como satisfazê-los</a:t>
            </a:r>
            <a:r>
              <a:rPr lang="pt-BR" dirty="0" smtClean="0"/>
              <a:t>.</a:t>
            </a:r>
          </a:p>
          <a:p>
            <a:pPr algn="just"/>
            <a:r>
              <a:rPr lang="pt-BR" dirty="0"/>
              <a:t>Garantir que toda atividade do projeto é aderente com as políticas e padrões da qualidade da empresa e que todas entregas estão em conformidade com seus critérios de aceitação.</a:t>
            </a:r>
          </a:p>
        </p:txBody>
      </p:sp>
    </p:spTree>
    <p:extLst>
      <p:ext uri="{BB962C8B-B14F-4D97-AF65-F5344CB8AC3E}">
        <p14:creationId xmlns:p14="http://schemas.microsoft.com/office/powerpoint/2010/main" val="3060031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Realizar a garantia da qualidade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528" y="1352550"/>
            <a:ext cx="8442520" cy="3242310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Auditar </a:t>
            </a:r>
            <a:r>
              <a:rPr lang="pt-BR" dirty="0"/>
              <a:t>os requisitos da qualidade e os resultados das medidas de controle da qualidade para garantir que os padrões apropriados da qualidade e definições operacionais estão sendo usados</a:t>
            </a:r>
            <a:r>
              <a:rPr lang="pt-BR" dirty="0" smtClean="0"/>
              <a:t>.</a:t>
            </a:r>
          </a:p>
          <a:p>
            <a:pPr algn="just"/>
            <a:r>
              <a:rPr lang="pt-BR" dirty="0" smtClean="0"/>
              <a:t>Realizar </a:t>
            </a:r>
            <a:r>
              <a:rPr lang="pt-BR" dirty="0"/>
              <a:t>a garantia da qualidade é base para o processo de </a:t>
            </a:r>
            <a:r>
              <a:rPr lang="pt-BR" dirty="0" smtClean="0"/>
              <a:t>melhoria contínua </a:t>
            </a:r>
            <a:r>
              <a:rPr lang="pt-BR" dirty="0"/>
              <a:t>e usa os dados gerados durante o processo Controlar a </a:t>
            </a:r>
            <a:r>
              <a:rPr lang="pt-BR" dirty="0" smtClean="0"/>
              <a:t>qualidade.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5416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Controlar a Qualidade tem com Objetivos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Monitorar resultados específicos do projeto a fim de determinar se eles estão de acordo com os padrões relevantes da qualidade.</a:t>
            </a:r>
          </a:p>
          <a:p>
            <a:pPr algn="just"/>
            <a:r>
              <a:rPr lang="pt-BR" dirty="0"/>
              <a:t>Identificar maneiras de eliminar as causas de resultados insatisfatórios.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217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Monitorar os resultados através CQ.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pt-BR" dirty="0"/>
              <a:t>Confirmar que tudo está indo bem (Medições estão dentro das </a:t>
            </a:r>
            <a:r>
              <a:rPr lang="pt-BR" dirty="0" smtClean="0"/>
              <a:t>especificações);</a:t>
            </a:r>
            <a:endParaRPr lang="pt-BR" dirty="0"/>
          </a:p>
          <a:p>
            <a:pPr algn="just"/>
            <a:r>
              <a:rPr lang="pt-BR" dirty="0"/>
              <a:t>Conscientizar equipe de projeto sobre os resultados;</a:t>
            </a:r>
          </a:p>
          <a:p>
            <a:pPr algn="just"/>
            <a:r>
              <a:rPr lang="pt-BR" dirty="0"/>
              <a:t>Fornecer subsídio para ações corretivas, ou seja, quando as medições estão fora da especificação, deve-se identificar causas e tomar as ações necessárias para corrigir o problema e evitar novas ocorrências;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4699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Fornecer feedback p/ Garantia da </a:t>
            </a:r>
            <a:r>
              <a:rPr lang="pt-BR" dirty="0" smtClean="0"/>
              <a:t>Qualidade, </a:t>
            </a:r>
            <a:r>
              <a:rPr lang="pt-BR" dirty="0"/>
              <a:t>ou seja, quando medições apresentam resultados insatisfatórios indicam que as atividades de GQ não tiveram o efeito desejado. A equipe de GQ deve analisar dados, determinar falhas, aperfeiçoar atividades de GQ e atualizar plano da qualidade.</a:t>
            </a:r>
          </a:p>
          <a:p>
            <a:pPr algn="just"/>
            <a:endParaRPr lang="pt-BR" dirty="0"/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Monitorar os resultados através CQ.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4077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Listas de verificação da qualidade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300" dirty="0" err="1" smtClean="0"/>
              <a:t>Checklist</a:t>
            </a:r>
            <a:endParaRPr lang="pt-BR" sz="2300" dirty="0" smtClean="0"/>
          </a:p>
          <a:p>
            <a:pPr lvl="1"/>
            <a:r>
              <a:rPr lang="pt-BR" sz="2000" dirty="0" smtClean="0"/>
              <a:t>Ela identifica o que pode ser controlado e define os itens que devem ser verificados</a:t>
            </a:r>
          </a:p>
          <a:p>
            <a:pPr lvl="1"/>
            <a:r>
              <a:rPr lang="pt-BR" sz="2000" dirty="0"/>
              <a:t>Uma boa prática é manter um padrão, e escrever todos os itens em uma única forma, ou na forma </a:t>
            </a:r>
            <a:r>
              <a:rPr lang="pt-BR" sz="2000"/>
              <a:t>de </a:t>
            </a:r>
            <a:r>
              <a:rPr lang="pt-BR" sz="2000" smtClean="0"/>
              <a:t>questões.</a:t>
            </a:r>
            <a:r>
              <a:rPr lang="pt-BR" sz="2000" dirty="0"/>
              <a:t/>
            </a:r>
            <a:br>
              <a:rPr lang="pt-BR" sz="2000" dirty="0"/>
            </a:br>
            <a:r>
              <a:rPr lang="pt-BR" sz="2000" dirty="0"/>
              <a:t>Por exemplo:</a:t>
            </a:r>
            <a:br>
              <a:rPr lang="pt-BR" sz="2000" dirty="0"/>
            </a:br>
            <a:r>
              <a:rPr lang="pt-BR" sz="2000" dirty="0"/>
              <a:t>O plano de projeto foi concluído e aprovado?</a:t>
            </a:r>
            <a:br>
              <a:rPr lang="pt-BR" sz="2000" dirty="0"/>
            </a:br>
            <a:r>
              <a:rPr lang="pt-BR" sz="2000" dirty="0"/>
              <a:t>Plano de projeto concluído e aprovado</a:t>
            </a:r>
          </a:p>
        </p:txBody>
      </p:sp>
    </p:spTree>
    <p:extLst>
      <p:ext uri="{BB962C8B-B14F-4D97-AF65-F5344CB8AC3E}">
        <p14:creationId xmlns:p14="http://schemas.microsoft.com/office/powerpoint/2010/main" val="4046927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de verificação da qualidade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32" y="1347614"/>
            <a:ext cx="6930181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5192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As 7 Ferramentas básicas de qualidade</a:t>
            </a:r>
            <a:endParaRPr lang="pt-B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6592"/>
            <a:ext cx="8928992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9654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As 7 Ferramentas básicas de qualidade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63638"/>
            <a:ext cx="6813580" cy="223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6639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As 7 Ferramentas básicas de qualidade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00" y="1634748"/>
            <a:ext cx="6459725" cy="1924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5154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As 7 Ferramentas básicas de qualidade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77" y="1400174"/>
            <a:ext cx="7058462" cy="2683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5559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As 7 Ferramentas básicas de qualidade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37855"/>
            <a:ext cx="8024743" cy="3805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0177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As 7 Ferramentas básicas de qualidade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84" y="1545956"/>
            <a:ext cx="8624334" cy="2171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4573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As 7 Ferramentas básicas de qualidade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500" y="1563638"/>
            <a:ext cx="8604724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02769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resentação em Tela Larga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4A09C3E02A604AA8862569A8596A32" ma:contentTypeVersion="10" ma:contentTypeDescription="Crie um novo documento." ma:contentTypeScope="" ma:versionID="9ebcba8d9189bd2d1d9ae1a9ecdf9ecf">
  <xsd:schema xmlns:xsd="http://www.w3.org/2001/XMLSchema" xmlns:xs="http://www.w3.org/2001/XMLSchema" xmlns:p="http://schemas.microsoft.com/office/2006/metadata/properties" xmlns:ns2="bcbcbace-201e-4ef7-8869-cccbfceb4df8" xmlns:ns3="bf55bb95-0e2d-49eb-8730-bda5c0a73d75" targetNamespace="http://schemas.microsoft.com/office/2006/metadata/properties" ma:root="true" ma:fieldsID="5728f961ced8355fef59faf963e69c4f" ns2:_="" ns3:_="">
    <xsd:import namespace="bcbcbace-201e-4ef7-8869-cccbfceb4df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cbace-201e-4ef7-8869-cccbfceb4d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55b3ef0-86e3-4c4b-bf32-5e67dec0a599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bcbcbace-201e-4ef7-8869-cccbfceb4d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81FF431-3FD0-42E3-8D0B-F41F1A77C141}"/>
</file>

<file path=customXml/itemProps2.xml><?xml version="1.0" encoding="utf-8"?>
<ds:datastoreItem xmlns:ds="http://schemas.openxmlformats.org/officeDocument/2006/customXml" ds:itemID="{F931A50A-A699-4B81-9ACA-C27E9BB9B2A3}"/>
</file>

<file path=customXml/itemProps3.xml><?xml version="1.0" encoding="utf-8"?>
<ds:datastoreItem xmlns:ds="http://schemas.openxmlformats.org/officeDocument/2006/customXml" ds:itemID="{DDAB5332-6BD6-465E-BC01-AAC31855994C}"/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493</Words>
  <Application>Microsoft Office PowerPoint</Application>
  <PresentationFormat>Apresentação na tela (16:9)</PresentationFormat>
  <Paragraphs>42</Paragraphs>
  <Slides>21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2" baseType="lpstr">
      <vt:lpstr>Apresentação em Tela Larga</vt:lpstr>
      <vt:lpstr>GESTÃO DE PROJETOS</vt:lpstr>
      <vt:lpstr>Gerenciamento da Qualidade</vt:lpstr>
      <vt:lpstr>Fundamento sobre qualidade de Projetos</vt:lpstr>
      <vt:lpstr>Conceitos  para entendimento dos processos de GQP</vt:lpstr>
      <vt:lpstr>Gerenciamento da Qualidade</vt:lpstr>
      <vt:lpstr>Gerenciamento da Qualidade</vt:lpstr>
      <vt:lpstr>Gerenciamento da Qualidade</vt:lpstr>
      <vt:lpstr>Planejar o Gerenciamento da Qualidade</vt:lpstr>
      <vt:lpstr>Realizar a garantia da qualidade</vt:lpstr>
      <vt:lpstr>Controlar a Qualidade tem com Objetivos</vt:lpstr>
      <vt:lpstr>Monitorar os resultados através CQ.</vt:lpstr>
      <vt:lpstr>Monitorar os resultados através CQ.</vt:lpstr>
      <vt:lpstr>Listas de verificação da qualidade</vt:lpstr>
      <vt:lpstr>Listas de verificação da qualidade</vt:lpstr>
      <vt:lpstr>As 7 Ferramentas básicas de qualidade</vt:lpstr>
      <vt:lpstr>As 7 Ferramentas básicas de qualidade</vt:lpstr>
      <vt:lpstr>As 7 Ferramentas básicas de qualidade</vt:lpstr>
      <vt:lpstr>As 7 Ferramentas básicas de qualidade</vt:lpstr>
      <vt:lpstr>As 7 Ferramentas básicas de qualidade</vt:lpstr>
      <vt:lpstr>As 7 Ferramentas básicas de qualidade</vt:lpstr>
      <vt:lpstr>As 7 Ferramentas básicas de qualidade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2012-07-30T18:40:18Z</dcterms:created>
  <dcterms:modified xsi:type="dcterms:W3CDTF">2015-05-10T21:57:44Z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1046</vt:i4>
  </property>
  <property fmtid="{D5CDD505-2E9C-101B-9397-08002B2CF9AE}" pid="3" name="_Version">
    <vt:lpwstr>12.0.4518</vt:lpwstr>
  </property>
  <property fmtid="{D5CDD505-2E9C-101B-9397-08002B2CF9AE}" pid="4" name="ContentTypeId">
    <vt:lpwstr>0x010100134A09C3E02A604AA8862569A8596A32</vt:lpwstr>
  </property>
</Properties>
</file>