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GERENCIAMENTO DE CRONOGRAMA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Planejamento e Controle de Projetos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Compreender o conceito de cronograma e sua importância</a:t>
            </a:r>
          </a:p>
          <a:p>
            <a:pPr>
              <a:defRPr sz="1800"/>
            </a:pPr>
            <a:r>
              <a:t>Identificar as etapas do planejamento de cronograma</a:t>
            </a:r>
          </a:p>
          <a:p>
            <a:pPr>
              <a:defRPr sz="1800"/>
            </a:pPr>
            <a:r>
              <a:t>Aprender técnicas de estimativa de tempo</a:t>
            </a:r>
          </a:p>
          <a:p>
            <a:pPr>
              <a:defRPr sz="1800"/>
            </a:pPr>
            <a:r>
              <a:t>Conhecer ferramentas de acompanhamento</a:t>
            </a:r>
          </a:p>
          <a:p>
            <a:pPr>
              <a:defRPr sz="1800"/>
            </a:pPr>
            <a:r>
              <a:t>Desenvolver habilidades de controle e ajuste de cronogramas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um Cronograma?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Definiçª£o: Instrumento de gestão que organiza atividades ao longo do tempo</a:t>
            </a:r>
          </a:p>
          <a:p>
            <a:pPr>
              <a:defRPr sz="1800"/>
            </a:pPr>
            <a:r>
              <a:t>Estabelece:</a:t>
            </a:r>
          </a:p>
          <a:p>
            <a:pPr>
              <a:defRPr sz="1800"/>
            </a:pPr>
            <a:r>
              <a:t>  - Sequencia de tarefas</a:t>
            </a:r>
          </a:p>
          <a:p>
            <a:pPr>
              <a:defRPr sz="1800"/>
            </a:pPr>
            <a:r>
              <a:t>  - Prazos de início e término</a:t>
            </a:r>
          </a:p>
          <a:p>
            <a:pPr>
              <a:defRPr sz="1800"/>
            </a:pPr>
            <a:r>
              <a:t>  - Responsaveis por cada atividade</a:t>
            </a:r>
          </a:p>
          <a:p>
            <a:pPr>
              <a:defRPr sz="1800"/>
            </a:pPr>
            <a:r>
              <a:t>  - Marcos e entregas principais</a:t>
            </a:r>
          </a:p>
          <a:p>
            <a:pPr>
              <a:defRPr sz="1800"/>
            </a:pPr>
            <a:r>
              <a:t>Importancia:</a:t>
            </a:r>
          </a:p>
          <a:p>
            <a:pPr>
              <a:defRPr sz="1800"/>
            </a:pPr>
            <a:r>
              <a:t>  - Evita atrasos e retrabalho</a:t>
            </a:r>
          </a:p>
          <a:p>
            <a:pPr>
              <a:defRPr sz="1800"/>
            </a:pPr>
            <a:r>
              <a:t>  - Facilita o acompanhamento do progresso</a:t>
            </a:r>
          </a:p>
          <a:p>
            <a:pPr>
              <a:defRPr sz="1800"/>
            </a:pPr>
            <a:r>
              <a:t>  - Permite melhor alocaçª£o de recursos</a:t>
            </a:r>
          </a:p>
          <a:p>
            <a:pPr>
              <a:defRPr sz="1800"/>
            </a:pPr>
            <a:r>
              <a:t>  - Aumenta a previsibilidade do projeto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do Gerenciamento de Cronograma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✓ Visualizaçª£o clara do tempo total do projeto</a:t>
            </a:r>
          </a:p>
          <a:p>
            <a:pPr>
              <a:defRPr sz="1800"/>
            </a:pPr>
            <a:r>
              <a:t>✓ Identificaçª£o de dependencias entre tarefas</a:t>
            </a:r>
          </a:p>
          <a:p>
            <a:pPr>
              <a:defRPr sz="1800"/>
            </a:pPr>
            <a:r>
              <a:t>✓ Melhor distribuiçª£o de recursos humanos e materiais</a:t>
            </a:r>
          </a:p>
          <a:p>
            <a:pPr>
              <a:defRPr sz="1800"/>
            </a:pPr>
            <a:r>
              <a:t>✓ Detecçª£o antecipada de possiveis atrasos</a:t>
            </a:r>
          </a:p>
          <a:p>
            <a:pPr>
              <a:defRPr sz="1800"/>
            </a:pPr>
            <a:r>
              <a:t>✓ Facilita a comunicaçª£o com stakeholders</a:t>
            </a:r>
          </a:p>
          <a:p>
            <a:pPr>
              <a:defRPr sz="1800"/>
            </a:pPr>
            <a:r>
              <a:t>✓ Aumenta a probabilidade de entrega no prazo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Etapas do Planejamento de Cronograma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Definiçª£o do escopo do projeto</a:t>
            </a:r>
          </a:p>
          <a:p>
            <a:pPr>
              <a:defRPr sz="1800"/>
            </a:pPr>
            <a:r>
              <a:t>2. Identificaçª£o das atividades (WBS/EAP)</a:t>
            </a:r>
          </a:p>
          <a:p>
            <a:pPr>
              <a:defRPr sz="1800"/>
            </a:pPr>
            <a:r>
              <a:t>3. Sequenciamento das atividades</a:t>
            </a:r>
          </a:p>
          <a:p>
            <a:pPr>
              <a:defRPr sz="1800"/>
            </a:pPr>
            <a:r>
              <a:t>4. Estimativa de duraçª£o das tarefas</a:t>
            </a:r>
          </a:p>
          <a:p>
            <a:pPr>
              <a:defRPr sz="1800"/>
            </a:pPr>
            <a:r>
              <a:t>5. Desenvolvimento do cronograma</a:t>
            </a:r>
          </a:p>
          <a:p>
            <a:pPr>
              <a:defRPr sz="1800"/>
            </a:pPr>
            <a:r>
              <a:t>6. Aprovaçª£o e linha de base</a:t>
            </a:r>
          </a:p>
          <a:p>
            <a:pPr>
              <a:defRPr sz="1800"/>
            </a:pPr>
            <a:r>
              <a:t>7. Acompanhamento e controle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Analitica do Projeto (EAP/WBS)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Definiçª£o: Divisao hierarquica do trabalho em partes menores</a:t>
            </a:r>
          </a:p>
          <a:p>
            <a:pPr>
              <a:defRPr sz="1800"/>
            </a:pPr>
            <a:r>
              <a:t>Niveis da EAP:</a:t>
            </a:r>
          </a:p>
          <a:p>
            <a:pPr>
              <a:defRPr sz="1800"/>
            </a:pPr>
            <a:r>
              <a:t>  - Projeto (nivel 0)</a:t>
            </a:r>
          </a:p>
          <a:p>
            <a:pPr>
              <a:defRPr sz="1800"/>
            </a:pPr>
            <a:r>
              <a:t>  - Entregas principais (nivel 1)</a:t>
            </a:r>
          </a:p>
          <a:p>
            <a:pPr>
              <a:defRPr sz="1800"/>
            </a:pPr>
            <a:r>
              <a:t>  - Pacotes de trabalho (nivel 2)</a:t>
            </a:r>
          </a:p>
          <a:p>
            <a:pPr>
              <a:defRPr sz="1800"/>
            </a:pPr>
            <a:r>
              <a:t>  - Atividades (nivel 3)</a:t>
            </a:r>
          </a:p>
          <a:p>
            <a:pPr>
              <a:defRPr sz="1800"/>
            </a:pPr>
            <a:r>
              <a:t>Exemplo:</a:t>
            </a:r>
          </a:p>
          <a:p>
            <a:pPr>
              <a:defRPr sz="1800"/>
            </a:pPr>
            <a:r>
              <a:t>  Projeto: Implementaçª£o de Sistema</a:t>
            </a:r>
          </a:p>
          <a:p>
            <a:pPr>
              <a:defRPr sz="1800"/>
            </a:pPr>
            <a:r>
              <a:t>    1. Planejamento</a:t>
            </a:r>
          </a:p>
          <a:p>
            <a:pPr>
              <a:defRPr sz="1800"/>
            </a:pPr>
            <a:r>
              <a:t>      1.1 Levantamento de requisitos</a:t>
            </a:r>
          </a:p>
          <a:p>
            <a:pPr>
              <a:defRPr sz="1800"/>
            </a:pPr>
            <a:r>
              <a:t>      1.2 Definiçª£o de arquitetura</a:t>
            </a:r>
          </a:p>
          <a:p>
            <a:pPr>
              <a:defRPr sz="1800"/>
            </a:pPr>
            <a:r>
              <a:t>    2. Desenvolvimento</a:t>
            </a:r>
          </a:p>
          <a:p>
            <a:pPr>
              <a:defRPr sz="1800"/>
            </a:pPr>
            <a:r>
              <a:t>      2.1 Codificaçª£o</a:t>
            </a:r>
          </a:p>
          <a:p>
            <a:pPr>
              <a:defRPr sz="1800"/>
            </a:pPr>
            <a:r>
              <a:t>      2.2 Testes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Sequenciamento de Atividades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Tipos de dependencias:</a:t>
            </a:r>
          </a:p>
          <a:p>
            <a:pPr>
              <a:defRPr sz="1800"/>
            </a:pPr>
            <a:r>
              <a:t>  - Fim-Inicio (FI): B só inicia após término de A</a:t>
            </a:r>
          </a:p>
          <a:p>
            <a:pPr>
              <a:defRPr sz="1800"/>
            </a:pPr>
            <a:r>
              <a:t>  - Inicio-Inicio (II): B pode iniciar quando A iniciar</a:t>
            </a:r>
          </a:p>
          <a:p>
            <a:pPr>
              <a:defRPr sz="1800"/>
            </a:pPr>
            <a:r>
              <a:t>  - Fim-Fim (FF): B só termina após término de A</a:t>
            </a:r>
          </a:p>
          <a:p>
            <a:pPr>
              <a:defRPr sz="1800"/>
            </a:pPr>
            <a:r>
              <a:t>  - Inicio-Fim (IF): B só termina após inicio de A</a:t>
            </a:r>
          </a:p>
          <a:p>
            <a:pPr>
              <a:defRPr sz="1800"/>
            </a:pPr>
            <a:r>
              <a:t>Exemplo pratico:</a:t>
            </a:r>
          </a:p>
          <a:p>
            <a:pPr>
              <a:defRPr sz="1800"/>
            </a:pPr>
            <a:r>
              <a:t>  - Pintura (FI): Aplicar massa corrida → Pintar parede</a:t>
            </a:r>
          </a:p>
          <a:p>
            <a:pPr>
              <a:defRPr sz="1800"/>
            </a:pPr>
            <a:r>
              <a:t>  - Desenvolvimento (II): Codificar modulo A → Codificar modulo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Estimativa de Tempo - Tecnicas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Metodos principais:</a:t>
            </a:r>
          </a:p>
          <a:p>
            <a:pPr>
              <a:defRPr sz="1800"/>
            </a:pPr>
            <a:r>
              <a:t>1. Opiniao de especialistas: Baseado em experiencia</a:t>
            </a:r>
          </a:p>
          <a:p>
            <a:pPr>
              <a:defRPr sz="1800"/>
            </a:pPr>
            <a:r>
              <a:t>2. Analogia: Comparaçª£o com projetos similares</a:t>
            </a:r>
          </a:p>
          <a:p>
            <a:pPr>
              <a:defRPr sz="1800"/>
            </a:pPr>
            <a:r>
              <a:t>3. Parametrica: Uso de formulas e dados histricos</a:t>
            </a:r>
          </a:p>
          <a:p>
            <a:pPr>
              <a:defRPr sz="1800"/>
            </a:pPr>
            <a:r>
              <a:t>4. Tris estimativas (PERT):</a:t>
            </a:r>
          </a:p>
          <a:p>
            <a:pPr>
              <a:defRPr sz="1800"/>
            </a:pPr>
            <a:r>
              <a:t>   - Otimista (O)</a:t>
            </a:r>
          </a:p>
          <a:p>
            <a:pPr>
              <a:defRPr sz="1800"/>
            </a:pPr>
            <a:r>
              <a:t>   - Mais provavel (M)</a:t>
            </a:r>
          </a:p>
          <a:p>
            <a:pPr>
              <a:defRPr sz="1800"/>
            </a:pPr>
            <a:r>
              <a:t>   - Pessimista (P)</a:t>
            </a:r>
          </a:p>
          <a:p>
            <a:pPr>
              <a:defRPr sz="1800"/>
            </a:pPr>
            <a:r>
              <a:t>   - Formula: (O + 4M + P) /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Grafico de Gantt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Caracteristicas:</a:t>
            </a:r>
          </a:p>
          <a:p>
            <a:pPr>
              <a:defRPr sz="1800"/>
            </a:pPr>
            <a:r>
              <a:t>  - Representaçª£o visual do cronograma</a:t>
            </a:r>
          </a:p>
          <a:p>
            <a:pPr>
              <a:defRPr sz="1800"/>
            </a:pPr>
            <a:r>
              <a:t>  - Barras horizontais representam duraçª£o das tarefas</a:t>
            </a:r>
          </a:p>
          <a:p>
            <a:pPr>
              <a:defRPr sz="1800"/>
            </a:pPr>
            <a:r>
              <a:t>  - Eixo vertical: atividades</a:t>
            </a:r>
          </a:p>
          <a:p>
            <a:pPr>
              <a:defRPr sz="1800"/>
            </a:pPr>
            <a:r>
              <a:t>  - Eixo horizontal: tempo (dias, semanas, meses)</a:t>
            </a:r>
          </a:p>
          <a:p>
            <a:pPr>
              <a:defRPr sz="1800"/>
            </a:pPr>
            <a:r>
              <a:t>Vantagens:</a:t>
            </a:r>
          </a:p>
          <a:p>
            <a:pPr>
              <a:defRPr sz="1800"/>
            </a:pPr>
            <a:r>
              <a:t>  - Facil visualizaçª£o</a:t>
            </a:r>
          </a:p>
          <a:p>
            <a:pPr>
              <a:defRPr sz="1800"/>
            </a:pPr>
            <a:r>
              <a:t>  - Mostra sobreposiçª£o de atividades</a:t>
            </a:r>
          </a:p>
          <a:p>
            <a:pPr>
              <a:defRPr sz="1800"/>
            </a:pPr>
            <a:r>
              <a:t>  - Permite identificar folgas</a:t>
            </a:r>
          </a:p>
          <a:p>
            <a:pPr>
              <a:defRPr sz="1800"/>
            </a:pPr>
            <a:r>
              <a:t>  - Amplamente utilizado e compreendido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de Rede (CPM/PERT)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Caminho Crtico (CPM):</a:t>
            </a:r>
          </a:p>
          <a:p>
            <a:pPr>
              <a:defRPr sz="1800"/>
            </a:pPr>
            <a:r>
              <a:t>  - Sequencia de atividades que determina a duraçª£o minima do projeto</a:t>
            </a:r>
          </a:p>
          <a:p>
            <a:pPr>
              <a:defRPr sz="1800"/>
            </a:pPr>
            <a:r>
              <a:t>  - Sem folga total</a:t>
            </a:r>
          </a:p>
          <a:p>
            <a:pPr>
              <a:defRPr sz="1800"/>
            </a:pPr>
            <a:r>
              <a:t>  - Atraso no caminho crtico = atraso no projeto</a:t>
            </a:r>
          </a:p>
          <a:p>
            <a:pPr>
              <a:defRPr sz="1800"/>
            </a:pPr>
            <a:r>
              <a:t>Metodo PERT:</a:t>
            </a:r>
          </a:p>
          <a:p>
            <a:pPr>
              <a:defRPr sz="1800"/>
            </a:pPr>
            <a:r>
              <a:t>  - Probabilistico</a:t>
            </a:r>
          </a:p>
          <a:p>
            <a:pPr>
              <a:defRPr sz="1800"/>
            </a:pPr>
            <a:r>
              <a:t>  - Usa tris estimativas</a:t>
            </a:r>
          </a:p>
          <a:p>
            <a:pPr>
              <a:defRPr sz="1800"/>
            </a:pPr>
            <a:r>
              <a:t>  - Considera incertezas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1 - Caminho Critico Basico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Atividades (duraçª£o em dias):</a:t>
            </a:r>
          </a:p>
          <a:p>
            <a:pPr>
              <a:defRPr sz="1800"/>
            </a:pPr>
            <a:r>
              <a:t>  A: 3 dias, B: 4 dias (depende A), C: 2 dias (depende A)</a:t>
            </a:r>
          </a:p>
          <a:p>
            <a:pPr>
              <a:defRPr sz="1800"/>
            </a:pPr>
            <a:r>
              <a:t>  D: 5 dias (depende B), E: 3 dias (depende C), F: 2 dias (depende D,E)</a:t>
            </a:r>
          </a:p>
          <a:p>
            <a:pPr>
              <a:defRPr sz="1800"/>
            </a:pPr>
            <a:r>
              <a:t>Caminhos possiveis:</a:t>
            </a:r>
          </a:p>
          <a:p>
            <a:pPr>
              <a:defRPr sz="1800"/>
            </a:pPr>
            <a:r>
              <a:t>  Caminho 1: A→B→D→F = 3+4+5+2 = 14 dias</a:t>
            </a:r>
          </a:p>
          <a:p>
            <a:pPr>
              <a:defRPr sz="1800"/>
            </a:pPr>
            <a:r>
              <a:t>  Caminho 2: A→C→E→F = 3+2+3+2 = 10 dias</a:t>
            </a:r>
          </a:p>
          <a:p>
            <a:pPr>
              <a:defRPr sz="1800"/>
            </a:pPr>
            <a:r>
              <a:t>Conclusao:</a:t>
            </a:r>
          </a:p>
          <a:p>
            <a:pPr>
              <a:defRPr sz="1800"/>
            </a:pPr>
            <a:r>
              <a:t>  Caminho critico: A–B–D–F (14 dias)</a:t>
            </a:r>
          </a:p>
          <a:p>
            <a:pPr>
              <a:defRPr sz="1800"/>
            </a:pPr>
            <a:r>
              <a:t>  Qualquer atraso em A,B,D ou F atrasa o projeto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Exemplo 2 - Atividades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Atividade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Duraçª£o (dias)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Predecessora(s)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D, 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Caminhos:</a:t>
            </a:r>
            <a:br/>
            <a:r>
              <a:t>  A–B–D–F = 2+5+3+2 = 12 dias</a:t>
            </a:r>
            <a:br/>
            <a:r>
              <a:t>  A–C–E–F = 2+4+6+2 = 14 dias</a:t>
            </a:r>
            <a:br/>
            <a:br/>
            <a:r>
              <a:t>Caminho critico: A–C–E–F (14 dias)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Exemplo 3 - Inicio/Termino Mais Cedo (Forward Pass)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Atividade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IMC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Calculo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TMC = 0+2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TMC = 2+5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TMC = 2+4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TMC = 7+3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TMC = 6+6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TMC = 12+2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Regras:</a:t>
            </a:r>
            <a:br/>
            <a:r>
              <a:t>  - IMC = maior TMC das predecessoras</a:t>
            </a:r>
            <a:br/>
            <a:r>
              <a:t>  - TMC = IMC + duraçª£o</a:t>
            </a:r>
            <a:br/>
            <a:r>
              <a:t>  - Duraçª£o total do projeto = 14 dias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Exemplo 4 - Folga e Caminho Critico (Backward Pass)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216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Atividade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IMC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IMT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TMT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Folga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Folga = IMT - IMC</a:t>
            </a:r>
            <a:br/>
            <a:br/>
            <a:r>
              <a:t>Atividades com folga = 0: A, C, E, F</a:t>
            </a:r>
            <a:br/>
            <a:br/>
            <a:r>
              <a:t>Caminho critico: A–C–E–F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Marcos do Projeto (Milestones)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Definiçª£o: Pontos de referencia importantes no cronograma</a:t>
            </a:r>
          </a:p>
          <a:p>
            <a:pPr>
              <a:defRPr sz="1800"/>
            </a:pPr>
            <a:r>
              <a:t>Exemplos de marcos:</a:t>
            </a:r>
          </a:p>
          <a:p>
            <a:pPr>
              <a:defRPr sz="1800"/>
            </a:pPr>
            <a:r>
              <a:t>  - Aprovac~o do projeto</a:t>
            </a:r>
          </a:p>
          <a:p>
            <a:pPr>
              <a:defRPr sz="1800"/>
            </a:pPr>
            <a:r>
              <a:t>  - Conclusao do levantamento de requisitos</a:t>
            </a:r>
          </a:p>
          <a:p>
            <a:pPr>
              <a:defRPr sz="1800"/>
            </a:pPr>
            <a:r>
              <a:t>  - Entrega do prototipo</a:t>
            </a:r>
          </a:p>
          <a:p>
            <a:pPr>
              <a:defRPr sz="1800"/>
            </a:pPr>
            <a:r>
              <a:t>  - Aprovac~o do cliente</a:t>
            </a:r>
          </a:p>
          <a:p>
            <a:pPr>
              <a:defRPr sz="1800"/>
            </a:pPr>
            <a:r>
              <a:t>  - Go-live</a:t>
            </a:r>
          </a:p>
          <a:p>
            <a:pPr>
              <a:defRPr sz="1800"/>
            </a:pPr>
            <a:r>
              <a:t>  - Encerramento do projeto</a:t>
            </a:r>
          </a:p>
          <a:p>
            <a:pPr>
              <a:defRPr sz="1800"/>
            </a:pPr>
            <a:r>
              <a:t>Caracteristicas:</a:t>
            </a:r>
          </a:p>
          <a:p>
            <a:pPr>
              <a:defRPr sz="1800"/>
            </a:pPr>
            <a:r>
              <a:t>  - Duraçª£o zero</a:t>
            </a:r>
          </a:p>
          <a:p>
            <a:pPr>
              <a:defRPr sz="1800"/>
            </a:pPr>
            <a:r>
              <a:t>  - Marcam conclusao de fases</a:t>
            </a:r>
          </a:p>
          <a:p>
            <a:pPr>
              <a:defRPr sz="1800"/>
            </a:pPr>
            <a:r>
              <a:t>  - Usados para acompanhamento com stakeholders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Ferramentas de Gerenciamento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Softwares disponveis:</a:t>
            </a:r>
          </a:p>
          <a:p>
            <a:pPr>
              <a:defRPr sz="1800"/>
            </a:pPr>
            <a:r>
              <a:t>  - Microsoft Project: Completo, profissional</a:t>
            </a:r>
          </a:p>
          <a:p>
            <a:pPr>
              <a:defRPr sz="1800"/>
            </a:pPr>
            <a:r>
              <a:t>  - Excel: Acessvel, flexvel</a:t>
            </a:r>
          </a:p>
          <a:p>
            <a:pPr>
              <a:defRPr sz="1800"/>
            </a:pPr>
            <a:r>
              <a:t>  - Asana/Trello: Simples, visual</a:t>
            </a:r>
          </a:p>
          <a:p>
            <a:pPr>
              <a:defRPr sz="1800"/>
            </a:pPr>
            <a:r>
              <a:t>  - Monday.com: Colaborativo</a:t>
            </a:r>
          </a:p>
          <a:p>
            <a:pPr>
              <a:defRPr sz="1800"/>
            </a:pPr>
            <a:r>
              <a:t>  - Smartsheet: Baseado em planilha</a:t>
            </a:r>
          </a:p>
          <a:p>
            <a:pPr>
              <a:defRPr sz="1800"/>
            </a:pPr>
            <a:r>
              <a:t>  - ClickUp: Multifuncional</a:t>
            </a:r>
          </a:p>
          <a:p>
            <a:pPr>
              <a:defRPr sz="1800"/>
            </a:pPr>
            <a:r>
              <a:t>Criterios de escolha:</a:t>
            </a:r>
          </a:p>
          <a:p>
            <a:pPr>
              <a:defRPr sz="1800"/>
            </a:pPr>
            <a:r>
              <a:t>  - Complexidade do projeto</a:t>
            </a:r>
          </a:p>
          <a:p>
            <a:pPr>
              <a:defRPr sz="1800"/>
            </a:pPr>
            <a:r>
              <a:t>  - Tamanho da equipe</a:t>
            </a:r>
          </a:p>
          <a:p>
            <a:pPr>
              <a:defRPr sz="1800"/>
            </a:pPr>
            <a:r>
              <a:t>  - Orçª£o disponvel</a:t>
            </a:r>
          </a:p>
          <a:p>
            <a:pPr>
              <a:defRPr sz="1800"/>
            </a:pPr>
            <a:r>
              <a:t>  - Familiaridade da equipe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Acompanhamento do Cronograma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 que monitorar:</a:t>
            </a:r>
          </a:p>
          <a:p>
            <a:pPr>
              <a:defRPr sz="1800"/>
            </a:pPr>
            <a:r>
              <a:t>  - Progresso real vs. planejado</a:t>
            </a:r>
          </a:p>
          <a:p>
            <a:pPr>
              <a:defRPr sz="1800"/>
            </a:pPr>
            <a:r>
              <a:t>  - Atividades crticas</a:t>
            </a:r>
          </a:p>
          <a:p>
            <a:pPr>
              <a:defRPr sz="1800"/>
            </a:pPr>
            <a:r>
              <a:t>  - Consumo de recursos</a:t>
            </a:r>
          </a:p>
          <a:p>
            <a:pPr>
              <a:defRPr sz="1800"/>
            </a:pPr>
            <a:r>
              <a:t>  - Riscos e desvios</a:t>
            </a:r>
          </a:p>
          <a:p>
            <a:pPr>
              <a:defRPr sz="1800"/>
            </a:pPr>
            <a:r>
              <a:t>  - Marcos alcançª¢dos</a:t>
            </a:r>
          </a:p>
          <a:p>
            <a:pPr>
              <a:defRPr sz="1800"/>
            </a:pPr>
            <a:r>
              <a:t>Frequencia recomendada:</a:t>
            </a:r>
          </a:p>
          <a:p>
            <a:pPr>
              <a:defRPr sz="1800"/>
            </a:pPr>
            <a:r>
              <a:t>  - Projetos pequenos: semanal</a:t>
            </a:r>
          </a:p>
          <a:p>
            <a:pPr>
              <a:defRPr sz="1800"/>
            </a:pPr>
            <a:r>
              <a:t>  - Projetos mios: quinzenal</a:t>
            </a:r>
          </a:p>
          <a:p>
            <a:pPr>
              <a:defRPr sz="1800"/>
            </a:pPr>
            <a:r>
              <a:t>  - Projetos grandes: mensal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Controle de Desvios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Ac~oes corretivas:</a:t>
            </a:r>
          </a:p>
          <a:p>
            <a:pPr>
              <a:defRPr sz="1800"/>
            </a:pPr>
            <a:r>
              <a:t>  1. Aumentar recursos (crashing)</a:t>
            </a:r>
          </a:p>
          <a:p>
            <a:pPr>
              <a:defRPr sz="1800"/>
            </a:pPr>
            <a:r>
              <a:t>  2. Executar atividades em paralelo (fast tracking)</a:t>
            </a:r>
          </a:p>
          <a:p>
            <a:pPr>
              <a:defRPr sz="1800"/>
            </a:pPr>
            <a:r>
              <a:t>  3. Reduzir escopo (negociar com stakeholders)</a:t>
            </a:r>
          </a:p>
          <a:p>
            <a:pPr>
              <a:defRPr sz="1800"/>
            </a:pPr>
            <a:r>
              <a:t>  4. Estender prazo (quando possvel)</a:t>
            </a:r>
          </a:p>
          <a:p>
            <a:pPr>
              <a:defRPr sz="1800"/>
            </a:pPr>
            <a:r>
              <a:t>Melhores praticas:</a:t>
            </a:r>
          </a:p>
          <a:p>
            <a:pPr>
              <a:defRPr sz="1800"/>
            </a:pPr>
            <a:r>
              <a:t>  - Identificar desvios rapidamente</a:t>
            </a:r>
          </a:p>
          <a:p>
            <a:pPr>
              <a:defRPr sz="1800"/>
            </a:pPr>
            <a:r>
              <a:t>  - Analisar impacto no caminho crtico</a:t>
            </a:r>
          </a:p>
          <a:p>
            <a:pPr>
              <a:defRPr sz="1800"/>
            </a:pPr>
            <a:r>
              <a:t>  - Comunicar stakeholders proativamente</a:t>
            </a:r>
          </a:p>
          <a:p>
            <a:pPr>
              <a:defRPr sz="1800"/>
            </a:pPr>
            <a:r>
              <a:t>  - Atualizar linha de base quando necessario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Linha de Base (Baseline)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Definiçª£o: Versao aprovada do cronograma usada para comparaçª£o</a:t>
            </a:r>
          </a:p>
          <a:p>
            <a:pPr>
              <a:defRPr sz="1800"/>
            </a:pPr>
            <a:r>
              <a:t>Quando estabelecer:</a:t>
            </a:r>
          </a:p>
          <a:p>
            <a:pPr>
              <a:defRPr sz="1800"/>
            </a:pPr>
            <a:r>
              <a:t>  - Ao final do planejamento</a:t>
            </a:r>
          </a:p>
          <a:p>
            <a:pPr>
              <a:defRPr sz="1800"/>
            </a:pPr>
            <a:r>
              <a:t>  - Apos aprovac~o do cliente/patrocinador</a:t>
            </a:r>
          </a:p>
          <a:p>
            <a:pPr>
              <a:defRPr sz="1800"/>
            </a:pPr>
            <a:r>
              <a:t>  - Antes do inicio da execuçª£o</a:t>
            </a:r>
          </a:p>
          <a:p>
            <a:pPr>
              <a:defRPr sz="1800"/>
            </a:pPr>
            <a:r>
              <a:t>Uso:</a:t>
            </a:r>
          </a:p>
          <a:p>
            <a:pPr>
              <a:defRPr sz="1800"/>
            </a:pPr>
            <a:r>
              <a:t>  - Comparar real vs. planejado</a:t>
            </a:r>
          </a:p>
          <a:p>
            <a:pPr>
              <a:defRPr sz="1800"/>
            </a:pPr>
            <a:r>
              <a:t>  - Medir desempenho</a:t>
            </a:r>
          </a:p>
          <a:p>
            <a:pPr>
              <a:defRPr sz="1800"/>
            </a:pPr>
            <a:r>
              <a:t>  - Identificar desvios</a:t>
            </a:r>
          </a:p>
          <a:p>
            <a:pPr>
              <a:defRPr sz="1800"/>
            </a:pPr>
            <a:r>
              <a:t>  - Justificar mudanças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Melhores Praticas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✓ Envolver a equipe na estimativa</a:t>
            </a:r>
          </a:p>
          <a:p>
            <a:pPr>
              <a:defRPr sz="1800"/>
            </a:pPr>
            <a:r>
              <a:t>✓ Considerar feriados e folgas</a:t>
            </a:r>
          </a:p>
          <a:p>
            <a:pPr>
              <a:defRPr sz="1800"/>
            </a:pPr>
            <a:r>
              <a:t>✓ Incluir margem de segurançª¢ (buffer)</a:t>
            </a:r>
          </a:p>
          <a:p>
            <a:pPr>
              <a:defRPr sz="1800"/>
            </a:pPr>
            <a:r>
              <a:t>✓ Revisar e atualizar regularmente</a:t>
            </a:r>
          </a:p>
          <a:p>
            <a:pPr>
              <a:defRPr sz="1800"/>
            </a:pPr>
            <a:r>
              <a:t>✓ Manter comunicaçª£o clara com stakeholders</a:t>
            </a:r>
          </a:p>
          <a:p>
            <a:pPr>
              <a:defRPr sz="1800"/>
            </a:pPr>
            <a:r>
              <a:t>✓ Documentar premissas e restriçªµes</a:t>
            </a:r>
          </a:p>
          <a:p>
            <a:pPr>
              <a:defRPr sz="1800"/>
            </a:pPr>
            <a:r>
              <a:t>✓ Usar ferramenta adequada ao projeto</a:t>
            </a:r>
          </a:p>
          <a:p>
            <a:pPr>
              <a:defRPr sz="1800"/>
            </a:pPr>
            <a:r>
              <a:t>✓ Treinar a equipe no uso da ferramenta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Erros Comuns a Evitar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✗ Estimativas muito otimistas</a:t>
            </a:r>
          </a:p>
          <a:p>
            <a:pPr>
              <a:defRPr sz="1800"/>
            </a:pPr>
            <a:r>
              <a:t>✗ Ignorar dependencias entre tarefas</a:t>
            </a:r>
          </a:p>
          <a:p>
            <a:pPr>
              <a:defRPr sz="1800"/>
            </a:pPr>
            <a:r>
              <a:t>✗ Nao considerar disponibilidade da equipe</a:t>
            </a:r>
          </a:p>
          <a:p>
            <a:pPr>
              <a:defRPr sz="1800"/>
            </a:pPr>
            <a:r>
              <a:t>✗ Falta de detalhamento (atividades muito grandes)</a:t>
            </a:r>
          </a:p>
          <a:p>
            <a:pPr>
              <a:defRPr sz="1800"/>
            </a:pPr>
            <a:r>
              <a:t>✗ Nao atualizar o cronograma</a:t>
            </a:r>
          </a:p>
          <a:p>
            <a:pPr>
              <a:defRPr sz="1800"/>
            </a:pPr>
            <a:r>
              <a:t>✗ Excesso de detalhamento (microgerenciamento)</a:t>
            </a:r>
          </a:p>
          <a:p>
            <a:pPr>
              <a:defRPr sz="1800"/>
            </a:pPr>
            <a:r>
              <a:t>✗ Nao envolver executores nas estimativas</a:t>
            </a:r>
          </a:p>
          <a:p>
            <a:pPr>
              <a:defRPr sz="1800"/>
            </a:pPr>
            <a:r>
              <a:t>✗ Ignorar riscos e imprevistos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Exercicio Pratico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Cenario: Projeto de desenvolvimento de sistema web</a:t>
            </a:r>
          </a:p>
          <a:p>
            <a:pPr>
              <a:defRPr sz="1800"/>
            </a:pPr>
            <a:r>
              <a:t>Atividades:</a:t>
            </a:r>
          </a:p>
          <a:p>
            <a:pPr>
              <a:defRPr sz="1800"/>
            </a:pPr>
            <a:r>
              <a:t>  1. Levantamento de requisitos (5 dias)</a:t>
            </a:r>
          </a:p>
          <a:p>
            <a:pPr>
              <a:defRPr sz="1800"/>
            </a:pPr>
            <a:r>
              <a:t>  2. Desenho de arquitetura (3 dias)</a:t>
            </a:r>
          </a:p>
          <a:p>
            <a:pPr>
              <a:defRPr sz="1800"/>
            </a:pPr>
            <a:r>
              <a:t>  3. Desenvolvimento backend (10 dias)</a:t>
            </a:r>
          </a:p>
          <a:p>
            <a:pPr>
              <a:defRPr sz="1800"/>
            </a:pPr>
            <a:r>
              <a:t>  4. Desenvolvimento frontend (8 dias)</a:t>
            </a:r>
          </a:p>
          <a:p>
            <a:pPr>
              <a:defRPr sz="1800"/>
            </a:pPr>
            <a:r>
              <a:t>  5. Integraçª£o (4 dias)</a:t>
            </a:r>
          </a:p>
          <a:p>
            <a:pPr>
              <a:defRPr sz="1800"/>
            </a:pPr>
            <a:r>
              <a:t>  6. Testes (5 dias)</a:t>
            </a:r>
          </a:p>
          <a:p>
            <a:pPr>
              <a:defRPr sz="1800"/>
            </a:pPr>
            <a:r>
              <a:t>  7. Implantaçª£o (2 dias)</a:t>
            </a:r>
          </a:p>
          <a:p>
            <a:pPr>
              <a:defRPr sz="1800"/>
            </a:pPr>
            <a:r>
              <a:t>Tarefa:</a:t>
            </a:r>
          </a:p>
          <a:p>
            <a:pPr>
              <a:defRPr sz="1800"/>
            </a:pPr>
            <a:r>
              <a:t>  - Criar EAP</a:t>
            </a:r>
          </a:p>
          <a:p>
            <a:pPr>
              <a:defRPr sz="1800"/>
            </a:pPr>
            <a:r>
              <a:t>  - Sequenciar atividades</a:t>
            </a:r>
          </a:p>
          <a:p>
            <a:pPr>
              <a:defRPr sz="1800"/>
            </a:pPr>
            <a:r>
              <a:t>  - Elaborar cronograma em Gantt</a:t>
            </a:r>
          </a:p>
          <a:p>
            <a:pPr>
              <a:defRPr sz="1800"/>
            </a:pPr>
            <a:r>
              <a:t>  - Identificar caminho crtico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Referencias Bibliograficas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PMI. Guia PMBOK 7a Ediçª£o. Project Management Institute, 2021.</a:t>
            </a:r>
          </a:p>
          <a:p>
            <a:pPr>
              <a:defRPr sz="1800"/>
            </a:pPr>
            <a:r>
              <a:t>KERZNER, Harold. Gerenciamento de Projetos. LTC, 2019.</a:t>
            </a:r>
          </a:p>
          <a:p>
            <a:pPr>
              <a:defRPr sz="1800"/>
            </a:pPr>
            <a:r>
              <a:t>VARGAS, Ricardo. Gerenciamento de Projetos. Brasport, 2018.</a:t>
            </a:r>
          </a:p>
          <a:p>
            <a:pPr>
              <a:defRPr sz="1800"/>
            </a:pPr>
            <a:r>
              <a:t>Microsoft. Documentaçª£o do MS Project. support.microsoft.com</a:t>
            </a:r>
          </a:p>
          <a:p>
            <a:pPr>
              <a:defRPr sz="1800"/>
            </a:pPr>
            <a:r>
              <a:t>PMI Brasil. Conteudo educativo. pmi.org.br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4A09C3E02A604AA8862569A8596A32" ma:contentTypeVersion="10" ma:contentTypeDescription="Crie um novo documento." ma:contentTypeScope="" ma:versionID="9ebcba8d9189bd2d1d9ae1a9ecdf9ecf">
  <xsd:schema xmlns:xsd="http://www.w3.org/2001/XMLSchema" xmlns:xs="http://www.w3.org/2001/XMLSchema" xmlns:p="http://schemas.microsoft.com/office/2006/metadata/properties" xmlns:ns2="bcbcbace-201e-4ef7-8869-cccbfceb4df8" xmlns:ns3="bf55bb95-0e2d-49eb-8730-bda5c0a73d75" targetNamespace="http://schemas.microsoft.com/office/2006/metadata/properties" ma:root="true" ma:fieldsID="5728f961ced8355fef59faf963e69c4f" ns2:_="" ns3:_="">
    <xsd:import namespace="bcbcbace-201e-4ef7-8869-cccbfceb4df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cbace-201e-4ef7-8869-cccbfceb4d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55b3ef0-86e3-4c4b-bf32-5e67dec0a599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bcbace-201e-4ef7-8869-cccbfceb4df8">
      <Terms xmlns="http://schemas.microsoft.com/office/infopath/2007/PartnerControls"/>
    </lcf76f155ced4ddcb4097134ff3c332f>
    <TaxCatchAll xmlns="bf55bb95-0e2d-49eb-8730-bda5c0a73d75" xsi:nil="true"/>
  </documentManagement>
</p:properties>
</file>

<file path=customXml/itemProps1.xml><?xml version="1.0" encoding="utf-8"?>
<ds:datastoreItem xmlns:ds="http://schemas.openxmlformats.org/officeDocument/2006/customXml" ds:itemID="{4B2B7A32-31A9-42FA-83F2-D390D8AAC31A}"/>
</file>

<file path=customXml/itemProps2.xml><?xml version="1.0" encoding="utf-8"?>
<ds:datastoreItem xmlns:ds="http://schemas.openxmlformats.org/officeDocument/2006/customXml" ds:itemID="{84E98119-05E7-43C1-9A0D-FCFA1C6437DF}"/>
</file>

<file path=customXml/itemProps3.xml><?xml version="1.0" encoding="utf-8"?>
<ds:datastoreItem xmlns:ds="http://schemas.openxmlformats.org/officeDocument/2006/customXml" ds:itemID="{960945C6-C050-41B8-BA59-F07FD77AAF3A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1614</Words>
  <Application>Microsoft Office PowerPoint</Application>
  <PresentationFormat>Widescreen</PresentationFormat>
  <Paragraphs>294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GERENCIAMENTO DE CRONOGRAMA</vt:lpstr>
      <vt:lpstr>Objetivos da Aula</vt:lpstr>
      <vt:lpstr>O que é um Cronograma?</vt:lpstr>
      <vt:lpstr>Beneficios do Gerenciamento de Cronograma</vt:lpstr>
      <vt:lpstr>Etapas do Planejamento de Cronograma</vt:lpstr>
      <vt:lpstr>Estrutura Analitica do Projeto (EAP/WBS)</vt:lpstr>
      <vt:lpstr>Sequenciamento de Atividades</vt:lpstr>
      <vt:lpstr>Estimativa de Tempo - Tecnicas</vt:lpstr>
      <vt:lpstr>Grafico de Gantt</vt:lpstr>
      <vt:lpstr>Diagrama de Rede (CPM/PERT)</vt:lpstr>
      <vt:lpstr>Exemplo 1 - Caminho Critico Basico</vt:lpstr>
      <vt:lpstr>Apresentação do PowerPoint</vt:lpstr>
      <vt:lpstr>Apresentação do PowerPoint</vt:lpstr>
      <vt:lpstr>Apresentação do PowerPoint</vt:lpstr>
      <vt:lpstr>Marcos do Projeto (Milestones)</vt:lpstr>
      <vt:lpstr>Ferramentas de Gerenciamento</vt:lpstr>
      <vt:lpstr>Acompanhamento do Cronograma</vt:lpstr>
      <vt:lpstr>Controle de Desvios</vt:lpstr>
      <vt:lpstr>Linha de Base (Baseline)</vt:lpstr>
      <vt:lpstr>Melhores Praticas</vt:lpstr>
      <vt:lpstr>Erros Comuns a Evitar</vt:lpstr>
      <vt:lpstr>Exercicio Pratico</vt:lpstr>
      <vt:lpstr>Referencias Bibliograficas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CLAUDIO ETELVINO DE LIMA</cp:lastModifiedBy>
  <cp:revision>2</cp:revision>
  <dcterms:created xsi:type="dcterms:W3CDTF">2013-01-27T09:14:16Z</dcterms:created>
  <dcterms:modified xsi:type="dcterms:W3CDTF">2026-08-02T12:32:45Z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0x010100134A09C3E02A604AA8862569A8596A32</vt:lpwstr>
  </property>
</Properties>
</file>