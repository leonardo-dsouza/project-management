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Relationship Id="rId30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GERENCIAMENTO DE CUSTOS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Planejamento, Orçamento e Controle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da Aula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Compreender o conceito de gerenciamento de custos em projetos</a:t>
            </a:r>
          </a:p>
          <a:p>
            <a:pPr>
              <a:defRPr sz="1800"/>
            </a:pPr>
            <a:r>
              <a:t>Conhecer os processos: planejar, estimar, orçar e controlar custos</a:t>
            </a:r>
          </a:p>
          <a:p>
            <a:pPr>
              <a:defRPr sz="1800"/>
            </a:pPr>
            <a:r>
              <a:t>Diferenciar custo, despesa, investimento e preço</a:t>
            </a:r>
          </a:p>
          <a:p>
            <a:pPr>
              <a:defRPr sz="1800"/>
            </a:pPr>
            <a:r>
              <a:t>Aplicar técnicas básicas de estimativa e orçamento</a:t>
            </a:r>
          </a:p>
          <a:p>
            <a:pPr>
              <a:defRPr sz="1800"/>
            </a:pPr>
            <a:r>
              <a:t>Interpretar variações de custos e indicadores (EV, CV, CPI)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Conceitos Básicos de Custos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Custo: valor de bens/serviços consumidos na produção de outros bens/serviços</a:t>
            </a:r>
          </a:p>
          <a:p>
            <a:pPr>
              <a:defRPr sz="1800"/>
            </a:pPr>
            <a:r>
              <a:t>Despesa: valor consumido para obtenção de receitas (ex: comissão de vendas)</a:t>
            </a:r>
          </a:p>
          <a:p>
            <a:pPr>
              <a:defRPr sz="1800"/>
            </a:pPr>
            <a:r>
              <a:t>Investimento: aplicação de recursos para benefício futuro (ex: compra de máquina)</a:t>
            </a:r>
          </a:p>
          <a:p>
            <a:pPr>
              <a:defRPr sz="1800"/>
            </a:pPr>
            <a:r>
              <a:t>Preço: valor cobrado do cliente pelo produto/serviço</a:t>
            </a:r>
          </a:p>
          <a:p>
            <a:pPr>
              <a:defRPr sz="1800"/>
            </a:pPr>
            <a:r>
              <a:t>Lucro: diferença entre receitas e custos/despesas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Gerenciamento de Custos em Projetos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Foco: custos dos recursos necessários para completar as atividades do projeto</a:t>
            </a:r>
          </a:p>
          <a:p>
            <a:pPr>
              <a:defRPr sz="1800"/>
            </a:pPr>
            <a:r>
              <a:t>Considera requisitos das partes interessadas para captura dos custos</a:t>
            </a:r>
          </a:p>
          <a:p>
            <a:pPr>
              <a:defRPr sz="1800"/>
            </a:pPr>
            <a:r>
              <a:t>Integra-se com escopo, cronograma e qualidade</a:t>
            </a:r>
          </a:p>
          <a:p>
            <a:pPr>
              <a:defRPr sz="1800"/>
            </a:pPr>
            <a:r>
              <a:t>Busca entregar o projeto dentro do orçamento aprovado</a:t>
            </a:r>
          </a:p>
          <a:p>
            <a:pPr>
              <a:defRPr sz="1800"/>
            </a:pPr>
            <a:r>
              <a:t>Baseado em processos definidos no guia PMBOK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Processos do Gerenciamento de Custos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Planejar o gerenciamento de custos</a:t>
            </a:r>
          </a:p>
          <a:p>
            <a:pPr>
              <a:defRPr sz="1800"/>
            </a:pPr>
            <a:r>
              <a:t>2. Estimar os custos</a:t>
            </a:r>
          </a:p>
          <a:p>
            <a:pPr>
              <a:defRPr sz="1800"/>
            </a:pPr>
            <a:r>
              <a:t>3. Determinar o orçamento</a:t>
            </a:r>
          </a:p>
          <a:p>
            <a:pPr>
              <a:defRPr sz="1800"/>
            </a:pPr>
            <a:r>
              <a:t>4. Controlar os custos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Planejar o Gerenciamento de Custos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Define como custos serão planejados, estruturados, estimados, orçados e controlados</a:t>
            </a:r>
          </a:p>
          <a:p>
            <a:pPr>
              <a:defRPr sz="1800"/>
            </a:pPr>
            <a:r>
              <a:t>Produz o plano de gerenciamento de custos</a:t>
            </a:r>
          </a:p>
          <a:p>
            <a:pPr>
              <a:defRPr sz="1800"/>
            </a:pPr>
            <a:r>
              <a:t>Critérios de medição: unidades (hora, dia, m³, km, etc.)</a:t>
            </a:r>
          </a:p>
          <a:p>
            <a:pPr>
              <a:defRPr sz="1800"/>
            </a:pPr>
            <a:r>
              <a:t>Políticas de reserva de contingência e gestão de mudanças de custo</a:t>
            </a:r>
          </a:p>
          <a:p>
            <a:pPr>
              <a:defRPr sz="1800"/>
            </a:pPr>
            <a:r>
              <a:t>Integração com linhas de base de escopo e cronograma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Estimar Custos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Processo de desenvolvimento de aproximações dos custos dos recursos do projeto</a:t>
            </a:r>
          </a:p>
          <a:p>
            <a:pPr>
              <a:defRPr sz="1800"/>
            </a:pPr>
            <a:r>
              <a:t>Inclui mão de obra, materiais, equipamentos, serviços, reservas, impostos</a:t>
            </a:r>
          </a:p>
          <a:p>
            <a:pPr>
              <a:defRPr sz="1800"/>
            </a:pPr>
            <a:r>
              <a:t>Principais técnicas:</a:t>
            </a:r>
          </a:p>
          <a:p>
            <a:pPr>
              <a:defRPr sz="1800"/>
            </a:pPr>
            <a:r>
              <a:t>  - Estimativa análoga</a:t>
            </a:r>
          </a:p>
          <a:p>
            <a:pPr>
              <a:defRPr sz="1800"/>
            </a:pPr>
            <a:r>
              <a:t>  - Estimativa paramétrica</a:t>
            </a:r>
          </a:p>
          <a:p>
            <a:pPr>
              <a:defRPr sz="1800"/>
            </a:pPr>
            <a:r>
              <a:t>  - Estimativa de baixo para cima</a:t>
            </a:r>
          </a:p>
          <a:p>
            <a:pPr>
              <a:defRPr sz="1800"/>
            </a:pPr>
            <a:r>
              <a:t>  - Três pontos (custo esperado)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Exemplo de Estimativa Paramétrica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Projeto de implantação de rede com 50 pontos de rede</a:t>
            </a:r>
          </a:p>
          <a:p>
            <a:pPr>
              <a:defRPr sz="1800"/>
            </a:pPr>
            <a:r>
              <a:t>Custo histórico: R$ 200 por ponto de rede</a:t>
            </a:r>
          </a:p>
          <a:p>
            <a:pPr>
              <a:defRPr sz="1800"/>
            </a:pPr>
            <a:r>
              <a:t>Estimativa paramétrica: 50 pontos x R$ 200 = R$ 10.000</a:t>
            </a:r>
          </a:p>
          <a:p>
            <a:pPr>
              <a:defRPr sz="1800"/>
            </a:pPr>
            <a:r>
              <a:t>Ajustar valores conforme complexidade e localização</a:t>
            </a:r>
          </a:p>
          <a:p>
            <a:pPr>
              <a:defRPr sz="1800"/>
            </a:pPr>
            <a:r>
              <a:t>Utilizar base histórica de projetos anteriores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Determinar o Orçamento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Combina estimativas de custos individuais em um orçamento total</a:t>
            </a:r>
          </a:p>
          <a:p>
            <a:pPr>
              <a:defRPr sz="1800"/>
            </a:pPr>
            <a:r>
              <a:t>Resultado: linha de base de custos do projeto</a:t>
            </a:r>
          </a:p>
          <a:p>
            <a:pPr>
              <a:defRPr sz="1800"/>
            </a:pPr>
            <a:r>
              <a:t>Inclui custos diretos e indiretos, reservas de contingência e de gestão</a:t>
            </a:r>
          </a:p>
          <a:p>
            <a:pPr>
              <a:defRPr sz="1800"/>
            </a:pPr>
            <a:r>
              <a:t>Orçamento é aprovado pelo patrocinador</a:t>
            </a:r>
          </a:p>
          <a:p>
            <a:pPr>
              <a:defRPr sz="1800"/>
            </a:pPr>
            <a:r>
              <a:t>Serve como referência para controle de custos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 err="1"/>
              <a:t>Estrutura</a:t>
            </a:r>
            <a:r>
              <a:rPr dirty="0"/>
              <a:t> de Custos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0972800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6304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Categoria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Descrição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Exemplo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Custos Diretos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Relacionados diretamente às atividades do projeto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Horas da equipe, materiais específicos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Custos Indiretos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Não podem ser atribuídos diretamente a uma atividade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Aluguel, energia, segurança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Fixos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Não variam com o volume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Aluguel mensal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6304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 err="1"/>
                        <a:t>Variáveis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Variam com o volume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 err="1"/>
                        <a:t>Materiais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consumíveis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Controlar os Custos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Processo de monitorar o status do projeto para atualizar o orçamento</a:t>
            </a:r>
          </a:p>
          <a:p>
            <a:pPr>
              <a:defRPr sz="1800"/>
            </a:pPr>
            <a:r>
              <a:t>Identificar variações em relação à linha de base de custos</a:t>
            </a:r>
          </a:p>
          <a:p>
            <a:pPr>
              <a:defRPr sz="1800"/>
            </a:pPr>
            <a:r>
              <a:t>Determinar ações corretivas e preventivas</a:t>
            </a:r>
          </a:p>
          <a:p>
            <a:pPr>
              <a:defRPr sz="1800"/>
            </a:pPr>
            <a:r>
              <a:t>Atualizar previsões (forecast)</a:t>
            </a:r>
          </a:p>
          <a:p>
            <a:pPr>
              <a:defRPr sz="1800"/>
            </a:pPr>
            <a:r>
              <a:t>Comunicar variações às partes interessadas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Curva S de Custos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Representação gráfica do custo acumulado ao longo do tempo</a:t>
            </a:r>
          </a:p>
          <a:p>
            <a:pPr>
              <a:defRPr sz="1800"/>
            </a:pPr>
            <a:r>
              <a:t>Eixo X: tempo, Eixo Y: custo acumulado</a:t>
            </a:r>
          </a:p>
          <a:p>
            <a:pPr>
              <a:defRPr sz="1800"/>
            </a:pPr>
            <a:r>
              <a:t>Linha planejada vs. linha real</a:t>
            </a:r>
          </a:p>
          <a:p>
            <a:pPr>
              <a:defRPr sz="1800"/>
            </a:pPr>
            <a:r>
              <a:t>Permite visualizar tendências de estouro ou economia de custos</a:t>
            </a:r>
          </a:p>
          <a:p>
            <a:pPr>
              <a:defRPr sz="1800"/>
            </a:pPr>
            <a:r>
              <a:t>Usada em projetos de engenharia e construção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Gerenciamento do Valor Agregado (EVM)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Método integrado de controle de escopo, tempo e custos</a:t>
            </a:r>
          </a:p>
          <a:p>
            <a:pPr>
              <a:defRPr sz="1800"/>
            </a:pPr>
            <a:r>
              <a:t>Principais variáveis:</a:t>
            </a:r>
          </a:p>
          <a:p>
            <a:pPr>
              <a:defRPr sz="1800"/>
            </a:pPr>
            <a:r>
              <a:t>  - PV (Planned Value): valor planejado</a:t>
            </a:r>
          </a:p>
          <a:p>
            <a:pPr>
              <a:defRPr sz="1800"/>
            </a:pPr>
            <a:r>
              <a:t>  - EV (Earned Value): valor agregado</a:t>
            </a:r>
          </a:p>
          <a:p>
            <a:pPr>
              <a:defRPr sz="1800"/>
            </a:pPr>
            <a:r>
              <a:t>  - AC (Actual Cost): custo real</a:t>
            </a:r>
          </a:p>
          <a:p>
            <a:pPr>
              <a:defRPr sz="1800"/>
            </a:pPr>
            <a:r>
              <a:t>Permite calcular indicadores de desempenho de custos e prazo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Indicadores de Desempenho de Custos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CV (Cost Variance) = EV - AC</a:t>
            </a:r>
          </a:p>
          <a:p>
            <a:pPr>
              <a:defRPr sz="1800"/>
            </a:pPr>
            <a:r>
              <a:t>CPI (Cost Performance Index) = EV / AC</a:t>
            </a:r>
          </a:p>
          <a:p>
            <a:pPr>
              <a:defRPr sz="1800"/>
            </a:pPr>
            <a:r>
              <a:t>Interpretando CV:</a:t>
            </a:r>
          </a:p>
          <a:p>
            <a:pPr>
              <a:defRPr sz="1800"/>
            </a:pPr>
            <a:r>
              <a:t>  - CV &gt; 0: abaixo do custo (bom)</a:t>
            </a:r>
          </a:p>
          <a:p>
            <a:pPr>
              <a:defRPr sz="1800"/>
            </a:pPr>
            <a:r>
              <a:t>  - CV &lt; 0: acima do custo (ruim)</a:t>
            </a:r>
          </a:p>
          <a:p>
            <a:pPr>
              <a:defRPr sz="1800"/>
            </a:pPr>
            <a:r>
              <a:t>Interpretando CPI:</a:t>
            </a:r>
          </a:p>
          <a:p>
            <a:pPr>
              <a:defRPr sz="1800"/>
            </a:pPr>
            <a:r>
              <a:t>  - CPI &gt; 1: desempenho de custos favorável</a:t>
            </a:r>
          </a:p>
          <a:p>
            <a:pPr>
              <a:defRPr sz="1800"/>
            </a:pPr>
            <a:r>
              <a:t>  - CPI &lt; 1: desempenho de custos desfavorável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Exemplo Numérico de EVM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Projeto com orçamento total (BAC) = R$ 100.000</a:t>
            </a:r>
          </a:p>
          <a:p>
            <a:pPr>
              <a:defRPr sz="1800"/>
            </a:pPr>
            <a:r>
              <a:t>Na metade do prazo planejado:</a:t>
            </a:r>
          </a:p>
          <a:p>
            <a:pPr>
              <a:defRPr sz="1800"/>
            </a:pPr>
            <a:r>
              <a:t>  - PV = R$ 50.000</a:t>
            </a:r>
          </a:p>
          <a:p>
            <a:pPr>
              <a:defRPr sz="1800"/>
            </a:pPr>
            <a:r>
              <a:t>  - EV = R$ 40.000</a:t>
            </a:r>
          </a:p>
          <a:p>
            <a:pPr>
              <a:defRPr sz="1800"/>
            </a:pPr>
            <a:r>
              <a:t>  - AC = R$ 60.000</a:t>
            </a:r>
          </a:p>
          <a:p>
            <a:pPr>
              <a:defRPr sz="1800"/>
            </a:pPr>
            <a:r>
              <a:t>Cálculos:</a:t>
            </a:r>
          </a:p>
          <a:p>
            <a:pPr>
              <a:defRPr sz="1800"/>
            </a:pPr>
            <a:r>
              <a:t>  - CV = EV - AC = 40.000 - 60.000 = -20.000 (estouro)</a:t>
            </a:r>
          </a:p>
          <a:p>
            <a:pPr>
              <a:defRPr sz="1800"/>
            </a:pPr>
            <a:r>
              <a:t>  - CPI = EV / AC = 40.000 / 60.000 ≈ 0,67 (desempenho ruim)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Reservas de Contingência e Gestão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Reserva de contingência: valor incluído no orçamento para riscos identificados</a:t>
            </a:r>
          </a:p>
          <a:p>
            <a:pPr>
              <a:defRPr sz="1800"/>
            </a:pPr>
            <a:r>
              <a:t>Reserva de gestão: valor gerenciado pela alta direção para riscos desconhecidos</a:t>
            </a:r>
          </a:p>
          <a:p>
            <a:pPr>
              <a:defRPr sz="1800"/>
            </a:pPr>
            <a:r>
              <a:t>Não deve ser usada sem aprovação formal</a:t>
            </a:r>
          </a:p>
          <a:p>
            <a:pPr>
              <a:defRPr sz="1800"/>
            </a:pPr>
            <a:r>
              <a:t>Importante documentar premissas e critérios de uso</a:t>
            </a:r>
          </a:p>
          <a:p>
            <a:pPr>
              <a:defRPr sz="1800"/>
            </a:pPr>
            <a:r>
              <a:t>Relacionar com o registro de riscos do projeto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Papéis e Responsabilidades no Custo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Gerente de Projetos: responsável pelo orçamento do projeto</a:t>
            </a:r>
          </a:p>
          <a:p>
            <a:pPr>
              <a:defRPr sz="1800"/>
            </a:pPr>
            <a:r>
              <a:t>Equipe: fornece estimativas e registra horas/custos</a:t>
            </a:r>
          </a:p>
          <a:p>
            <a:pPr>
              <a:defRPr sz="1800"/>
            </a:pPr>
            <a:r>
              <a:t>Patrocinador: aprova orçamento e mudanças relevantes</a:t>
            </a:r>
          </a:p>
          <a:p>
            <a:pPr>
              <a:defRPr sz="1800"/>
            </a:pPr>
            <a:r>
              <a:t>Finanças/Controladoria: apoia na apuração e reportes</a:t>
            </a:r>
          </a:p>
          <a:p>
            <a:pPr>
              <a:defRPr sz="1800"/>
            </a:pPr>
            <a:r>
              <a:t>Stakeholders: influenciam prioridades de custo e escopo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Boas Práticas em Gerenciamento de Custos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Usar base histórica e lições aprendidas</a:t>
            </a:r>
          </a:p>
          <a:p>
            <a:pPr>
              <a:defRPr sz="1800"/>
            </a:pPr>
            <a:r>
              <a:t>Registrar premissas das estimativas</a:t>
            </a:r>
          </a:p>
          <a:p>
            <a:pPr>
              <a:defRPr sz="1800"/>
            </a:pPr>
            <a:r>
              <a:t>Revisar estimativas com a equipe técnica</a:t>
            </a:r>
          </a:p>
          <a:p>
            <a:pPr>
              <a:defRPr sz="1800"/>
            </a:pPr>
            <a:r>
              <a:t>Monitorar custos regularmente (semanal/mensal)</a:t>
            </a:r>
          </a:p>
          <a:p>
            <a:pPr>
              <a:defRPr sz="1800"/>
            </a:pPr>
            <a:r>
              <a:t>Separar custos do projeto de custos operacionais</a:t>
            </a:r>
          </a:p>
          <a:p>
            <a:pPr>
              <a:defRPr sz="1800"/>
            </a:pPr>
            <a:r>
              <a:t>Comunicar variações com transparência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Erros Comuns em Gerenciamento de Custos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Subestimar custos por otimismo excessivo</a:t>
            </a:r>
          </a:p>
          <a:p>
            <a:pPr>
              <a:defRPr sz="1800"/>
            </a:pPr>
            <a:r>
              <a:t>Não considerar impostos, taxas e encargos</a:t>
            </a:r>
          </a:p>
          <a:p>
            <a:pPr>
              <a:defRPr sz="1800"/>
            </a:pPr>
            <a:r>
              <a:t>Esquecer custos indiretos (infraestrutura, suporte)</a:t>
            </a:r>
          </a:p>
          <a:p>
            <a:pPr>
              <a:defRPr sz="1800"/>
            </a:pPr>
            <a:r>
              <a:t>Falta de controle de mudanças de escopo</a:t>
            </a:r>
          </a:p>
          <a:p>
            <a:pPr>
              <a:defRPr sz="1800"/>
            </a:pPr>
            <a:r>
              <a:t>Não registrar custos reais de forma adequada</a:t>
            </a:r>
          </a:p>
          <a:p>
            <a:pPr>
              <a:defRPr sz="1800"/>
            </a:pPr>
            <a:r>
              <a:t>Misturar despesas do projeto com despesas operacionais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Exemplo Prático de Orçamento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Projeto: implantação de sala de treinamento</a:t>
            </a:r>
          </a:p>
          <a:p>
            <a:pPr>
              <a:defRPr sz="1800"/>
            </a:pPr>
            <a:r>
              <a:t>Itens de custo:</a:t>
            </a:r>
          </a:p>
          <a:p>
            <a:pPr>
              <a:defRPr sz="1800"/>
            </a:pPr>
            <a:r>
              <a:t>  - Equipamentos (projetor, computador, som): R$ 15.000</a:t>
            </a:r>
          </a:p>
          <a:p>
            <a:pPr>
              <a:defRPr sz="1800"/>
            </a:pPr>
            <a:r>
              <a:t>  - Mobiliário (mesas, cadeiras): R$ 8.000</a:t>
            </a:r>
          </a:p>
          <a:p>
            <a:pPr>
              <a:defRPr sz="1800"/>
            </a:pPr>
            <a:r>
              <a:t>  - Adequações físicas (pintura, elétrica): R$ 12.000</a:t>
            </a:r>
          </a:p>
          <a:p>
            <a:pPr>
              <a:defRPr sz="1800"/>
            </a:pPr>
            <a:r>
              <a:t>  - Treinamento inicial da equipe: R$ 5.000</a:t>
            </a:r>
          </a:p>
          <a:p>
            <a:pPr>
              <a:defRPr sz="1800"/>
            </a:pPr>
            <a:r>
              <a:t>Reserva de contingência (10%): R$ 4.000</a:t>
            </a:r>
          </a:p>
          <a:p>
            <a:pPr>
              <a:defRPr sz="1800"/>
            </a:pPr>
            <a:r>
              <a:t>Orçamento total: R$ 44.000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Exercício Prático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Considere um projeto de desenvolvimento de aplicativo mobile</a:t>
            </a:r>
          </a:p>
          <a:p>
            <a:pPr>
              <a:defRPr sz="1800"/>
            </a:pPr>
            <a:r>
              <a:t>1. Liste os principais itens de custo (diretos e indiretos)</a:t>
            </a:r>
          </a:p>
          <a:p>
            <a:pPr>
              <a:defRPr sz="1800"/>
            </a:pPr>
            <a:r>
              <a:t>2. Estime os custos por categoria (mão de obra, software, infraestrutura)</a:t>
            </a:r>
          </a:p>
          <a:p>
            <a:pPr>
              <a:defRPr sz="1800"/>
            </a:pPr>
            <a:r>
              <a:t>3. Monte um orçamento resumido do projeto</a:t>
            </a:r>
          </a:p>
          <a:p>
            <a:pPr>
              <a:defRPr sz="1800"/>
            </a:pPr>
            <a:r>
              <a:t>4. Defina uma reserva de contingência adequada</a:t>
            </a:r>
          </a:p>
          <a:p>
            <a:pPr>
              <a:defRPr sz="1800"/>
            </a:pPr>
            <a:r>
              <a:t>5. Discuta como seria feito o controle de custos durante o projeto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Referências Bibliográficas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PMI. Guia PMBOK – Gerenciamento de Custos do Projeto</a:t>
            </a:r>
          </a:p>
          <a:p>
            <a:pPr>
              <a:defRPr sz="1800"/>
            </a:pPr>
            <a:r>
              <a:t>HORNGREN, C. T. Contabilidade de Custos</a:t>
            </a:r>
          </a:p>
          <a:p>
            <a:pPr>
              <a:defRPr sz="1800"/>
            </a:pPr>
            <a:r>
              <a:t>MARTINS, E. Contabilidade de Custos</a:t>
            </a:r>
          </a:p>
          <a:p>
            <a:pPr>
              <a:defRPr sz="1800"/>
            </a:pPr>
            <a:r>
              <a:t>VARGAS, R. Gerenciamento de Projetos</a:t>
            </a:r>
          </a:p>
          <a:p>
            <a:pPr>
              <a:defRPr sz="1800"/>
            </a:pPr>
            <a:r>
              <a:t>Normas internas de gestão orçamentária da organização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34A09C3E02A604AA8862569A8596A32" ma:contentTypeVersion="10" ma:contentTypeDescription="Crie um novo documento." ma:contentTypeScope="" ma:versionID="9ebcba8d9189bd2d1d9ae1a9ecdf9ecf">
  <xsd:schema xmlns:xsd="http://www.w3.org/2001/XMLSchema" xmlns:xs="http://www.w3.org/2001/XMLSchema" xmlns:p="http://schemas.microsoft.com/office/2006/metadata/properties" xmlns:ns2="bcbcbace-201e-4ef7-8869-cccbfceb4df8" xmlns:ns3="bf55bb95-0e2d-49eb-8730-bda5c0a73d75" targetNamespace="http://schemas.microsoft.com/office/2006/metadata/properties" ma:root="true" ma:fieldsID="5728f961ced8355fef59faf963e69c4f" ns2:_="" ns3:_="">
    <xsd:import namespace="bcbcbace-201e-4ef7-8869-cccbfceb4df8"/>
    <xsd:import namespace="bf55bb95-0e2d-49eb-8730-bda5c0a73d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bcbace-201e-4ef7-8869-cccbfceb4d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Marcações de imagem" ma:readOnly="false" ma:fieldId="{5cf76f15-5ced-4ddc-b409-7134ff3c332f}" ma:taxonomyMulti="true" ma:sspId="699e888a-e30d-4c0e-bef0-0db25144e5f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55bb95-0e2d-49eb-8730-bda5c0a73d75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355b3ef0-86e3-4c4b-bf32-5e67dec0a599}" ma:internalName="TaxCatchAll" ma:showField="CatchAllData" ma:web="bf55bb95-0e2d-49eb-8730-bda5c0a73d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cbcbace-201e-4ef7-8869-cccbfceb4df8">
      <Terms xmlns="http://schemas.microsoft.com/office/infopath/2007/PartnerControls"/>
    </lcf76f155ced4ddcb4097134ff3c332f>
    <TaxCatchAll xmlns="bf55bb95-0e2d-49eb-8730-bda5c0a73d75" xsi:nil="true"/>
  </documentManagement>
</p:properties>
</file>

<file path=customXml/itemProps1.xml><?xml version="1.0" encoding="utf-8"?>
<ds:datastoreItem xmlns:ds="http://schemas.openxmlformats.org/officeDocument/2006/customXml" ds:itemID="{E7D633E5-D6E6-4578-B941-0117C8E080A5}"/>
</file>

<file path=customXml/itemProps2.xml><?xml version="1.0" encoding="utf-8"?>
<ds:datastoreItem xmlns:ds="http://schemas.openxmlformats.org/officeDocument/2006/customXml" ds:itemID="{8276EDCA-E66F-4F16-9EFA-948506EEB04C}"/>
</file>

<file path=customXml/itemProps3.xml><?xml version="1.0" encoding="utf-8"?>
<ds:datastoreItem xmlns:ds="http://schemas.openxmlformats.org/officeDocument/2006/customXml" ds:itemID="{6F9E693D-354A-4954-B93C-064BD9479CE1}"/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1124</Words>
  <Application>Microsoft Office PowerPoint</Application>
  <PresentationFormat>Widescreen</PresentationFormat>
  <Paragraphs>152</Paragraphs>
  <Slides>22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GERENCIAMENTO DE CUSTOS</vt:lpstr>
      <vt:lpstr>Objetivos da Aula</vt:lpstr>
      <vt:lpstr>Conceitos Básicos de Custos</vt:lpstr>
      <vt:lpstr>Gerenciamento de Custos em Projetos</vt:lpstr>
      <vt:lpstr>Processos do Gerenciamento de Custos</vt:lpstr>
      <vt:lpstr>Planejar o Gerenciamento de Custos</vt:lpstr>
      <vt:lpstr>Estimar Custos</vt:lpstr>
      <vt:lpstr>Exemplo de Estimativa Paramétrica</vt:lpstr>
      <vt:lpstr>Determinar o Orçamento</vt:lpstr>
      <vt:lpstr>Apresentação do PowerPoint</vt:lpstr>
      <vt:lpstr>Controlar os Custos</vt:lpstr>
      <vt:lpstr>Curva S de Custos</vt:lpstr>
      <vt:lpstr>Gerenciamento do Valor Agregado (EVM)</vt:lpstr>
      <vt:lpstr>Indicadores de Desempenho de Custos</vt:lpstr>
      <vt:lpstr>Exemplo Numérico de EVM</vt:lpstr>
      <vt:lpstr>Reservas de Contingência e Gestão</vt:lpstr>
      <vt:lpstr>Papéis e Responsabilidades no Custo</vt:lpstr>
      <vt:lpstr>Boas Práticas em Gerenciamento de Custos</vt:lpstr>
      <vt:lpstr>Erros Comuns em Gerenciamento de Custos</vt:lpstr>
      <vt:lpstr>Exemplo Prático de Orçamento</vt:lpstr>
      <vt:lpstr>Exercício Prático</vt:lpstr>
      <vt:lpstr>Referências Bibliográficas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CLAUDIO ETELVINO DE LIMA</cp:lastModifiedBy>
  <cp:revision>2</cp:revision>
  <dcterms:created xsi:type="dcterms:W3CDTF">2013-01-27T09:14:16Z</dcterms:created>
  <dcterms:modified xsi:type="dcterms:W3CDTF">2026-08-02T12:39:26Z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0x010100134A09C3E02A604AA8862569A8596A32</vt:lpwstr>
  </property>
</Properties>
</file>