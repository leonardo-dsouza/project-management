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320" r:id="rId4"/>
    <p:sldId id="283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3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58" r:id="rId22"/>
    <p:sldId id="260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15D5B-2E8C-44DD-84B4-2EB80A798FD7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299D8-0834-4A78-BD9A-90C61612D8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135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66CF90-E1AA-412A-9CDD-C716CC477E2B}" type="slidenum">
              <a:rPr lang="pt-BR" altLang="pt-BR"/>
              <a:pPr/>
              <a:t>2</a:t>
            </a:fld>
            <a:endParaRPr lang="pt-BR" altLang="pt-BR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18554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10B141BF-239C-4BD4-900C-98D31892A6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B333B25-0D71-48AD-8C9B-E21CAC2CB3DF}" type="slidenum">
              <a:rPr lang="pt-BR" altLang="pt-BR"/>
              <a:pPr/>
              <a:t>21</a:t>
            </a:fld>
            <a:endParaRPr lang="pt-BR" altLang="pt-BR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619ECABB-7BE8-40D5-8304-80DF308DE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2F3E301-37B1-43BB-B7DC-5247CDBB3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09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119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60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19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319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3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06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41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06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99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E50AD-83CB-4FD0-8108-7CB66CE3A46C}" type="datetimeFigureOut">
              <a:rPr lang="pt-BR" smtClean="0"/>
              <a:t>31/05/2020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63662-0B0B-4908-A24B-F8DE4B6E18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87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Gestão de Governança de TI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Claudio Lima</a:t>
            </a:r>
          </a:p>
        </p:txBody>
      </p:sp>
    </p:spTree>
    <p:extLst>
      <p:ext uri="{BB962C8B-B14F-4D97-AF65-F5344CB8AC3E}">
        <p14:creationId xmlns:p14="http://schemas.microsoft.com/office/powerpoint/2010/main" val="113542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287688" y="2564905"/>
            <a:ext cx="5760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ITIL</a:t>
            </a:r>
          </a:p>
        </p:txBody>
      </p:sp>
    </p:spTree>
    <p:extLst>
      <p:ext uri="{BB962C8B-B14F-4D97-AF65-F5344CB8AC3E}">
        <p14:creationId xmlns:p14="http://schemas.microsoft.com/office/powerpoint/2010/main" val="3626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til - para quem precisa saber para ontem: 2016">
            <a:extLst>
              <a:ext uri="{FF2B5EF4-FFF2-40B4-BE49-F238E27FC236}">
                <a16:creationId xmlns:a16="http://schemas.microsoft.com/office/drawing/2014/main" id="{ECE96965-F1E6-4EDF-8939-ECB5D3098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10618" y="1955831"/>
            <a:ext cx="7385076" cy="465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D672CF0-5BB8-4E2E-9177-D7305394C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7195"/>
            <a:ext cx="12083877" cy="1798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1" algn="just">
              <a:spcBef>
                <a:spcPct val="20000"/>
              </a:spcBef>
              <a:defRPr/>
            </a:pPr>
            <a:r>
              <a:rPr lang="pt-BR" sz="2400" dirty="0"/>
              <a:t>Em virtude do cenário, onde a TI aparece com grande importância par o negócio da empresa, buscando por otimização de seus processos e redução de custo e riscos, vários estruturas de processos e boas práticas foram criadas.</a:t>
            </a:r>
          </a:p>
        </p:txBody>
      </p:sp>
    </p:spTree>
    <p:extLst>
      <p:ext uri="{BB962C8B-B14F-4D97-AF65-F5344CB8AC3E}">
        <p14:creationId xmlns:p14="http://schemas.microsoft.com/office/powerpoint/2010/main" val="305961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9A13DE7-9379-4CBA-8D63-702B25E55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630364"/>
            <a:ext cx="878522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pt-BR" sz="3200" b="1" dirty="0"/>
              <a:t>Boas Práticas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pt-BR" sz="2800" dirty="0"/>
              <a:t>São atividades ou processos utilizados com sucesso por muitas Organizações;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pt-BR" sz="2800" dirty="0"/>
              <a:t>ITIL® é um exemplo de boas práticas.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9113" y="15206"/>
            <a:ext cx="11410122" cy="1325563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à ITIL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4070" y="1340769"/>
            <a:ext cx="11675163" cy="490100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Biblioteca da Infraestrutura de TI;</a:t>
            </a:r>
          </a:p>
          <a:p>
            <a:r>
              <a:rPr lang="pt-BR" dirty="0"/>
              <a:t>A ITIL foi desenvolvida inicialmente pela CCTA </a:t>
            </a:r>
            <a:r>
              <a:rPr lang="pt-BR" sz="2700" dirty="0"/>
              <a:t>(</a:t>
            </a:r>
            <a:r>
              <a:rPr lang="es-ES" dirty="0"/>
              <a:t>Agencia Central de Informática e Telecomunicações</a:t>
            </a:r>
            <a:r>
              <a:rPr lang="pt-BR" sz="2700" dirty="0"/>
              <a:t>) </a:t>
            </a:r>
            <a:r>
              <a:rPr lang="pt-BR" dirty="0"/>
              <a:t>;</a:t>
            </a:r>
          </a:p>
          <a:p>
            <a:r>
              <a:rPr lang="pt-BR" dirty="0"/>
              <a:t>Hoje está sob domínio do OGC;</a:t>
            </a:r>
          </a:p>
          <a:p>
            <a:pPr algn="just"/>
            <a:r>
              <a:rPr lang="pt-BR" dirty="0"/>
              <a:t>O OGC é órgão do Governo britânico que tem como </a:t>
            </a:r>
            <a:r>
              <a:rPr lang="pt-BR" b="1" dirty="0"/>
              <a:t>objetivo desenvolver metodologias</a:t>
            </a:r>
            <a:r>
              <a:rPr lang="pt-BR" dirty="0"/>
              <a:t> e </a:t>
            </a:r>
            <a:r>
              <a:rPr lang="pt-BR" i="1" dirty="0"/>
              <a:t>criar padrões </a:t>
            </a:r>
            <a:r>
              <a:rPr lang="pt-BR" dirty="0"/>
              <a:t>dentro dos departamentos do governo britânico, </a:t>
            </a:r>
            <a:r>
              <a:rPr lang="pt-BR" b="1" i="1" dirty="0"/>
              <a:t>buscando otimizar e melhorar os processos internos</a:t>
            </a:r>
            <a:r>
              <a:rPr lang="pt-BR" dirty="0"/>
              <a:t>;</a:t>
            </a:r>
          </a:p>
          <a:p>
            <a:pPr algn="just"/>
            <a:r>
              <a:rPr lang="pt-BR" dirty="0"/>
              <a:t>Grande dependência da TI para os negócios faz com que os gestores de TI busquem a </a:t>
            </a:r>
            <a:r>
              <a:rPr lang="pt-BR" b="1" dirty="0">
                <a:solidFill>
                  <a:srgbClr val="FF0000"/>
                </a:solidFill>
              </a:rPr>
              <a:t>adoção da melhores práticas</a:t>
            </a:r>
            <a:r>
              <a:rPr lang="pt-BR" dirty="0"/>
              <a:t> com o objetivo de trazer resultados positivos, como redução de custos e agilidade em seus processos. </a:t>
            </a:r>
          </a:p>
          <a:p>
            <a:pPr algn="just"/>
            <a:r>
              <a:rPr lang="pt-BR" dirty="0"/>
              <a:t>Versão atual, a ITIL 4, foi lançada </a:t>
            </a:r>
            <a:r>
              <a:rPr lang="pt-BR"/>
              <a:t>em 2019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247124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30017" y="0"/>
            <a:ext cx="8580783" cy="1052736"/>
          </a:xfrm>
        </p:spPr>
        <p:txBody>
          <a:bodyPr/>
          <a:lstStyle/>
          <a:p>
            <a:r>
              <a:rPr lang="pt-B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Razão para adotar a ITIL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330" y="781711"/>
            <a:ext cx="8958470" cy="6076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291872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3095" y="404665"/>
            <a:ext cx="11224591" cy="5721499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Não existe uma certificação ITIL para as empresas, apenas para profissionais;</a:t>
            </a:r>
          </a:p>
          <a:p>
            <a:pPr algn="just"/>
            <a:r>
              <a:rPr lang="pt-BR" dirty="0"/>
              <a:t>Empresas que quiserem obter selo ou certificação para os processos de TI poderão se certificar com base na ISO/IEC 20000;</a:t>
            </a:r>
          </a:p>
          <a:p>
            <a:pPr algn="just"/>
            <a:r>
              <a:rPr lang="pt-BR" dirty="0"/>
              <a:t>A ISO/IEC 20000 propôs estabelecer os requisitos mínimos que um provedor de serviços de TI estabelecido e controlado.</a:t>
            </a:r>
          </a:p>
          <a:p>
            <a:pPr algn="just"/>
            <a:r>
              <a:rPr lang="pt-BR" dirty="0"/>
              <a:t>Organização que adota as práticas da ITIL terá facilidade em conseguir a certificação ISO/IEC 20000. 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123463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Posicionamento da ITIL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361546"/>
            <a:ext cx="7234188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307592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97496" y="0"/>
            <a:ext cx="8713304" cy="980728"/>
          </a:xfrm>
        </p:spPr>
        <p:txBody>
          <a:bodyPr>
            <a:normAutofit/>
          </a:bodyPr>
          <a:lstStyle/>
          <a:p>
            <a:r>
              <a:rPr lang="pt-BR" dirty="0"/>
              <a:t>Alguns caso de Sucesso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61" y="846003"/>
            <a:ext cx="8460432" cy="5740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109033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4655"/>
            <a:ext cx="12192000" cy="850106"/>
          </a:xfrm>
        </p:spPr>
        <p:txBody>
          <a:bodyPr/>
          <a:lstStyle/>
          <a:p>
            <a:pPr algn="ctr"/>
            <a:r>
              <a:rPr lang="pt-BR" dirty="0"/>
              <a:t>Evolução da ITIL 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/>
              <a:t>GTI - Profº Claudio Lima</a:t>
            </a:r>
          </a:p>
        </p:txBody>
      </p:sp>
      <p:pic>
        <p:nvPicPr>
          <p:cNvPr id="4" name="Picture 4" descr="Nova versão do framework ITIL® será lançada em 2019">
            <a:extLst>
              <a:ext uri="{FF2B5EF4-FFF2-40B4-BE49-F238E27FC236}">
                <a16:creationId xmlns:a16="http://schemas.microsoft.com/office/drawing/2014/main" id="{4E0A9B5E-FC0B-403C-92E0-7538A8C82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26" y="634218"/>
            <a:ext cx="10944665" cy="622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598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Motivadores para a ITIL V3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571" y="1284119"/>
            <a:ext cx="8870858" cy="5437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239929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  <p:pic>
        <p:nvPicPr>
          <p:cNvPr id="3080" name="Picture 8" descr="Itil - para quem precisa saber para ontem: Funções, processos e ...">
            <a:extLst>
              <a:ext uri="{FF2B5EF4-FFF2-40B4-BE49-F238E27FC236}">
                <a16:creationId xmlns:a16="http://schemas.microsoft.com/office/drawing/2014/main" id="{D615BB68-6FA8-4FBB-ABA9-1D0D7B604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035" y="377764"/>
            <a:ext cx="8268800" cy="610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14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  <p:pic>
        <p:nvPicPr>
          <p:cNvPr id="4098" name="Picture 2" descr="Feras S.I UFAM: ITIL (Information Technology Infrastructure Library)">
            <a:extLst>
              <a:ext uri="{FF2B5EF4-FFF2-40B4-BE49-F238E27FC236}">
                <a16:creationId xmlns:a16="http://schemas.microsoft.com/office/drawing/2014/main" id="{D7898084-4D27-45D0-8108-3C3A8C556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780" y="136525"/>
            <a:ext cx="8388329" cy="579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674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Organizações envolvidas na ITIL V3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577" y="1268760"/>
            <a:ext cx="7460976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90703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22114"/>
          </a:xfrm>
        </p:spPr>
        <p:txBody>
          <a:bodyPr>
            <a:noAutofit/>
          </a:bodyPr>
          <a:lstStyle/>
          <a:p>
            <a:r>
              <a:rPr lang="pt-BR" sz="3600" dirty="0"/>
              <a:t>Esquema de qualificação profissional na ITIL V3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1" y="1196752"/>
            <a:ext cx="8369953" cy="550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1185698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>
            <a:normAutofit/>
          </a:bodyPr>
          <a:lstStyle/>
          <a:p>
            <a:r>
              <a:rPr lang="pt-BR" dirty="0"/>
              <a:t>Nível ITIL V3 Foundation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908720"/>
            <a:ext cx="7770862" cy="5789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1430789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78098"/>
          </a:xfrm>
        </p:spPr>
        <p:txBody>
          <a:bodyPr/>
          <a:lstStyle/>
          <a:p>
            <a:r>
              <a:rPr lang="pt-BR" dirty="0"/>
              <a:t>Nível ITIL V3 Intermediário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358" y="1052736"/>
            <a:ext cx="7826894" cy="5642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886599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Nível ITIL V3 Expert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271587"/>
            <a:ext cx="8394556" cy="5311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840391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da Certificação ITIL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Certificações mais valorizadas no mercado;</a:t>
            </a:r>
          </a:p>
          <a:p>
            <a:r>
              <a:rPr lang="pt-BR" dirty="0"/>
              <a:t>Aumenta suas habilidades e melhora o desempenho no seu trabalho;</a:t>
            </a:r>
          </a:p>
          <a:p>
            <a:r>
              <a:rPr lang="pt-BR" dirty="0"/>
              <a:t>Candidatar-se a vagas de emprego que exigem esta certificação;</a:t>
            </a:r>
          </a:p>
          <a:p>
            <a:r>
              <a:rPr lang="pt-BR" dirty="0"/>
              <a:t>Reconhecimento profissional e networking com outros profissionais.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</p:spTree>
    <p:extLst>
      <p:ext uri="{BB962C8B-B14F-4D97-AF65-F5344CB8AC3E}">
        <p14:creationId xmlns:p14="http://schemas.microsoft.com/office/powerpoint/2010/main" val="3750497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Mercado de Trabalho para profissionais certificados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GTI - Profº Claudio Lima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232" y="1628800"/>
            <a:ext cx="8954798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511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 descr="Service Strategy">
            <a:extLst>
              <a:ext uri="{FF2B5EF4-FFF2-40B4-BE49-F238E27FC236}">
                <a16:creationId xmlns:a16="http://schemas.microsoft.com/office/drawing/2014/main" id="{0851C7EE-6614-4405-AE2C-200DAAE4A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4" y="1989139"/>
            <a:ext cx="2668587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TIL V3 Diagram">
            <a:extLst>
              <a:ext uri="{FF2B5EF4-FFF2-40B4-BE49-F238E27FC236}">
                <a16:creationId xmlns:a16="http://schemas.microsoft.com/office/drawing/2014/main" id="{DD0D9FE6-FCDC-4857-9321-5350BD277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B3A74"/>
              </a:clrFrom>
              <a:clrTo>
                <a:srgbClr val="3B3A7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1628775"/>
            <a:ext cx="4211638" cy="416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C9BC813-D234-4A12-925F-F65E1AF11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0713" y="808038"/>
            <a:ext cx="82296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Estratégia de Serviço</a:t>
            </a:r>
          </a:p>
        </p:txBody>
      </p:sp>
      <p:sp>
        <p:nvSpPr>
          <p:cNvPr id="8" name="WordArt 5">
            <a:extLst>
              <a:ext uri="{FF2B5EF4-FFF2-40B4-BE49-F238E27FC236}">
                <a16:creationId xmlns:a16="http://schemas.microsoft.com/office/drawing/2014/main" id="{1158F10C-103F-4911-8021-F9521360F8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7939" y="5805489"/>
            <a:ext cx="4071937" cy="339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pt-BR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ITIL V3 Ciclo de Vida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B972BDF1-5BC6-4959-AD83-EA2B39552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213" y="260351"/>
            <a:ext cx="7772400" cy="938213"/>
          </a:xfrm>
        </p:spPr>
        <p:txBody>
          <a:bodyPr/>
          <a:lstStyle/>
          <a:p>
            <a:pPr eaLnBrk="1" hangingPunct="1"/>
            <a:r>
              <a:rPr lang="pt-BR" altLang="pt-BR" b="1"/>
              <a:t>Importante!</a:t>
            </a:r>
            <a:endParaRPr lang="pt-BR" altLang="pt-BR"/>
          </a:p>
        </p:txBody>
      </p:sp>
      <p:pic>
        <p:nvPicPr>
          <p:cNvPr id="5123" name="Picture 2">
            <a:extLst>
              <a:ext uri="{FF2B5EF4-FFF2-40B4-BE49-F238E27FC236}">
                <a16:creationId xmlns:a16="http://schemas.microsoft.com/office/drawing/2014/main" id="{19F0F2A3-77B9-41D8-A68F-BF6348B56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484313"/>
            <a:ext cx="8040688" cy="460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4" name="Espaço Reservado para Rodapé 2">
            <a:extLst>
              <a:ext uri="{FF2B5EF4-FFF2-40B4-BE49-F238E27FC236}">
                <a16:creationId xmlns:a16="http://schemas.microsoft.com/office/drawing/2014/main" id="{81EBBA87-F864-4F97-A87A-328095D0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dirty="0"/>
              <a:t>Claudio Lima - GTTI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>
            <a:extLst>
              <a:ext uri="{FF2B5EF4-FFF2-40B4-BE49-F238E27FC236}">
                <a16:creationId xmlns:a16="http://schemas.microsoft.com/office/drawing/2014/main" id="{BFE2B588-C16E-4E2A-A7D7-8D096901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Processos da Estratégia de Serviço</a:t>
            </a:r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93BCF8-00B9-4BEC-85EC-33505E7F3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pt-BR" b="1" dirty="0"/>
              <a:t>Atividades da Estratégia de Serviço</a:t>
            </a:r>
          </a:p>
          <a:p>
            <a:pPr eaLnBrk="1" hangingPunct="1">
              <a:buFontTx/>
              <a:buNone/>
              <a:defRPr/>
            </a:pPr>
            <a:r>
              <a:rPr lang="pt-BR" dirty="0"/>
              <a:t>	- Definir mercado</a:t>
            </a:r>
          </a:p>
          <a:p>
            <a:pPr eaLnBrk="1" hangingPunct="1">
              <a:buFontTx/>
              <a:buNone/>
              <a:defRPr/>
            </a:pPr>
            <a:r>
              <a:rPr lang="pt-BR" dirty="0"/>
              <a:t>	- Desenvolver ofertas</a:t>
            </a:r>
          </a:p>
          <a:p>
            <a:pPr eaLnBrk="1" hangingPunct="1">
              <a:buFontTx/>
              <a:buNone/>
              <a:defRPr/>
            </a:pPr>
            <a:r>
              <a:rPr lang="pt-BR" dirty="0"/>
              <a:t>	- Desenvolver ativos estratégicos</a:t>
            </a:r>
          </a:p>
          <a:p>
            <a:pPr eaLnBrk="1" hangingPunct="1">
              <a:buFontTx/>
              <a:buNone/>
              <a:defRPr/>
            </a:pPr>
            <a:r>
              <a:rPr lang="pt-BR" dirty="0"/>
              <a:t>	- Preparar para execução</a:t>
            </a:r>
          </a:p>
          <a:p>
            <a:pPr eaLnBrk="1" hangingPunct="1">
              <a:defRPr/>
            </a:pPr>
            <a:r>
              <a:rPr lang="pt-BR" dirty="0"/>
              <a:t> </a:t>
            </a:r>
            <a:r>
              <a:rPr lang="pt-BR" b="1" dirty="0"/>
              <a:t>Processos</a:t>
            </a:r>
          </a:p>
          <a:p>
            <a:pPr eaLnBrk="1" hangingPunct="1">
              <a:buFontTx/>
              <a:buNone/>
              <a:defRPr/>
            </a:pPr>
            <a:r>
              <a:rPr lang="pt-BR" dirty="0"/>
              <a:t>	- Gerenciamento do Portfolio de Serviço</a:t>
            </a:r>
            <a:endParaRPr lang="pt-BR" b="1" dirty="0"/>
          </a:p>
          <a:p>
            <a:pPr eaLnBrk="1" hangingPunct="1">
              <a:buFontTx/>
              <a:buNone/>
              <a:defRPr/>
            </a:pPr>
            <a:r>
              <a:rPr lang="pt-BR" dirty="0"/>
              <a:t>	- Gerenciamento Financeiro</a:t>
            </a:r>
          </a:p>
          <a:p>
            <a:pPr eaLnBrk="1" hangingPunct="1">
              <a:buFontTx/>
              <a:buNone/>
              <a:defRPr/>
            </a:pPr>
            <a:r>
              <a:rPr lang="pt-BR" dirty="0"/>
              <a:t>	- Gerenciamento da Demanda </a:t>
            </a:r>
          </a:p>
        </p:txBody>
      </p:sp>
      <p:sp>
        <p:nvSpPr>
          <p:cNvPr id="8196" name="Espaço Reservado para Rodapé 3">
            <a:extLst>
              <a:ext uri="{FF2B5EF4-FFF2-40B4-BE49-F238E27FC236}">
                <a16:creationId xmlns:a16="http://schemas.microsoft.com/office/drawing/2014/main" id="{24FB2FEB-CA1F-4DA1-89D3-34E0639A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dirty="0"/>
              <a:t>Claudio Lima - GTTI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218E-C769-4817-AF80-19DAF199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b="1" dirty="0"/>
              <a:t>Atividades da Estratégia de Serviço</a:t>
            </a:r>
            <a:endParaRPr lang="pt-BR" dirty="0"/>
          </a:p>
        </p:txBody>
      </p:sp>
      <p:pic>
        <p:nvPicPr>
          <p:cNvPr id="9219" name="Picture 2">
            <a:extLst>
              <a:ext uri="{FF2B5EF4-FFF2-40B4-BE49-F238E27FC236}">
                <a16:creationId xmlns:a16="http://schemas.microsoft.com/office/drawing/2014/main" id="{3D6FF32F-6E14-4D8B-8193-55891DC2F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1412875"/>
            <a:ext cx="8577262" cy="457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0" name="Espaço Reservado para Rodapé 2">
            <a:extLst>
              <a:ext uri="{FF2B5EF4-FFF2-40B4-BE49-F238E27FC236}">
                <a16:creationId xmlns:a16="http://schemas.microsoft.com/office/drawing/2014/main" id="{AC866736-BD8F-42AF-B06D-F27CE101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dirty="0"/>
              <a:t>Claudio Lima - GTTI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26676B3-7F98-42E0-B5DB-A70AA2AAA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sz="4800" b="1"/>
              <a:t>Gerenciamento de Portfolio de Serviço</a:t>
            </a:r>
            <a:br>
              <a:rPr lang="pt-BR" sz="4800" b="1"/>
            </a:br>
            <a:r>
              <a:rPr lang="pt-BR" sz="2400" b="1"/>
              <a:t>(</a:t>
            </a:r>
            <a:r>
              <a:rPr lang="pt-BR" sz="2400" b="1" i="1"/>
              <a:t>Service Portfolio Management</a:t>
            </a:r>
            <a:r>
              <a:rPr lang="pt-BR" sz="2400" b="1"/>
              <a:t>)</a:t>
            </a:r>
          </a:p>
        </p:txBody>
      </p:sp>
      <p:pic>
        <p:nvPicPr>
          <p:cNvPr id="10243" name="Picture 5" descr="MCj02377670000[1]">
            <a:extLst>
              <a:ext uri="{FF2B5EF4-FFF2-40B4-BE49-F238E27FC236}">
                <a16:creationId xmlns:a16="http://schemas.microsoft.com/office/drawing/2014/main" id="{55DF4957-1088-4FED-A459-AD491D86492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6" y="2565400"/>
            <a:ext cx="263366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FDD6E-4AEC-4ED0-A6DC-E1645ADA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950" y="274638"/>
            <a:ext cx="85788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b="1" dirty="0"/>
              <a:t>Gerenciamento do Portfolio de Serviço</a:t>
            </a:r>
            <a:endParaRPr lang="pt-BR" dirty="0"/>
          </a:p>
        </p:txBody>
      </p:sp>
      <p:pic>
        <p:nvPicPr>
          <p:cNvPr id="11267" name="Picture 2">
            <a:extLst>
              <a:ext uri="{FF2B5EF4-FFF2-40B4-BE49-F238E27FC236}">
                <a16:creationId xmlns:a16="http://schemas.microsoft.com/office/drawing/2014/main" id="{3B92FEED-3B6C-4E1F-BF3B-D83B2EDB8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2" y="1409359"/>
            <a:ext cx="835183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EF650-AEFD-4EBE-9614-5B47CE58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6" y="274638"/>
            <a:ext cx="8435975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b="1" dirty="0"/>
              <a:t>Gerenciamento do Portfolio de Serviço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D96473-7121-4C1F-BD8B-F2A4B07A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851" y="1268413"/>
            <a:ext cx="8424863" cy="48577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pt-BR" b="1" dirty="0"/>
              <a:t>Valor para o negócio</a:t>
            </a:r>
          </a:p>
          <a:p>
            <a:pPr marL="0" indent="0">
              <a:buNone/>
              <a:defRPr/>
            </a:pPr>
            <a:r>
              <a:rPr lang="pt-BR" dirty="0"/>
              <a:t>O Portfolio de Serviço fornece uma estrutura para a tomada de decisão que ajudará a responder aos seguintes tipos de questões:</a:t>
            </a:r>
          </a:p>
          <a:p>
            <a:pPr marL="0" indent="0">
              <a:buNone/>
              <a:defRPr/>
            </a:pPr>
            <a:r>
              <a:rPr lang="pt-BR" dirty="0"/>
              <a:t>  - Por que um cliente compraria estes serviços?</a:t>
            </a:r>
          </a:p>
          <a:p>
            <a:pPr marL="0" indent="0">
              <a:buNone/>
              <a:defRPr/>
            </a:pPr>
            <a:r>
              <a:rPr lang="pt-BR" dirty="0"/>
              <a:t>  - Por que um cliente compraria de nós?</a:t>
            </a:r>
          </a:p>
          <a:p>
            <a:pPr marL="0" indent="0">
              <a:buNone/>
              <a:defRPr/>
            </a:pPr>
            <a:r>
              <a:rPr lang="pt-BR" dirty="0"/>
              <a:t>  - Qual é o preço e como serão os modelos de cobrança?</a:t>
            </a:r>
          </a:p>
          <a:p>
            <a:pPr marL="0" indent="0">
              <a:buNone/>
              <a:defRPr/>
            </a:pPr>
            <a:r>
              <a:rPr lang="pt-BR" dirty="0"/>
              <a:t>  - Quais são os nossos pontos na matriz SWOT?</a:t>
            </a:r>
          </a:p>
          <a:p>
            <a:pPr marL="0" indent="0">
              <a:buNone/>
              <a:defRPr/>
            </a:pPr>
            <a:r>
              <a:rPr lang="pt-BR" dirty="0"/>
              <a:t>  - Como os recursos e habilidades devem ser alocados?</a:t>
            </a:r>
          </a:p>
          <a:p>
            <a:pPr marL="0" indent="0">
              <a:buNone/>
              <a:defRPr/>
            </a:pPr>
            <a:r>
              <a:rPr lang="pt-BR" dirty="0"/>
              <a:t>O Portfolio de Serviço dá à organização a habilidade de antecipar mudanças.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E3658-24AF-44AB-AD86-6454422F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274638"/>
            <a:ext cx="8507412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b="1" dirty="0"/>
              <a:t>Gerenciamento do Portfolio de Serviço</a:t>
            </a:r>
            <a:endParaRPr lang="pt-BR" dirty="0"/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BFFF4027-7E95-4822-A6FC-6103CD9C1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1341439"/>
            <a:ext cx="6318250" cy="526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657BF-2D39-489D-A490-69C6B705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274638"/>
            <a:ext cx="836295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b="1" dirty="0"/>
              <a:t>Gerenciamento do Portfolio de Serviço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83F2B0-00F3-40FD-B7DD-6F431B1DB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pt-BR" b="1" dirty="0"/>
              <a:t>Papéis</a:t>
            </a:r>
          </a:p>
          <a:p>
            <a:pPr eaLnBrk="1" hangingPunct="1">
              <a:defRPr/>
            </a:pPr>
            <a:r>
              <a:rPr lang="pt-BR" dirty="0"/>
              <a:t>Gerente de Produto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dirty="0"/>
              <a:t>Gerencia serviços como se fossem um produto através do ciclo de vida; 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dirty="0"/>
              <a:t>Trabalha muito próximo com os Gerentes de Relacionamento de Negócio – foca no portfolio do cliente;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dirty="0"/>
              <a:t>Reconhecido com um especialista nas linhas de serviço;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dirty="0"/>
              <a:t>Avalia novas oportunidades de mercado, modelos de</a:t>
            </a:r>
          </a:p>
          <a:p>
            <a:pPr marL="0" indent="0">
              <a:buNone/>
              <a:defRPr/>
            </a:pPr>
            <a:r>
              <a:rPr lang="pt-BR" dirty="0"/>
              <a:t>operação, tecnologias e necessidades emergentes dos</a:t>
            </a:r>
          </a:p>
          <a:p>
            <a:pPr marL="0" indent="0">
              <a:buNone/>
              <a:defRPr/>
            </a:pPr>
            <a:r>
              <a:rPr lang="pt-BR" dirty="0"/>
              <a:t>Clientes.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3BF7564B-6A68-4DEE-BDE8-BC9C30447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1557339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pt-BR" sz="6000" b="1" dirty="0">
                <a:latin typeface="+mj-lt"/>
                <a:ea typeface="+mj-ea"/>
                <a:cs typeface="+mj-cs"/>
              </a:rPr>
              <a:t>Gerenciamento</a:t>
            </a:r>
            <a:r>
              <a:rPr lang="pt-BR" sz="4800" b="1" dirty="0">
                <a:latin typeface="+mj-lt"/>
                <a:ea typeface="+mj-ea"/>
                <a:cs typeface="+mj-cs"/>
              </a:rPr>
              <a:t> </a:t>
            </a:r>
            <a:br>
              <a:rPr lang="pt-BR" sz="4800" b="1" dirty="0">
                <a:latin typeface="+mj-lt"/>
                <a:ea typeface="+mj-ea"/>
                <a:cs typeface="+mj-cs"/>
              </a:rPr>
            </a:br>
            <a:r>
              <a:rPr lang="pt-BR" sz="4800" b="1" dirty="0">
                <a:latin typeface="+mj-lt"/>
                <a:ea typeface="+mj-ea"/>
                <a:cs typeface="+mj-cs"/>
              </a:rPr>
              <a:t>Financeiro</a:t>
            </a:r>
            <a:br>
              <a:rPr lang="pt-BR" sz="4800" b="1" dirty="0">
                <a:latin typeface="+mj-lt"/>
                <a:ea typeface="+mj-ea"/>
                <a:cs typeface="+mj-cs"/>
              </a:rPr>
            </a:br>
            <a:r>
              <a:rPr lang="pt-BR" sz="2400" b="1" dirty="0">
                <a:latin typeface="+mj-lt"/>
                <a:ea typeface="+mj-ea"/>
                <a:cs typeface="+mj-cs"/>
              </a:rPr>
              <a:t>(</a:t>
            </a:r>
            <a:r>
              <a:rPr lang="pt-BR" sz="2400" b="1" i="1" dirty="0">
                <a:latin typeface="+mj-lt"/>
                <a:ea typeface="+mj-ea"/>
                <a:cs typeface="+mj-cs"/>
              </a:rPr>
              <a:t>Financial Management</a:t>
            </a:r>
            <a:r>
              <a:rPr lang="pt-BR" sz="2400" b="1" dirty="0"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15363" name="Picture 3" descr="MCj04338080000[1]">
            <a:extLst>
              <a:ext uri="{FF2B5EF4-FFF2-40B4-BE49-F238E27FC236}">
                <a16:creationId xmlns:a16="http://schemas.microsoft.com/office/drawing/2014/main" id="{3F41F68D-C2EE-46C8-A440-F3B138843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3575050"/>
            <a:ext cx="2590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>
            <a:extLst>
              <a:ext uri="{FF2B5EF4-FFF2-40B4-BE49-F238E27FC236}">
                <a16:creationId xmlns:a16="http://schemas.microsoft.com/office/drawing/2014/main" id="{7D13DC04-9099-48AB-989B-09747461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9"/>
            <a:ext cx="12192000" cy="777875"/>
          </a:xfrm>
        </p:spPr>
        <p:txBody>
          <a:bodyPr/>
          <a:lstStyle/>
          <a:p>
            <a:pPr algn="ctr" eaLnBrk="1" hangingPunct="1"/>
            <a:r>
              <a:rPr lang="pt-BR" alt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Financeiro</a:t>
            </a:r>
            <a:endParaRPr lang="pt-BR" altLang="pt-B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1E58B-E47A-44B3-998C-55A1C182E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81076"/>
            <a:ext cx="11290851" cy="54006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pt-BR" b="1" dirty="0"/>
              <a:t>Objetivos</a:t>
            </a:r>
          </a:p>
          <a:p>
            <a:pPr eaLnBrk="1" hangingPunct="1">
              <a:defRPr/>
            </a:pPr>
            <a:r>
              <a:rPr lang="pt-BR" dirty="0"/>
              <a:t> É responsável por entender os custos envolvidos na previsão de serviços de TI, valor dos serviços de TI e valor dos ativos usados para fornecer os serviços</a:t>
            </a:r>
          </a:p>
          <a:p>
            <a:pPr eaLnBrk="1" hangingPunct="1">
              <a:defRPr/>
            </a:pPr>
            <a:r>
              <a:rPr lang="pt-BR" dirty="0"/>
              <a:t> Responsável por assegurar fundos necessários para a entrega dos serviços</a:t>
            </a:r>
          </a:p>
          <a:p>
            <a:pPr marL="0" indent="0">
              <a:buNone/>
              <a:defRPr/>
            </a:pPr>
            <a:r>
              <a:rPr lang="pt-BR" b="1" dirty="0"/>
              <a:t>Atividades básicas</a:t>
            </a:r>
          </a:p>
          <a:p>
            <a:pPr eaLnBrk="1" hangingPunct="1">
              <a:defRPr/>
            </a:pPr>
            <a:r>
              <a:rPr lang="pt-BR" dirty="0"/>
              <a:t> Elaboração de orçamento</a:t>
            </a:r>
          </a:p>
          <a:p>
            <a:pPr eaLnBrk="1" hangingPunct="1">
              <a:defRPr/>
            </a:pPr>
            <a:r>
              <a:rPr lang="pt-BR" dirty="0"/>
              <a:t> Contabilidade</a:t>
            </a:r>
          </a:p>
          <a:p>
            <a:pPr eaLnBrk="1" hangingPunct="1">
              <a:defRPr/>
            </a:pPr>
            <a:r>
              <a:rPr lang="pt-BR" dirty="0"/>
              <a:t> Cobrança</a:t>
            </a:r>
          </a:p>
          <a:p>
            <a:pPr>
              <a:defRPr/>
            </a:pPr>
            <a:r>
              <a:rPr lang="pt-BR" dirty="0"/>
              <a:t>Validação de Serviço</a:t>
            </a:r>
          </a:p>
          <a:p>
            <a:pPr eaLnBrk="1" hangingPunct="1">
              <a:defRPr/>
            </a:pPr>
            <a:r>
              <a:rPr lang="pt-BR" dirty="0"/>
              <a:t> Análise de Impacto no Negócio 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ítulo 1">
            <a:extLst>
              <a:ext uri="{FF2B5EF4-FFF2-40B4-BE49-F238E27FC236}">
                <a16:creationId xmlns:a16="http://schemas.microsoft.com/office/drawing/2014/main" id="{354C154B-1244-4175-9256-21BCAECE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9"/>
            <a:ext cx="12192000" cy="993775"/>
          </a:xfrm>
        </p:spPr>
        <p:txBody>
          <a:bodyPr/>
          <a:lstStyle/>
          <a:p>
            <a:pPr algn="ctr" eaLnBrk="1" hangingPunct="1"/>
            <a:r>
              <a:rPr lang="pt-BR" alt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Financeiro</a:t>
            </a:r>
            <a:endParaRPr lang="pt-BR" altLang="pt-B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5093EFDF-7A77-4574-927A-32966F582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89" y="1196976"/>
            <a:ext cx="8315325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AB4744D-5C73-4066-B9A5-72D9E82BC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05251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pt-BR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Gerenciamento da Demanda</a:t>
            </a:r>
            <a:br>
              <a:rPr lang="pt-B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pt-B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(</a:t>
            </a:r>
            <a:r>
              <a:rPr lang="pt-BR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Demand</a:t>
            </a:r>
            <a:r>
              <a:rPr lang="pt-BR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 Management)</a:t>
            </a:r>
          </a:p>
        </p:txBody>
      </p:sp>
      <p:pic>
        <p:nvPicPr>
          <p:cNvPr id="18435" name="Picture 6" descr="MCj02317880000[1]">
            <a:extLst>
              <a:ext uri="{FF2B5EF4-FFF2-40B4-BE49-F238E27FC236}">
                <a16:creationId xmlns:a16="http://schemas.microsoft.com/office/drawing/2014/main" id="{23AE4661-67D5-4F9A-A8B3-CAE948643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3213100"/>
            <a:ext cx="5688012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>
            <a:extLst>
              <a:ext uri="{FF2B5EF4-FFF2-40B4-BE49-F238E27FC236}">
                <a16:creationId xmlns:a16="http://schemas.microsoft.com/office/drawing/2014/main" id="{CC8A115C-3284-44E6-B9D3-12C6D41C1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888"/>
            <a:ext cx="12192000" cy="779462"/>
          </a:xfrm>
        </p:spPr>
        <p:txBody>
          <a:bodyPr/>
          <a:lstStyle/>
          <a:p>
            <a:pPr algn="ctr" eaLnBrk="1" hangingPunct="1"/>
            <a:r>
              <a:rPr lang="pt-BR" altLang="pt-BR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da Demanda</a:t>
            </a:r>
            <a:endParaRPr lang="pt-BR" altLang="pt-BR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554833-2AA5-4354-ADFD-C4438278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981075"/>
            <a:ext cx="11317356" cy="4032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pt-BR" dirty="0"/>
              <a:t>O Gerenciamento da Demanda vai predizer as vendas dos produtos ou serviços.</a:t>
            </a:r>
          </a:p>
          <a:p>
            <a:pPr marL="0" indent="0">
              <a:buNone/>
              <a:defRPr/>
            </a:pPr>
            <a:r>
              <a:rPr lang="pt-BR" b="1" dirty="0"/>
              <a:t>Objetivos</a:t>
            </a:r>
          </a:p>
          <a:p>
            <a:pPr eaLnBrk="1" hangingPunct="1">
              <a:defRPr/>
            </a:pPr>
            <a:r>
              <a:rPr lang="pt-BR" dirty="0"/>
              <a:t> Analisa, rastreia, monitora e documenta os Padrões de Atividade do Negócio para prever as atuais e futuras demandas por serviços;</a:t>
            </a:r>
          </a:p>
          <a:p>
            <a:pPr eaLnBrk="1" hangingPunct="1">
              <a:defRPr/>
            </a:pPr>
            <a:r>
              <a:rPr lang="pt-BR" dirty="0"/>
              <a:t> Reduz o risco da indisponibilidade devida à falta de Gerenciamento da Demanda</a:t>
            </a:r>
          </a:p>
          <a:p>
            <a:pPr eaLnBrk="1" hangingPunct="1">
              <a:defRPr/>
            </a:pPr>
            <a:r>
              <a:rPr lang="pt-BR" dirty="0"/>
              <a:t> Gerencia custo e criar valor reduzindo o excesso de capacidade</a:t>
            </a:r>
          </a:p>
          <a:p>
            <a:pPr eaLnBrk="1" hangingPunct="1">
              <a:defRPr/>
            </a:pPr>
            <a:r>
              <a:rPr lang="pt-BR" dirty="0"/>
              <a:t> Equilibra fornecimento X demanda de recursos</a:t>
            </a:r>
          </a:p>
          <a:p>
            <a:pPr eaLnBrk="1" hangingPunct="1">
              <a:defRPr/>
            </a:pPr>
            <a:r>
              <a:rPr lang="pt-BR" dirty="0"/>
              <a:t> Garante que a qualidade dos serviços está sendo mantida com capacidade suficiente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4FACA5D9-6AF0-43BB-BBEC-4C6851F99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9" y="4695826"/>
            <a:ext cx="692467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1" name="Espaço Reservado para Rodapé 3">
            <a:extLst>
              <a:ext uri="{FF2B5EF4-FFF2-40B4-BE49-F238E27FC236}">
                <a16:creationId xmlns:a16="http://schemas.microsoft.com/office/drawing/2014/main" id="{4621E6A6-F923-46E5-A775-95495C6D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/>
              <a:t>Claudio Lima - GTI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>
            <a:extLst>
              <a:ext uri="{FF2B5EF4-FFF2-40B4-BE49-F238E27FC236}">
                <a16:creationId xmlns:a16="http://schemas.microsoft.com/office/drawing/2014/main" id="{1E01122F-CBFB-463F-9DAB-9C9C47BD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Gerenciamento da Demanda</a:t>
            </a:r>
            <a:endParaRPr lang="pt-BR" alt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09E90-BC4C-44D6-BABE-CC9B129C3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640"/>
            <a:ext cx="9865760" cy="471328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pt-BR" sz="3000" b="1" dirty="0"/>
              <a:t>Papéis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sz="3000" dirty="0"/>
              <a:t>Gerente de Demanda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sz="3000" dirty="0"/>
              <a:t>Cria e gerencia políticas de incentivos e penalidades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sz="3000" dirty="0"/>
              <a:t>Participa na criação dos Acordos de Nível de Serviço (</a:t>
            </a:r>
            <a:r>
              <a:rPr lang="pt-BR" sz="3000" dirty="0" err="1"/>
              <a:t>SLAs</a:t>
            </a:r>
            <a:r>
              <a:rPr lang="pt-BR" sz="3000" dirty="0"/>
              <a:t>)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sz="3000" dirty="0"/>
              <a:t>Monitora toda a demanda e capacidade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pt-BR" sz="3000" dirty="0"/>
              <a:t>Gerencia recursos do processo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pt-BR" sz="3000" dirty="0"/>
              <a:t>Responde às mudanças no PAN(</a:t>
            </a:r>
            <a:r>
              <a:rPr lang="pt-BR" sz="3200" dirty="0"/>
              <a:t>Padrões de Atividade do Negócio)</a:t>
            </a:r>
            <a:endParaRPr lang="pt-BR" sz="3000" dirty="0"/>
          </a:p>
        </p:txBody>
      </p:sp>
      <p:sp>
        <p:nvSpPr>
          <p:cNvPr id="20484" name="Espaço Reservado para Rodapé 3">
            <a:extLst>
              <a:ext uri="{FF2B5EF4-FFF2-40B4-BE49-F238E27FC236}">
                <a16:creationId xmlns:a16="http://schemas.microsoft.com/office/drawing/2014/main" id="{CAAC9ED6-7D04-42EC-899A-75350B6D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dirty="0"/>
              <a:t>Claudio Lima - GTI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65B1D9A-C93F-4C09-9BB2-44CFC95F7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 b="1"/>
              <a:t>Desenho de Serviço</a:t>
            </a:r>
          </a:p>
        </p:txBody>
      </p:sp>
      <p:pic>
        <p:nvPicPr>
          <p:cNvPr id="2051" name="Picture 3" descr="ITIL_Service Design">
            <a:extLst>
              <a:ext uri="{FF2B5EF4-FFF2-40B4-BE49-F238E27FC236}">
                <a16:creationId xmlns:a16="http://schemas.microsoft.com/office/drawing/2014/main" id="{EFA308BB-B81F-4461-8E05-3059C79AF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2349501"/>
            <a:ext cx="2682875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ITIL V3 Diagram">
            <a:extLst>
              <a:ext uri="{FF2B5EF4-FFF2-40B4-BE49-F238E27FC236}">
                <a16:creationId xmlns:a16="http://schemas.microsoft.com/office/drawing/2014/main" id="{4E9AD0C6-AC64-479D-A55F-6F9E37338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3B3A74"/>
              </a:clrFrom>
              <a:clrTo>
                <a:srgbClr val="3B3A7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916113"/>
            <a:ext cx="3798888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BAB5141A-BD33-462B-BEBA-A5300E86E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1557339"/>
            <a:ext cx="2160588" cy="1081087"/>
          </a:xfrm>
          <a:prstGeom prst="wedgeEllipseCallout">
            <a:avLst>
              <a:gd name="adj1" fmla="val -90412"/>
              <a:gd name="adj2" fmla="val 93468"/>
            </a:avLst>
          </a:pr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chemeClr val="bg1"/>
                </a:solidFill>
                <a:latin typeface="Arial" panose="020B0604020202020204" pitchFamily="34" charset="0"/>
              </a:rPr>
              <a:t>Fase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chemeClr val="bg1"/>
                </a:solidFill>
                <a:latin typeface="Arial" panose="020B0604020202020204" pitchFamily="34" charset="0"/>
              </a:rPr>
              <a:t>DESENHO DE SERVIÇO</a:t>
            </a:r>
          </a:p>
        </p:txBody>
      </p:sp>
      <p:sp>
        <p:nvSpPr>
          <p:cNvPr id="8" name="WordArt 5">
            <a:extLst>
              <a:ext uri="{FF2B5EF4-FFF2-40B4-BE49-F238E27FC236}">
                <a16:creationId xmlns:a16="http://schemas.microsoft.com/office/drawing/2014/main" id="{BA7074F5-25FC-42FD-8471-9E8081AA1D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230814" y="5805488"/>
            <a:ext cx="367347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pt-BR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ITIL V3 Ciclo de Vida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A519BC03-4C4C-4B1F-8B9F-50B22BA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588" y="0"/>
            <a:ext cx="10515600" cy="1325563"/>
          </a:xfrm>
        </p:spPr>
        <p:txBody>
          <a:bodyPr/>
          <a:lstStyle/>
          <a:p>
            <a:pPr eaLnBrk="1" hangingPunct="1"/>
            <a:r>
              <a:rPr lang="pt-BR" altLang="pt-BR" b="1" dirty="0"/>
              <a:t>5 aspectos do Desenho de Serviço</a:t>
            </a:r>
            <a:endParaRPr lang="en-US" altLang="pt-BR" dirty="0"/>
          </a:p>
        </p:txBody>
      </p:sp>
      <p:pic>
        <p:nvPicPr>
          <p:cNvPr id="3075" name="Picture 2">
            <a:extLst>
              <a:ext uri="{FF2B5EF4-FFF2-40B4-BE49-F238E27FC236}">
                <a16:creationId xmlns:a16="http://schemas.microsoft.com/office/drawing/2014/main" id="{76CFD620-30D2-40A2-AE73-2C8B20500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922" y="1126781"/>
            <a:ext cx="7848600" cy="559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62455FA4-DD26-4180-9E68-1913185C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Processos do Desenho de Serviço</a:t>
            </a:r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AEFAE3-E82C-4F93-BA2C-0EFF533C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4100" name="Retângulo 4">
            <a:extLst>
              <a:ext uri="{FF2B5EF4-FFF2-40B4-BE49-F238E27FC236}">
                <a16:creationId xmlns:a16="http://schemas.microsoft.com/office/drawing/2014/main" id="{B63E6A3B-C463-449F-90B2-1F9674B65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412875"/>
            <a:ext cx="8569325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2800" dirty="0" err="1">
                <a:latin typeface="Arial" panose="020B0604020202020204" pitchFamily="34" charset="0"/>
              </a:rPr>
              <a:t>Processos</a:t>
            </a:r>
            <a:r>
              <a:rPr lang="en-US" altLang="pt-BR" sz="2800" dirty="0">
                <a:latin typeface="Arial" panose="020B0604020202020204" pitchFamily="34" charset="0"/>
              </a:rPr>
              <a:t> </a:t>
            </a:r>
            <a:r>
              <a:rPr lang="en-US" altLang="pt-BR" sz="2800" dirty="0" err="1">
                <a:latin typeface="Arial" panose="020B0604020202020204" pitchFamily="34" charset="0"/>
              </a:rPr>
              <a:t>cobertos</a:t>
            </a:r>
            <a:r>
              <a:rPr lang="en-US" altLang="pt-BR" sz="2800" dirty="0">
                <a:latin typeface="Arial" panose="020B0604020202020204" pitchFamily="34" charset="0"/>
              </a:rPr>
              <a:t> </a:t>
            </a:r>
            <a:r>
              <a:rPr lang="en-US" altLang="pt-BR" sz="2800" dirty="0" err="1">
                <a:latin typeface="Arial" panose="020B0604020202020204" pitchFamily="34" charset="0"/>
              </a:rPr>
              <a:t>nesta</a:t>
            </a:r>
            <a:r>
              <a:rPr lang="en-US" altLang="pt-BR" sz="2800" dirty="0">
                <a:latin typeface="Arial" panose="020B0604020202020204" pitchFamily="34" charset="0"/>
              </a:rPr>
              <a:t> </a:t>
            </a:r>
            <a:r>
              <a:rPr lang="en-US" altLang="pt-BR" sz="2800" dirty="0" err="1">
                <a:latin typeface="Arial" panose="020B0604020202020204" pitchFamily="34" charset="0"/>
              </a:rPr>
              <a:t>fase</a:t>
            </a:r>
            <a:r>
              <a:rPr lang="en-US" altLang="pt-BR" sz="2800" dirty="0"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2800" dirty="0">
                <a:latin typeface="Arial" panose="020B0604020202020204" pitchFamily="34" charset="0"/>
              </a:rPr>
              <a:t> Gerenciamento do Catálogo de Serviço</a:t>
            </a:r>
            <a:endParaRPr lang="pt-BR" altLang="pt-BR" sz="28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2800" dirty="0">
                <a:latin typeface="Arial" panose="020B0604020202020204" pitchFamily="34" charset="0"/>
              </a:rPr>
              <a:t> Gerenciamento de Nível de Serviço</a:t>
            </a:r>
          </a:p>
          <a:p>
            <a:pPr eaLnBrk="1" hangingPunct="1">
              <a:spcBef>
                <a:spcPct val="0"/>
              </a:spcBef>
            </a:pPr>
            <a:r>
              <a:rPr lang="en-US" altLang="pt-BR" sz="2800" dirty="0">
                <a:latin typeface="Arial" panose="020B0604020202020204" pitchFamily="34" charset="0"/>
              </a:rPr>
              <a:t> </a:t>
            </a:r>
            <a:r>
              <a:rPr lang="en-US" altLang="pt-BR" sz="2800" dirty="0" err="1">
                <a:latin typeface="Arial" panose="020B0604020202020204" pitchFamily="34" charset="0"/>
              </a:rPr>
              <a:t>Gerenciamento</a:t>
            </a:r>
            <a:r>
              <a:rPr lang="en-US" altLang="pt-BR" sz="2800" dirty="0">
                <a:latin typeface="Arial" panose="020B0604020202020204" pitchFamily="34" charset="0"/>
              </a:rPr>
              <a:t> da </a:t>
            </a:r>
            <a:r>
              <a:rPr lang="en-US" altLang="pt-BR" sz="2800" dirty="0" err="1">
                <a:latin typeface="Arial" panose="020B0604020202020204" pitchFamily="34" charset="0"/>
              </a:rPr>
              <a:t>Capacidade</a:t>
            </a:r>
            <a:endParaRPr lang="en-US" altLang="pt-BR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pt-BR" sz="2800" dirty="0">
                <a:latin typeface="Arial" panose="020B0604020202020204" pitchFamily="34" charset="0"/>
              </a:rPr>
              <a:t> </a:t>
            </a:r>
            <a:r>
              <a:rPr lang="en-US" altLang="pt-BR" sz="2800" dirty="0" err="1">
                <a:latin typeface="Arial" panose="020B0604020202020204" pitchFamily="34" charset="0"/>
              </a:rPr>
              <a:t>Gerenciamento</a:t>
            </a:r>
            <a:r>
              <a:rPr lang="en-US" altLang="pt-BR" sz="2800" dirty="0">
                <a:latin typeface="Arial" panose="020B0604020202020204" pitchFamily="34" charset="0"/>
              </a:rPr>
              <a:t> da </a:t>
            </a:r>
            <a:r>
              <a:rPr lang="en-US" altLang="pt-BR" sz="2800" dirty="0" err="1">
                <a:latin typeface="Arial" panose="020B0604020202020204" pitchFamily="34" charset="0"/>
              </a:rPr>
              <a:t>Disponibilidade</a:t>
            </a:r>
            <a:endParaRPr lang="en-US" altLang="pt-BR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2800" dirty="0">
                <a:latin typeface="Arial" panose="020B0604020202020204" pitchFamily="34" charset="0"/>
              </a:rPr>
              <a:t> Gerenciamento da Continuidade do Serviço de TI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2800" dirty="0">
                <a:latin typeface="Arial" panose="020B0604020202020204" pitchFamily="34" charset="0"/>
              </a:rPr>
              <a:t> Gerenciamento da Segurança da Informação</a:t>
            </a:r>
          </a:p>
          <a:p>
            <a:pPr eaLnBrk="1" hangingPunct="1">
              <a:spcBef>
                <a:spcPct val="0"/>
              </a:spcBef>
            </a:pPr>
            <a:r>
              <a:rPr lang="en-US" altLang="pt-BR" sz="2800" dirty="0">
                <a:latin typeface="Arial" panose="020B0604020202020204" pitchFamily="34" charset="0"/>
              </a:rPr>
              <a:t> </a:t>
            </a:r>
            <a:r>
              <a:rPr lang="en-US" altLang="pt-BR" sz="2800" dirty="0" err="1">
                <a:latin typeface="Arial" panose="020B0604020202020204" pitchFamily="34" charset="0"/>
              </a:rPr>
              <a:t>Gerenciamento</a:t>
            </a:r>
            <a:r>
              <a:rPr lang="en-US" altLang="pt-BR" sz="2800" dirty="0">
                <a:latin typeface="Arial" panose="020B0604020202020204" pitchFamily="34" charset="0"/>
              </a:rPr>
              <a:t> de </a:t>
            </a:r>
            <a:r>
              <a:rPr lang="en-US" altLang="pt-BR" sz="2800" dirty="0" err="1">
                <a:latin typeface="Arial" panose="020B0604020202020204" pitchFamily="34" charset="0"/>
              </a:rPr>
              <a:t>Fornecedor</a:t>
            </a:r>
            <a:r>
              <a:rPr lang="en-US" altLang="pt-BR" sz="2800" dirty="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23C572-5384-416D-B8CE-53721C34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F333A58-9488-4725-B497-94A976CE9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12192000" cy="1143000"/>
          </a:xfrm>
          <a:noFill/>
        </p:spPr>
        <p:txBody>
          <a:bodyPr>
            <a:normAutofit/>
          </a:bodyPr>
          <a:lstStyle/>
          <a:p>
            <a:pPr algn="ctr" eaLnBrk="1" hangingPunct="1"/>
            <a:r>
              <a:rPr lang="pt-BR" altLang="pt-BR" sz="4800" b="1" dirty="0"/>
              <a:t>Gerenciamento de Catálogo de Serviço</a:t>
            </a:r>
            <a:br>
              <a:rPr lang="pt-BR" altLang="pt-BR" sz="4800" b="1" dirty="0"/>
            </a:br>
            <a:r>
              <a:rPr lang="pt-BR" altLang="pt-BR" sz="2400" b="1" dirty="0"/>
              <a:t>(</a:t>
            </a:r>
            <a:r>
              <a:rPr lang="pt-BR" altLang="pt-BR" sz="2400" b="1" i="1" dirty="0"/>
              <a:t>Service Catalogue Management</a:t>
            </a:r>
            <a:r>
              <a:rPr lang="pt-BR" altLang="pt-BR" sz="2400" b="1" dirty="0"/>
              <a:t>)</a:t>
            </a:r>
          </a:p>
        </p:txBody>
      </p:sp>
      <p:pic>
        <p:nvPicPr>
          <p:cNvPr id="5124" name="Picture 5" descr="MCj02506170000[1]">
            <a:extLst>
              <a:ext uri="{FF2B5EF4-FFF2-40B4-BE49-F238E27FC236}">
                <a16:creationId xmlns:a16="http://schemas.microsoft.com/office/drawing/2014/main" id="{5E91D2AA-CC19-4FF8-B129-2E6A06D10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4" y="2565400"/>
            <a:ext cx="3043237" cy="232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1B1F8-1EFE-44E3-B9A7-6D89B93B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13255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pt-BR" b="1" dirty="0"/>
              <a:t>Gerenciamento do Catálogo de Serviço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5B0608-6A58-4D10-8725-FAD6882B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6148" name="Picture 5">
            <a:extLst>
              <a:ext uri="{FF2B5EF4-FFF2-40B4-BE49-F238E27FC236}">
                <a16:creationId xmlns:a16="http://schemas.microsoft.com/office/drawing/2014/main" id="{6C944473-14AD-4C47-925A-4C6FCC158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731" y="1303062"/>
            <a:ext cx="9600648" cy="4757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6CAA7-06BA-4676-9CA4-B34E55853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pt-BR" b="1" dirty="0"/>
              <a:t>Gerenciamento do Catálogo de Serviço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9E6F67-8D77-4439-90FC-66DF56C35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7172" name="Picture 5">
            <a:extLst>
              <a:ext uri="{FF2B5EF4-FFF2-40B4-BE49-F238E27FC236}">
                <a16:creationId xmlns:a16="http://schemas.microsoft.com/office/drawing/2014/main" id="{03653B25-431E-417A-90AD-5AA7DD902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591" y="1325563"/>
            <a:ext cx="8172450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58992-9EC3-440D-B80E-803EB0B1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75"/>
            <a:ext cx="12192000" cy="13255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pt-BR" b="1" dirty="0"/>
              <a:t>Gerenciamento de Nível de Serviço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DB1CFC-9606-49E5-8EF3-41BD5079B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8196" name="Picture 5">
            <a:extLst>
              <a:ext uri="{FF2B5EF4-FFF2-40B4-BE49-F238E27FC236}">
                <a16:creationId xmlns:a16="http://schemas.microsoft.com/office/drawing/2014/main" id="{9E5558D5-2CC5-4C46-BC8E-1CA1D1A1C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6" y="1341438"/>
            <a:ext cx="882332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CaixaDeTexto 4">
            <a:extLst>
              <a:ext uri="{FF2B5EF4-FFF2-40B4-BE49-F238E27FC236}">
                <a16:creationId xmlns:a16="http://schemas.microsoft.com/office/drawing/2014/main" id="{77C08152-B2BA-44D3-82B1-A6A859B54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9" y="3644900"/>
            <a:ext cx="259238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>
                <a:latin typeface="Arial" panose="020B0604020202020204" pitchFamily="34" charset="0"/>
              </a:rPr>
              <a:t>(Requerimento de Nível de serviço) </a:t>
            </a:r>
            <a:endParaRPr lang="en-US" altLang="pt-BR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2D821E-D865-4A57-975D-778CCDD3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20F188-D615-4BF9-BB22-0DAA35623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3376"/>
            <a:ext cx="121920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t-BR" sz="4800" b="1" dirty="0">
                <a:latin typeface="+mj-lt"/>
                <a:ea typeface="+mj-ea"/>
                <a:cs typeface="+mj-cs"/>
              </a:rPr>
              <a:t>Gerenciamento da Disponibilidade</a:t>
            </a:r>
            <a:br>
              <a:rPr lang="pt-BR" sz="4800" b="1" dirty="0">
                <a:latin typeface="+mj-lt"/>
                <a:ea typeface="+mj-ea"/>
                <a:cs typeface="+mj-cs"/>
              </a:rPr>
            </a:br>
            <a:r>
              <a:rPr lang="pt-BR" sz="2400" b="1" dirty="0">
                <a:latin typeface="+mj-lt"/>
                <a:ea typeface="+mj-ea"/>
                <a:cs typeface="+mj-cs"/>
              </a:rPr>
              <a:t>(</a:t>
            </a:r>
            <a:r>
              <a:rPr lang="pt-BR" sz="2400" b="1" i="1" dirty="0" err="1">
                <a:latin typeface="+mj-lt"/>
                <a:ea typeface="+mj-ea"/>
                <a:cs typeface="+mj-cs"/>
              </a:rPr>
              <a:t>Availability</a:t>
            </a:r>
            <a:r>
              <a:rPr lang="pt-BR" sz="2400" b="1" i="1" dirty="0">
                <a:latin typeface="+mj-lt"/>
                <a:ea typeface="+mj-ea"/>
                <a:cs typeface="+mj-cs"/>
              </a:rPr>
              <a:t> Management</a:t>
            </a:r>
            <a:r>
              <a:rPr lang="pt-BR" sz="2400" b="1" dirty="0"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9220" name="Picture 9" descr="j0234687">
            <a:extLst>
              <a:ext uri="{FF2B5EF4-FFF2-40B4-BE49-F238E27FC236}">
                <a16:creationId xmlns:a16="http://schemas.microsoft.com/office/drawing/2014/main" id="{5755AC1C-9B14-4991-99FB-C866A23535C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113" y="2781300"/>
            <a:ext cx="3097212" cy="182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>
            <a:extLst>
              <a:ext uri="{FF2B5EF4-FFF2-40B4-BE49-F238E27FC236}">
                <a16:creationId xmlns:a16="http://schemas.microsoft.com/office/drawing/2014/main" id="{FCE3BDE7-CCDC-410D-B26C-6114C636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 eaLnBrk="1" hangingPunct="1"/>
            <a:r>
              <a:rPr lang="en-US" altLang="pt-BR" b="1" dirty="0" err="1"/>
              <a:t>Gerenciamento</a:t>
            </a:r>
            <a:r>
              <a:rPr lang="en-US" altLang="pt-BR" b="1" dirty="0"/>
              <a:t> da </a:t>
            </a:r>
            <a:r>
              <a:rPr lang="en-US" altLang="pt-BR" b="1" dirty="0" err="1"/>
              <a:t>Disponibilidade</a:t>
            </a:r>
            <a:endParaRPr lang="en-US" altLang="pt-BR" dirty="0"/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id="{BC191B5E-B7DB-4E2C-B9EC-FD34D3CC5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095" y="1251204"/>
            <a:ext cx="8649809" cy="560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>
            <a:extLst>
              <a:ext uri="{FF2B5EF4-FFF2-40B4-BE49-F238E27FC236}">
                <a16:creationId xmlns:a16="http://schemas.microsoft.com/office/drawing/2014/main" id="{C386B3EC-EF6B-4004-97D3-774B7045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936"/>
            <a:ext cx="12192000" cy="1325563"/>
          </a:xfrm>
        </p:spPr>
        <p:txBody>
          <a:bodyPr/>
          <a:lstStyle/>
          <a:p>
            <a:pPr algn="ctr" eaLnBrk="1" hangingPunct="1"/>
            <a:r>
              <a:rPr lang="en-US" altLang="pt-BR" b="1" dirty="0" err="1"/>
              <a:t>Gerenciamento</a:t>
            </a:r>
            <a:r>
              <a:rPr lang="en-US" altLang="pt-BR" b="1" dirty="0"/>
              <a:t> da </a:t>
            </a:r>
            <a:r>
              <a:rPr lang="en-US" altLang="pt-BR" b="1" dirty="0" err="1"/>
              <a:t>Disponibilidade</a:t>
            </a:r>
            <a:endParaRPr lang="en-US" alt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8CDEE8-9CE7-4FD1-AA20-5CFD747F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11268" name="Picture 5">
            <a:extLst>
              <a:ext uri="{FF2B5EF4-FFF2-40B4-BE49-F238E27FC236}">
                <a16:creationId xmlns:a16="http://schemas.microsoft.com/office/drawing/2014/main" id="{6F29E7B3-F32E-4F38-966A-2EEA24747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41439"/>
            <a:ext cx="82169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D9D270-6B9A-4999-BAD3-E055F833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5B730A7-A6C8-44B5-8090-933911581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 eaLnBrk="1" hangingPunct="1"/>
            <a:r>
              <a:rPr lang="pt-BR" altLang="pt-BR" sz="4800" b="1" dirty="0"/>
              <a:t>Gerenciamento da Capacidade</a:t>
            </a:r>
            <a:br>
              <a:rPr lang="pt-BR" altLang="pt-BR" sz="4800" b="1" dirty="0"/>
            </a:br>
            <a:r>
              <a:rPr lang="pt-BR" altLang="pt-BR" sz="2400" b="1" dirty="0"/>
              <a:t>(</a:t>
            </a:r>
            <a:r>
              <a:rPr lang="pt-BR" altLang="pt-BR" sz="2400" b="1" i="1" dirty="0" err="1"/>
              <a:t>Capacity</a:t>
            </a:r>
            <a:r>
              <a:rPr lang="pt-BR" altLang="pt-BR" sz="2400" b="1" i="1" dirty="0"/>
              <a:t> Management</a:t>
            </a:r>
            <a:r>
              <a:rPr lang="pt-BR" altLang="pt-BR" sz="2400" b="1" dirty="0"/>
              <a:t>)</a:t>
            </a:r>
          </a:p>
        </p:txBody>
      </p:sp>
      <p:pic>
        <p:nvPicPr>
          <p:cNvPr id="12292" name="Picture 4" descr="MCj04326460000[1]">
            <a:extLst>
              <a:ext uri="{FF2B5EF4-FFF2-40B4-BE49-F238E27FC236}">
                <a16:creationId xmlns:a16="http://schemas.microsoft.com/office/drawing/2014/main" id="{B52F32F6-03DC-4262-BDB6-A5837FAE0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038" y="2276475"/>
            <a:ext cx="2590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ítulo 1">
            <a:extLst>
              <a:ext uri="{FF2B5EF4-FFF2-40B4-BE49-F238E27FC236}">
                <a16:creationId xmlns:a16="http://schemas.microsoft.com/office/drawing/2014/main" id="{B0340971-102F-4A85-83A6-AF5001D7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 eaLnBrk="1" hangingPunct="1"/>
            <a:r>
              <a:rPr lang="en-US" altLang="pt-BR" b="1" dirty="0" err="1"/>
              <a:t>Gerenciamento</a:t>
            </a:r>
            <a:r>
              <a:rPr lang="en-US" altLang="pt-BR" b="1" dirty="0"/>
              <a:t> da </a:t>
            </a:r>
            <a:r>
              <a:rPr lang="en-US" altLang="pt-BR" b="1" dirty="0" err="1"/>
              <a:t>Capacidade</a:t>
            </a:r>
            <a:endParaRPr lang="en-US" altLang="pt-BR" dirty="0"/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7FB2DC27-D90E-49BF-BB78-2241BBE9E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96" y="994397"/>
            <a:ext cx="8912467" cy="5863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1CC8515F-B946-420E-A306-B828D1AB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5876"/>
            <a:ext cx="12099234" cy="1325563"/>
          </a:xfrm>
        </p:spPr>
        <p:txBody>
          <a:bodyPr/>
          <a:lstStyle/>
          <a:p>
            <a:pPr algn="ctr" eaLnBrk="1" hangingPunct="1"/>
            <a:r>
              <a:rPr lang="en-US" altLang="pt-BR" b="1" dirty="0" err="1"/>
              <a:t>Gerenciamento</a:t>
            </a:r>
            <a:r>
              <a:rPr lang="en-US" altLang="pt-BR" b="1" dirty="0"/>
              <a:t> da </a:t>
            </a:r>
            <a:r>
              <a:rPr lang="en-US" altLang="pt-BR" b="1" dirty="0" err="1"/>
              <a:t>Capacidade</a:t>
            </a:r>
            <a:endParaRPr lang="en-US" alt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179FCB-ED03-47AE-B87F-22A7F960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74F07F0B-2EF1-4F28-875A-1BF00796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1341439"/>
            <a:ext cx="7705725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0972A5-0CC3-4F4C-99B3-02F893C8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77F957B-66EF-453F-BB80-EB3EC157CC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altLang="pt-BR" sz="4800" b="1" dirty="0"/>
              <a:t>Gerenciamento da Continuidade de Serviço de TI</a:t>
            </a:r>
            <a:br>
              <a:rPr lang="pt-BR" altLang="pt-BR" sz="4800" b="1" dirty="0"/>
            </a:br>
            <a:r>
              <a:rPr lang="pt-BR" altLang="pt-BR" sz="2400" b="1" dirty="0"/>
              <a:t>(</a:t>
            </a:r>
            <a:r>
              <a:rPr lang="en-US" altLang="pt-BR" sz="2400" b="1" i="1" dirty="0"/>
              <a:t>IT Service Continuity Management</a:t>
            </a:r>
            <a:r>
              <a:rPr lang="pt-BR" altLang="pt-BR" sz="2400" b="1" dirty="0"/>
              <a:t>)</a:t>
            </a:r>
          </a:p>
        </p:txBody>
      </p:sp>
      <p:pic>
        <p:nvPicPr>
          <p:cNvPr id="15364" name="Picture 4" descr="MCj04338920000[1]">
            <a:extLst>
              <a:ext uri="{FF2B5EF4-FFF2-40B4-BE49-F238E27FC236}">
                <a16:creationId xmlns:a16="http://schemas.microsoft.com/office/drawing/2014/main" id="{114E9B2C-AF6C-4BCE-AABD-390BFF9A5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636839"/>
            <a:ext cx="2592388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34503-4578-4884-83D1-7974AD9D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255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pt-BR" b="1" dirty="0"/>
              <a:t>Gerenciamento da Continuidade do Serviço de TI</a:t>
            </a:r>
            <a:endParaRPr lang="en-US" dirty="0"/>
          </a:p>
        </p:txBody>
      </p:sp>
      <p:pic>
        <p:nvPicPr>
          <p:cNvPr id="16388" name="Picture 5">
            <a:extLst>
              <a:ext uri="{FF2B5EF4-FFF2-40B4-BE49-F238E27FC236}">
                <a16:creationId xmlns:a16="http://schemas.microsoft.com/office/drawing/2014/main" id="{1F0FC6FE-F41D-4D4B-86E2-929D0B060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60" y="1026906"/>
            <a:ext cx="8789462" cy="568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AFA403-303E-408D-88D2-77843231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EEF9EE4-C498-4E8D-ACD7-C758BBBEF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altLang="pt-BR" sz="4800" b="1" dirty="0"/>
              <a:t>Gerenciamento de Segurança da Informação</a:t>
            </a:r>
            <a:br>
              <a:rPr lang="pt-BR" altLang="pt-BR" sz="4800" b="1" dirty="0"/>
            </a:br>
            <a:r>
              <a:rPr lang="pt-BR" altLang="pt-BR" sz="2400" b="1" dirty="0"/>
              <a:t>(</a:t>
            </a:r>
            <a:r>
              <a:rPr lang="en-US" altLang="pt-BR" sz="2400" b="1" i="1" dirty="0"/>
              <a:t>Information Security Management</a:t>
            </a:r>
            <a:r>
              <a:rPr lang="pt-BR" altLang="pt-BR" sz="2400" b="1" dirty="0"/>
              <a:t>)</a:t>
            </a:r>
          </a:p>
        </p:txBody>
      </p:sp>
      <p:pic>
        <p:nvPicPr>
          <p:cNvPr id="17412" name="Picture 4" descr="MCj04338020000[1]">
            <a:extLst>
              <a:ext uri="{FF2B5EF4-FFF2-40B4-BE49-F238E27FC236}">
                <a16:creationId xmlns:a16="http://schemas.microsoft.com/office/drawing/2014/main" id="{F4165753-B18C-4805-BA1D-2D8544F23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6" y="3141664"/>
            <a:ext cx="26638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30659-6A37-4E0F-B26A-76A3C8111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821"/>
            <a:ext cx="12192000" cy="1325563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pt-BR" b="1" dirty="0"/>
              <a:t>Gerenciamento da Segurança da Informação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0A9388-BE8C-4987-878B-DD9B61D4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A69D39E9-0253-4AC2-BF94-442EAAAC2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435" y="1211297"/>
            <a:ext cx="8934243" cy="53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D5494-CAA1-4383-9743-DA265DE3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pt-BR" b="1" dirty="0"/>
              <a:t>Gerenciamento da Segurança da Informação</a:t>
            </a:r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8F4AFE-BA12-4CBD-9DF8-CF3D8BD6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48C96E10-D8BC-4E53-8750-A903DEA75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1412875"/>
            <a:ext cx="7489825" cy="501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4398C0-3C73-4C01-A1FD-AD25247A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11A2D3C-8050-481A-A31B-F18D1EDE4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b="1"/>
              <a:t>Gerenciamento de Fornecedor</a:t>
            </a:r>
            <a:br>
              <a:rPr lang="pt-BR" altLang="pt-BR" sz="5400" b="1"/>
            </a:br>
            <a:r>
              <a:rPr lang="pt-BR" altLang="pt-BR" sz="2800" b="1"/>
              <a:t>(</a:t>
            </a:r>
            <a:r>
              <a:rPr lang="en-US" altLang="pt-BR" sz="2800" b="1" i="1"/>
              <a:t>Supplier Management</a:t>
            </a:r>
            <a:r>
              <a:rPr lang="pt-BR" altLang="pt-BR" sz="2800" b="1"/>
              <a:t>)</a:t>
            </a:r>
          </a:p>
        </p:txBody>
      </p:sp>
      <p:pic>
        <p:nvPicPr>
          <p:cNvPr id="20484" name="Picture 4" descr="MCj02317740000[1]">
            <a:extLst>
              <a:ext uri="{FF2B5EF4-FFF2-40B4-BE49-F238E27FC236}">
                <a16:creationId xmlns:a16="http://schemas.microsoft.com/office/drawing/2014/main" id="{9702DA58-3D93-4A85-A5C2-AFD448487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2565400"/>
            <a:ext cx="5472112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>
            <a:extLst>
              <a:ext uri="{FF2B5EF4-FFF2-40B4-BE49-F238E27FC236}">
                <a16:creationId xmlns:a16="http://schemas.microsoft.com/office/drawing/2014/main" id="{AE80DB2F-984E-4213-A414-213CA187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b="1"/>
              <a:t>Gerenciamento de Fornecedor</a:t>
            </a:r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1C23E4-E5B8-47EA-8C3C-D1E4C026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3AE5F99B-9BE3-4F9E-92DA-4CD76FE6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484314"/>
            <a:ext cx="8736012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82BBAF91-78F8-4309-BB1B-646BE1B1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62"/>
            <a:ext cx="12192000" cy="1325563"/>
          </a:xfrm>
        </p:spPr>
        <p:txBody>
          <a:bodyPr/>
          <a:lstStyle/>
          <a:p>
            <a:pPr algn="ctr" eaLnBrk="1" hangingPunct="1"/>
            <a:r>
              <a:rPr lang="en-US" altLang="pt-BR" b="1" dirty="0" err="1"/>
              <a:t>Gerenciamento</a:t>
            </a:r>
            <a:r>
              <a:rPr lang="en-US" altLang="pt-BR" b="1" dirty="0"/>
              <a:t> de </a:t>
            </a:r>
            <a:r>
              <a:rPr lang="en-US" altLang="pt-BR" b="1" dirty="0" err="1"/>
              <a:t>Fornecedor</a:t>
            </a:r>
            <a:endParaRPr lang="en-US" altLang="pt-BR" dirty="0"/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id="{30B65B13-841B-4574-AE44-D0DBE46D7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539" y="957987"/>
            <a:ext cx="8518922" cy="56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>
            <a:extLst>
              <a:ext uri="{FF2B5EF4-FFF2-40B4-BE49-F238E27FC236}">
                <a16:creationId xmlns:a16="http://schemas.microsoft.com/office/drawing/2014/main" id="{B1F4795F-032A-49B2-87F5-F2CF219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b="1"/>
              <a:t>Gerenciamento de Fornecedor</a:t>
            </a:r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96E5D4-769C-4E0C-8E66-CC23FF7C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CLAUDIO LIMA - GTI</a:t>
            </a: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B87302E3-DD79-490F-9EDA-60961151F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268414"/>
            <a:ext cx="7348538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12805DCBDE707458BB9FA953E6A68AE" ma:contentTypeVersion="11" ma:contentTypeDescription="Crie um novo documento." ma:contentTypeScope="" ma:versionID="5c57885b02ce926a14bdbbccd70b1c80">
  <xsd:schema xmlns:xsd="http://www.w3.org/2001/XMLSchema" xmlns:xs="http://www.w3.org/2001/XMLSchema" xmlns:p="http://schemas.microsoft.com/office/2006/metadata/properties" xmlns:ns2="022b4726-8909-4e0a-ad20-639ac2ff6b7a" xmlns:ns3="bf55bb95-0e2d-49eb-8730-bda5c0a73d75" targetNamespace="http://schemas.microsoft.com/office/2006/metadata/properties" ma:root="true" ma:fieldsID="25ef80feea7cd1bf4aff6232f55ebfce" ns2:_="" ns3:_="">
    <xsd:import namespace="022b4726-8909-4e0a-ad20-639ac2ff6b7a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b4726-8909-4e0a-ad20-639ac2ff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69aee0-6040-483a-abf4-1bfa4a73a40c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022b4726-8909-4e0a-ad20-639ac2ff6b7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9DC779A-F448-4A0A-8966-77DA75F0BDF5}"/>
</file>

<file path=customXml/itemProps2.xml><?xml version="1.0" encoding="utf-8"?>
<ds:datastoreItem xmlns:ds="http://schemas.openxmlformats.org/officeDocument/2006/customXml" ds:itemID="{4680F625-86B6-4387-90C5-2FF95AF4CFD0}"/>
</file>

<file path=customXml/itemProps3.xml><?xml version="1.0" encoding="utf-8"?>
<ds:datastoreItem xmlns:ds="http://schemas.openxmlformats.org/officeDocument/2006/customXml" ds:itemID="{42615A13-FC14-4587-8C5D-5ADCFBD2A9BE}"/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1077</Words>
  <Application>Microsoft Office PowerPoint</Application>
  <PresentationFormat>Widescreen</PresentationFormat>
  <Paragraphs>172</Paragraphs>
  <Slides>57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3" baseType="lpstr">
      <vt:lpstr>Arial</vt:lpstr>
      <vt:lpstr>Arial Black</vt:lpstr>
      <vt:lpstr>Calibri</vt:lpstr>
      <vt:lpstr>Calibri Light</vt:lpstr>
      <vt:lpstr>Wingdings</vt:lpstr>
      <vt:lpstr>Tema do Office</vt:lpstr>
      <vt:lpstr>Gestão de Governança de TI</vt:lpstr>
      <vt:lpstr>Apresentação do PowerPoint</vt:lpstr>
      <vt:lpstr>Apresentação do PowerPoint</vt:lpstr>
      <vt:lpstr>Apresentação do PowerPoint</vt:lpstr>
      <vt:lpstr>Introdução à ITIL</vt:lpstr>
      <vt:lpstr>Razão para adotar a ITIL</vt:lpstr>
      <vt:lpstr>Apresentação do PowerPoint</vt:lpstr>
      <vt:lpstr>Posicionamento da ITIL</vt:lpstr>
      <vt:lpstr>Alguns caso de Sucesso</vt:lpstr>
      <vt:lpstr>Evolução da ITIL </vt:lpstr>
      <vt:lpstr>Motivadores para a ITIL V3</vt:lpstr>
      <vt:lpstr>Apresentação do PowerPoint</vt:lpstr>
      <vt:lpstr>Apresentação do PowerPoint</vt:lpstr>
      <vt:lpstr>Organizações envolvidas na ITIL V3</vt:lpstr>
      <vt:lpstr>Esquema de qualificação profissional na ITIL V3</vt:lpstr>
      <vt:lpstr>Nível ITIL V3 Foundation</vt:lpstr>
      <vt:lpstr>Nível ITIL V3 Intermediário</vt:lpstr>
      <vt:lpstr>Nível ITIL V3 Expert</vt:lpstr>
      <vt:lpstr>Vantagens da Certificação ITIL</vt:lpstr>
      <vt:lpstr>Mercado de Trabalho para profissionais certificados</vt:lpstr>
      <vt:lpstr>Estratégia de Serviço</vt:lpstr>
      <vt:lpstr>Importante!</vt:lpstr>
      <vt:lpstr>Processos da Estratégia de Serviço</vt:lpstr>
      <vt:lpstr>Atividades da Estratégia de Serviço</vt:lpstr>
      <vt:lpstr>Gerenciamento de Portfolio de Serviço (Service Portfolio Management)</vt:lpstr>
      <vt:lpstr>Gerenciamento do Portfolio de Serviço</vt:lpstr>
      <vt:lpstr>Gerenciamento do Portfolio de Serviço</vt:lpstr>
      <vt:lpstr>Gerenciamento do Portfolio de Serviço</vt:lpstr>
      <vt:lpstr>Gerenciamento do Portfolio de Serviço</vt:lpstr>
      <vt:lpstr>Apresentação do PowerPoint</vt:lpstr>
      <vt:lpstr>Gerenciamento Financeiro</vt:lpstr>
      <vt:lpstr>Gerenciamento Financeiro</vt:lpstr>
      <vt:lpstr>Apresentação do PowerPoint</vt:lpstr>
      <vt:lpstr>Gerenciamento da Demanda</vt:lpstr>
      <vt:lpstr>Gerenciamento da Demanda</vt:lpstr>
      <vt:lpstr>Desenho de Serviço</vt:lpstr>
      <vt:lpstr>5 aspectos do Desenho de Serviço</vt:lpstr>
      <vt:lpstr>Processos do Desenho de Serviço</vt:lpstr>
      <vt:lpstr>Gerenciamento de Catálogo de Serviço (Service Catalogue Management)</vt:lpstr>
      <vt:lpstr>Gerenciamento do Catálogo de Serviço</vt:lpstr>
      <vt:lpstr>Gerenciamento do Catálogo de Serviço</vt:lpstr>
      <vt:lpstr>Gerenciamento de Nível de Serviço</vt:lpstr>
      <vt:lpstr>Apresentação do PowerPoint</vt:lpstr>
      <vt:lpstr>Gerenciamento da Disponibilidade</vt:lpstr>
      <vt:lpstr>Gerenciamento da Disponibilidade</vt:lpstr>
      <vt:lpstr>Gerenciamento da Capacidade (Capacity Management)</vt:lpstr>
      <vt:lpstr>Gerenciamento da Capacidade</vt:lpstr>
      <vt:lpstr>Gerenciamento da Capacidade</vt:lpstr>
      <vt:lpstr>Gerenciamento da Continuidade de Serviço de TI (IT Service Continuity Management)</vt:lpstr>
      <vt:lpstr>Gerenciamento da Continuidade do Serviço de TI</vt:lpstr>
      <vt:lpstr>Gerenciamento de Segurança da Informação (Information Security Management)</vt:lpstr>
      <vt:lpstr>Gerenciamento da Segurança da Informação</vt:lpstr>
      <vt:lpstr>Gerenciamento da Segurança da Informação</vt:lpstr>
      <vt:lpstr>Gerenciamento de Fornecedor (Supplier Management)</vt:lpstr>
      <vt:lpstr>Gerenciamento de Fornecedor</vt:lpstr>
      <vt:lpstr>Gerenciamento de Fornecedor</vt:lpstr>
      <vt:lpstr>Gerenciamento de Fornecedor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Governança de TI</dc:title>
  <dc:creator>CLAUDIO ETELVINO DE LIMA</dc:creator>
  <cp:lastModifiedBy>CLAUDIO ETELVINO DE LIMA</cp:lastModifiedBy>
  <cp:revision>7</cp:revision>
  <dcterms:created xsi:type="dcterms:W3CDTF">2020-05-31T23:16:10Z</dcterms:created>
  <dcterms:modified xsi:type="dcterms:W3CDTF">2020-06-01T00:14:20Z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0x010100A12805DCBDE707458BB9FA953E6A68AE</vt:lpwstr>
  </property>
</Properties>
</file>