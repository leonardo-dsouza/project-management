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sldIdLst>
    <p:sldId id="366" r:id="rId5"/>
    <p:sldId id="369" r:id="rId6"/>
    <p:sldId id="260" r:id="rId7"/>
    <p:sldId id="261" r:id="rId8"/>
    <p:sldId id="362" r:id="rId9"/>
    <p:sldId id="357" r:id="rId10"/>
    <p:sldId id="370" r:id="rId11"/>
    <p:sldId id="368" r:id="rId12"/>
    <p:sldId id="262" r:id="rId13"/>
  </p:sldIdLst>
  <p:sldSz cx="9144000" cy="5143500" type="screen16x9"/>
  <p:notesSz cx="6858000" cy="9144000"/>
  <p:defaultTextStyle>
    <a:lvl1pPr marL="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DBC092-10A7-D9D0-8E5B-F0F31EC7FB1E}" v="13" dt="2026-08-04T17:57:20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2" autoAdjust="0"/>
    <p:restoredTop sz="87567" autoAdjust="0"/>
  </p:normalViewPr>
  <p:slideViewPr>
    <p:cSldViewPr>
      <p:cViewPr varScale="1">
        <p:scale>
          <a:sx n="73" d="100"/>
          <a:sy n="73" d="100"/>
        </p:scale>
        <p:origin x="984" y="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pt-BR" sz="1200"/>
            </a:lvl1pPr>
            <a:extLst/>
          </a:lstStyle>
          <a:p>
            <a:fld id="{A8ADFD5B-A66C-449C-B6E8-FB716D07777D}" type="datetimeFigureOut">
              <a:pPr/>
              <a:t>04/08/2026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pt-BR" sz="1200"/>
            </a:lvl1pPr>
            <a:extLst/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pt-BR" sz="1200"/>
            </a:lvl1pPr>
            <a:extLst/>
          </a:lstStyle>
          <a:p>
            <a:fld id="{CA5D3BF3-D352-46FC-8343-31F56E6730EA}" type="slidenum"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923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pt-BR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52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0871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326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eaLnBrk="1" latinLnBrk="0" hangingPunct="1">
              <a:buNone/>
              <a:defRPr kumimoji="0" lang="pt-BR" sz="28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  <a:extLst/>
          </a:lstStyle>
          <a:p>
            <a:pPr eaLnBrk="1" latinLnBrk="0" hangingPunct="1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pt-BR"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047E157E-8DCB-4F70-A0AF-5EB586A91DD4}" type="datetime1">
              <a:rPr kumimoji="0" lang="pt-BR">
                <a:solidFill>
                  <a:srgbClr val="FFFFFF"/>
                </a:solidFill>
              </a:rPr>
              <a:pPr algn="ctr"/>
              <a:t>04/08/2026</a:t>
            </a:fld>
            <a:endParaRPr kumimoji="0" lang="pt-B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eaLnBrk="1" latinLnBrk="0" hangingPunct="1">
              <a:defRPr kumimoji="0" lang="pt-BR" cap="all" baseline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pt-BR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pt-BR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pt-BR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pt-BR"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pt-BR"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kumimoji="0" lang="pt-BR"/>
              <a:t>Clique para editar o título Mestre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pPr/>
              <a:t>04/08/2026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pt-BR"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2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pt-BR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pt-B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eaLnBrk="1" latinLnBrk="0" hangingPunct="1">
              <a:buFontTx/>
              <a:buNone/>
              <a:defRPr kumimoji="0" lang="pt-BR" sz="2000" b="1">
                <a:solidFill>
                  <a:srgbClr val="FFFFFF"/>
                </a:solidFill>
              </a:defRPr>
            </a:lvl1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pPr/>
              <a:t>04/08/2026</a:t>
            </a:fld>
            <a:endParaRPr kumimoji="0"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pPr/>
              <a:t>04/08/2026</a:t>
            </a:fld>
            <a:endParaRPr kumimoji="0"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pt-BR"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chemeClr val="tx2"/>
                </a:solidFill>
              </a:rPr>
              <a:pPr/>
              <a:t>‹nº›</a:t>
            </a:fld>
            <a:endParaRPr kumimoji="0" lang="pt-B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pt-BR" sz="4200" b="0"/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pPr/>
              <a:t>04/08/2026</a:t>
            </a:fld>
            <a:endParaRPr kumimoji="0"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pt-BR"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kumimoji="0" lang="pt-BR">
                <a:solidFill>
                  <a:srgbClr val="FFFFFF"/>
                </a:solidFill>
              </a:rPr>
              <a:pPr/>
              <a:t>‹nº›</a:t>
            </a:fld>
            <a:endParaRPr kumimoji="0" lang="pt-B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pt-BR" sz="1800"/>
            </a:lvl1pPr>
            <a:lvl2pPr eaLnBrk="1" latinLnBrk="0" hangingPunct="1">
              <a:buNone/>
              <a:defRPr kumimoji="0" lang="pt-BR" sz="1200"/>
            </a:lvl2pPr>
            <a:lvl3pPr eaLnBrk="1" latinLnBrk="0" hangingPunct="1">
              <a:buNone/>
              <a:defRPr kumimoji="0" lang="pt-BR" sz="1000"/>
            </a:lvl3pPr>
            <a:lvl4pPr eaLnBrk="1" latinLnBrk="0" hangingPunct="1">
              <a:buNone/>
              <a:defRPr kumimoji="0" lang="pt-BR" sz="900"/>
            </a:lvl4pPr>
            <a:lvl5pPr eaLnBrk="1" latinLnBrk="0" hangingPunct="1"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pt-BR" sz="3200"/>
            </a:lvl1pPr>
            <a:extLst/>
          </a:lstStyle>
          <a:p>
            <a:r>
              <a:rPr kumimoji="0" lang="pt-BR"/>
              <a:t>Clique no ícone para adicionar uma imagem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pt-BR" sz="1700"/>
            </a:lvl1pPr>
            <a:lvl2pPr eaLnBrk="1" latinLnBrk="0" hangingPunct="1">
              <a:buFontTx/>
              <a:buNone/>
              <a:defRPr kumimoji="0" lang="pt-BR" sz="1200"/>
            </a:lvl2pPr>
            <a:lvl3pPr eaLnBrk="1" latinLnBrk="0" hangingPunct="1">
              <a:buFontTx/>
              <a:buNone/>
              <a:defRPr kumimoji="0" lang="pt-BR" sz="1000"/>
            </a:lvl3pPr>
            <a:lvl4pPr eaLnBrk="1" latinLnBrk="0" hangingPunct="1">
              <a:buFontTx/>
              <a:buNone/>
              <a:defRPr kumimoji="0" lang="pt-BR" sz="900"/>
            </a:lvl4pPr>
            <a:lvl5pPr eaLnBrk="1" latinLnBrk="0" hangingPunct="1">
              <a:buFontTx/>
              <a:buNone/>
              <a:defRPr kumimoji="0" lang="pt-BR" sz="9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pt-BR" sz="2800" b="0">
                <a:solidFill>
                  <a:srgbClr val="FFFFFF"/>
                </a:solidFill>
              </a:defRPr>
            </a:lvl1pPr>
            <a:extLst/>
          </a:lstStyle>
          <a:p>
            <a:pPr eaLnBrk="1" latinLnBrk="0" hangingPunct="1"/>
            <a:r>
              <a:rPr lang="pt-BR"/>
              <a:t>Clique para editar o título mestre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pPr/>
              <a:t>04/08/2026</a:t>
            </a:fld>
            <a:endParaRPr kumimoji="0" lang="pt-B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pt-BR" sz="2800"/>
            </a:lvl1pPr>
            <a:extLst/>
          </a:lstStyle>
          <a:p>
            <a:pPr algn="ctr"/>
            <a:fld id="{8F82E0A0-C266-4798-8C8F-B9F91E9DA37E}" type="slidenum">
              <a:rPr kumimoji="0" lang="pt-BR" sz="28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98B7F-CD15-4C33-9FFC-0364D6C1D1A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326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9CAD7F35-0AD9-4348-9BD3-6CE8D03A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A3913-211A-4416-B351-E8AF4B8ACA4A}" type="datetimeFigureOut">
              <a:rPr lang="pt-BR"/>
              <a:pPr>
                <a:defRPr/>
              </a:pPr>
              <a:t>04/08/2026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875E646-D4AD-4C64-B2C9-462968DF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8467FE66-F545-40D8-ACA4-DEE0D10D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5C929-FF81-4EF3-9541-DBA5CE1B6B5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1040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fld id="{E4606EA6-EFEA-4C30-9264-4F9291A5780D}" type="datetime1">
              <a:pPr/>
              <a:t>04/08/2026</a:t>
            </a:fld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pt-BR" sz="1400">
                <a:solidFill>
                  <a:schemeClr val="tx2"/>
                </a:solidFill>
              </a:defRPr>
            </a:lvl1pPr>
            <a:extLst/>
          </a:lstStyle>
          <a:p>
            <a:pPr algn="r"/>
            <a:endParaRPr kumimoji="0" lang="pt-B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pt-BR"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kumimoji="0" lang="pt-BR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pt-BR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pt-BR"/>
              <a:t>Clique para editar o título mestre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</p:sldLayoutIdLst>
  <p:txStyles>
    <p:titleStyle>
      <a:lvl1pPr algn="l" rtl="0" eaLnBrk="1" latinLnBrk="0" hangingPunct="1">
        <a:spcBef>
          <a:spcPct val="0"/>
        </a:spcBef>
        <a:buNone/>
        <a:defRPr kumimoji="0" lang="pt-BR"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pt-BR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pt-BR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pt-BR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pt-BR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pt-BR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pt-BR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ArLo94Gqr4WNWnIVKtO_HH8L5gz-2JAaNhax8YgW4Ek/edit?usp=sharing" TargetMode="Externa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2339752" y="4659982"/>
            <a:ext cx="6515100" cy="555526"/>
          </a:xfrm>
        </p:spPr>
        <p:txBody>
          <a:bodyPr>
            <a:normAutofit fontScale="55000" lnSpcReduction="20000"/>
          </a:bodyPr>
          <a:lstStyle/>
          <a:p>
            <a:r>
              <a:rPr lang="pt-BR" dirty="0"/>
              <a:t>Análise e Desenvolvimento de Sistemas</a:t>
            </a:r>
          </a:p>
          <a:p>
            <a:r>
              <a:rPr lang="en-US" dirty="0"/>
              <a:t>Prof. Claudio Lima - http://lattes.cnpq.br/</a:t>
            </a:r>
            <a:r>
              <a:rPr lang="pt-BR" dirty="0"/>
              <a:t>9330552327454666</a:t>
            </a:r>
            <a:r>
              <a:rPr lang="en-US" dirty="0"/>
              <a:t> </a:t>
            </a:r>
          </a:p>
          <a:p>
            <a:endParaRPr lang="pt-BR" dirty="0"/>
          </a:p>
        </p:txBody>
      </p:sp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pt-BR" sz="4400" b="1" dirty="0" err="1">
                <a:solidFill>
                  <a:schemeClr val="tx1"/>
                </a:solidFill>
              </a:rPr>
              <a:t>Gestão</a:t>
            </a:r>
            <a:r>
              <a:rPr lang="en-US" altLang="pt-BR" sz="4400" b="1" dirty="0">
                <a:solidFill>
                  <a:schemeClr val="tx1"/>
                </a:solidFill>
              </a:rPr>
              <a:t> e </a:t>
            </a:r>
            <a:r>
              <a:rPr lang="en-US" altLang="pt-BR" sz="4400" b="1" dirty="0" err="1">
                <a:solidFill>
                  <a:schemeClr val="tx1"/>
                </a:solidFill>
              </a:rPr>
              <a:t>Governança</a:t>
            </a:r>
            <a:r>
              <a:rPr lang="en-US" altLang="pt-BR" sz="4400" b="1" dirty="0">
                <a:solidFill>
                  <a:schemeClr val="tx1"/>
                </a:solidFill>
              </a:rPr>
              <a:t> </a:t>
            </a:r>
            <a:r>
              <a:rPr lang="en-US" altLang="pt-BR" sz="4400" b="1" dirty="0" err="1">
                <a:solidFill>
                  <a:schemeClr val="tx1"/>
                </a:solidFill>
              </a:rPr>
              <a:t>Tecnologia</a:t>
            </a:r>
            <a:r>
              <a:rPr lang="en-US" altLang="pt-BR" sz="4400" b="1" dirty="0">
                <a:solidFill>
                  <a:schemeClr val="tx1"/>
                </a:solidFill>
              </a:rPr>
              <a:t> </a:t>
            </a:r>
            <a:br>
              <a:rPr lang="en-US" altLang="pt-BR" sz="4400" b="1" dirty="0">
                <a:solidFill>
                  <a:schemeClr val="tx1"/>
                </a:solidFill>
              </a:rPr>
            </a:br>
            <a:r>
              <a:rPr lang="en-US" altLang="pt-BR" sz="4400" b="1" dirty="0">
                <a:solidFill>
                  <a:schemeClr val="tx1"/>
                </a:solidFill>
              </a:rPr>
              <a:t>da </a:t>
            </a:r>
            <a:r>
              <a:rPr lang="en-US" altLang="pt-BR" sz="4400" b="1" dirty="0" err="1">
                <a:solidFill>
                  <a:schemeClr val="tx1"/>
                </a:solidFill>
              </a:rPr>
              <a:t>Informação</a:t>
            </a:r>
            <a:endParaRPr lang="en-US" altLang="pt-BR" sz="4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46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31590"/>
            <a:ext cx="8712968" cy="4155926"/>
          </a:xfrm>
        </p:spPr>
        <p:txBody>
          <a:bodyPr lIns="92075" tIns="46038" rIns="92075" bIns="46038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endParaRPr lang="pt-BR" altLang="pt-BR" sz="2400" b="1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Formação Acadêmica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Graduado em Ciência da Computação;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Formação Pedagógica;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Engenharia de Sistemas;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Pós Graduado em Psicopedagogia.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Mestrado Incompleto em Engenharia da Computação.</a:t>
            </a:r>
          </a:p>
          <a:p>
            <a:pPr algn="just"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Experiência Profissional :</a:t>
            </a:r>
          </a:p>
          <a:p>
            <a:pPr algn="just">
              <a:lnSpc>
                <a:spcPct val="80000"/>
              </a:lnSpc>
              <a:defRPr/>
            </a:pPr>
            <a:r>
              <a:rPr lang="pt-BR" altLang="pt-BR" sz="1800" dirty="0"/>
              <a:t>Tenho experiência 20 anos no Mercado de Tecnologia Gestão GSB – Gerdau- SA;</a:t>
            </a:r>
          </a:p>
          <a:p>
            <a:pPr algn="just">
              <a:lnSpc>
                <a:spcPct val="80000"/>
              </a:lnSpc>
              <a:defRPr/>
            </a:pPr>
            <a:r>
              <a:rPr lang="pt-BR" sz="1800" dirty="0"/>
              <a:t>Atualmente trabalho com Professor da Fatec-SJC, ETEC e no curso de Gestão Empresarial da FATEC, modalidade a distância.</a:t>
            </a:r>
            <a:endParaRPr lang="pt-BR" altLang="pt-BR" sz="1800" dirty="0"/>
          </a:p>
          <a:p>
            <a:pPr>
              <a:lnSpc>
                <a:spcPct val="80000"/>
              </a:lnSpc>
              <a:defRPr/>
            </a:pPr>
            <a:endParaRPr lang="pt-BR" altLang="pt-BR" sz="1800" dirty="0"/>
          </a:p>
          <a:p>
            <a:pPr marL="0" indent="0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altLang="pt-BR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e-mail: </a:t>
            </a:r>
            <a:r>
              <a:rPr lang="pt-BR" altLang="pt-BR" sz="1800" dirty="0"/>
              <a:t>claudioelima@gmail.com</a:t>
            </a:r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0" y="0"/>
            <a:ext cx="9144000" cy="84415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eaLnBrk="1" hangingPunct="1">
              <a:spcBef>
                <a:spcPct val="0"/>
              </a:spcBef>
              <a:buNone/>
              <a:defRPr kumimoji="0"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pt-BR" altLang="pt-BR" dirty="0"/>
              <a:t>Informações sobre o </a:t>
            </a:r>
            <a:r>
              <a:rPr lang="pt-BR" altLang="pt-BR" dirty="0" err="1"/>
              <a:t>Profº</a:t>
            </a:r>
            <a:r>
              <a:rPr lang="pt-BR" altLang="pt-BR" dirty="0"/>
              <a:t>. Claudio</a:t>
            </a:r>
          </a:p>
        </p:txBody>
      </p:sp>
      <p:pic>
        <p:nvPicPr>
          <p:cNvPr id="3" name="Imagem 2" descr="Homem de barba e óculos&#10;&#10;Descrição gerada automaticamente">
            <a:extLst>
              <a:ext uri="{FF2B5EF4-FFF2-40B4-BE49-F238E27FC236}">
                <a16:creationId xmlns:a16="http://schemas.microsoft.com/office/drawing/2014/main" id="{223466CA-7599-4C69-A186-5C5296FFF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913" y="1275606"/>
            <a:ext cx="2264087" cy="22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74462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41FA367-B275-4ADC-BCB8-23993FB6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5263"/>
            <a:ext cx="9144000" cy="857250"/>
          </a:xfrm>
        </p:spPr>
        <p:txBody>
          <a:bodyPr/>
          <a:lstStyle/>
          <a:p>
            <a:pPr eaLnBrk="1" hangingPunct="1"/>
            <a:r>
              <a:rPr lang="en-US" altLang="pt-BR" sz="2700" dirty="0" err="1"/>
              <a:t>Objetivos</a:t>
            </a:r>
            <a:endParaRPr lang="en-US" altLang="pt-BR" sz="2700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7D28C7E-2B1A-4A2C-97C7-0AF06B791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ctr" eaLnBrk="1" hangingPunct="1">
              <a:buFontTx/>
              <a:buNone/>
            </a:pPr>
            <a:endParaRPr lang="pt-BR" altLang="pt-BR" dirty="0"/>
          </a:p>
          <a:p>
            <a:pPr algn="just" eaLnBrk="1" hangingPunct="1">
              <a:buFontTx/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O objetivo da Gestão e Governança de Tecnologia da </a:t>
            </a:r>
          </a:p>
          <a:p>
            <a:pPr algn="just" eaLnBrk="1" hangingPunct="1">
              <a:buFontTx/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Informação (TI) é garantir que os recursos de TI</a:t>
            </a:r>
          </a:p>
          <a:p>
            <a:pPr algn="just" eaLnBrk="1" hangingPunct="1">
              <a:buFontTx/>
              <a:buNone/>
            </a:pP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sejam utilizados de </a:t>
            </a:r>
            <a:r>
              <a:rPr lang="pt-BR" b="0" i="0" dirty="0">
                <a:solidFill>
                  <a:srgbClr val="FF0000"/>
                </a:solidFill>
                <a:effectLst/>
                <a:latin typeface="Söhne"/>
              </a:rPr>
              <a:t>forma eficaz e alinhados com os</a:t>
            </a:r>
          </a:p>
          <a:p>
            <a:pPr algn="just" eaLnBrk="1" hangingPunct="1">
              <a:buFontTx/>
              <a:buNone/>
            </a:pPr>
            <a:r>
              <a:rPr lang="pt-BR" b="0" i="0" dirty="0">
                <a:solidFill>
                  <a:srgbClr val="FF0000"/>
                </a:solidFill>
                <a:effectLst/>
                <a:latin typeface="Söhne"/>
              </a:rPr>
              <a:t>objetivos estratégicos da organização</a:t>
            </a:r>
            <a:r>
              <a:rPr lang="pt-BR" b="0" i="0" dirty="0">
                <a:solidFill>
                  <a:srgbClr val="0D0D0D"/>
                </a:solidFill>
                <a:effectLst/>
                <a:latin typeface="Söhne"/>
              </a:rPr>
              <a:t>. </a:t>
            </a:r>
            <a:endParaRPr lang="pt-BR" alt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029E6C7-CE63-4FC4-ADD2-3A797A3C3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dirty="0" err="1"/>
              <a:t>Ementa</a:t>
            </a:r>
            <a:endParaRPr lang="en-US" altLang="pt-BR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B4F77F-A696-4120-BCDB-13250F967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363266"/>
            <a:ext cx="8568952" cy="366212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Conceitos básicos de gestão e governança de TI;</a:t>
            </a:r>
          </a:p>
          <a:p>
            <a:pPr eaLnBrk="1" hangingPunct="1">
              <a:lnSpc>
                <a:spcPct val="90000"/>
              </a:lnSpc>
            </a:pP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Principais frameworks de governança de TI (COBIT, </a:t>
            </a:r>
            <a:r>
              <a:rPr lang="pt-BR" sz="2800" b="0" i="0" dirty="0" err="1">
                <a:solidFill>
                  <a:srgbClr val="0D0D0D"/>
                </a:solidFill>
                <a:effectLst/>
                <a:latin typeface="Söhne"/>
              </a:rPr>
              <a:t>OKR’s</a:t>
            </a: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, ITIL e ISO/IEC 27001)</a:t>
            </a:r>
            <a:r>
              <a:rPr lang="pt-BR" sz="2800" dirty="0">
                <a:solidFill>
                  <a:srgbClr val="0D0D0D"/>
                </a:solidFill>
                <a:latin typeface="Söhne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Alinhamento estratégico entre TI e negócio;</a:t>
            </a:r>
          </a:p>
          <a:p>
            <a:pPr eaLnBrk="1" hangingPunct="1">
              <a:lnSpc>
                <a:spcPct val="90000"/>
              </a:lnSpc>
            </a:pP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Planejamento e execução da governança de TI</a:t>
            </a:r>
            <a:r>
              <a:rPr lang="pt-BR" sz="2800" dirty="0">
                <a:solidFill>
                  <a:srgbClr val="0D0D0D"/>
                </a:solidFill>
                <a:latin typeface="Söhne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BR" sz="2800" b="0" i="0" dirty="0">
                <a:solidFill>
                  <a:srgbClr val="0D0D0D"/>
                </a:solidFill>
                <a:effectLst/>
                <a:latin typeface="Söhne"/>
              </a:rPr>
              <a:t>Monitoramento e controle dos processos de TI</a:t>
            </a:r>
            <a:endParaRPr lang="en-US" altLang="pt-BR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C309B-3625-4FBE-9A54-9E49712C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41C9C-6038-4F1B-A382-406FE0F970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7850832" cy="3019399"/>
          </a:xfrm>
        </p:spPr>
        <p:txBody>
          <a:bodyPr/>
          <a:lstStyle/>
          <a:p>
            <a:r>
              <a:rPr lang="pt-BR" dirty="0"/>
              <a:t>Expositiva;</a:t>
            </a:r>
          </a:p>
          <a:p>
            <a:r>
              <a:rPr lang="pt-BR" dirty="0"/>
              <a:t>Mídias;</a:t>
            </a:r>
          </a:p>
          <a:p>
            <a:r>
              <a:rPr lang="pt-BR" dirty="0"/>
              <a:t>Pesquisas;</a:t>
            </a:r>
          </a:p>
          <a:p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Aprendizagem Baseada em Projetos </a:t>
            </a:r>
            <a:r>
              <a:rPr lang="pt-BR" b="1" i="0" dirty="0">
                <a:solidFill>
                  <a:srgbClr val="202124"/>
                </a:solidFill>
                <a:effectLst/>
                <a:latin typeface="Google Sans"/>
              </a:rPr>
              <a:t>Reais</a:t>
            </a:r>
            <a:r>
              <a:rPr lang="pt-BR" b="0" i="0" dirty="0">
                <a:solidFill>
                  <a:srgbClr val="202124"/>
                </a:solidFill>
                <a:effectLst/>
                <a:latin typeface="Google Sans"/>
              </a:rPr>
              <a:t> (RPBL)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212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57250"/>
          </a:xfrm>
        </p:spPr>
        <p:txBody>
          <a:bodyPr vert="horz" anchor="b">
            <a:normAutofit/>
          </a:bodyPr>
          <a:lstStyle/>
          <a:p>
            <a:r>
              <a:rPr lang="en-US" dirty="0" err="1"/>
              <a:t>Carga</a:t>
            </a:r>
            <a:r>
              <a:rPr lang="en-US" dirty="0"/>
              <a:t> </a:t>
            </a:r>
            <a:r>
              <a:rPr lang="en-US" dirty="0" err="1"/>
              <a:t>Horária</a:t>
            </a:r>
            <a:r>
              <a:rPr lang="en-US" dirty="0"/>
              <a:t> da </a:t>
            </a:r>
            <a:r>
              <a:rPr lang="en-US" dirty="0" err="1"/>
              <a:t>Disciplina</a:t>
            </a:r>
            <a:endParaRPr lang="pt-BR" dirty="0"/>
          </a:p>
        </p:txBody>
      </p:sp>
      <p:sp>
        <p:nvSpPr>
          <p:cNvPr id="819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pt-BR" b="1" dirty="0" err="1"/>
              <a:t>Carga</a:t>
            </a:r>
            <a:r>
              <a:rPr lang="en-US" altLang="pt-BR" b="1" dirty="0"/>
              <a:t> </a:t>
            </a:r>
            <a:r>
              <a:rPr lang="en-US" altLang="pt-BR" b="1" dirty="0" err="1"/>
              <a:t>Horária</a:t>
            </a:r>
            <a:r>
              <a:rPr lang="en-US" altLang="pt-BR" b="1" dirty="0"/>
              <a:t> </a:t>
            </a:r>
            <a:r>
              <a:rPr lang="en-US" altLang="pt-BR" b="1" dirty="0" err="1"/>
              <a:t>Semanal</a:t>
            </a:r>
            <a:endParaRPr lang="en-US" altLang="pt-BR" b="1" dirty="0"/>
          </a:p>
          <a:p>
            <a:pPr lvl="1"/>
            <a:r>
              <a:rPr lang="en-US" altLang="pt-BR" dirty="0"/>
              <a:t>04 aulas</a:t>
            </a:r>
          </a:p>
        </p:txBody>
      </p:sp>
    </p:spTree>
    <p:extLst>
      <p:ext uri="{BB962C8B-B14F-4D97-AF65-F5344CB8AC3E}">
        <p14:creationId xmlns:p14="http://schemas.microsoft.com/office/powerpoint/2010/main" val="41597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Avaliação</a:t>
            </a:r>
          </a:p>
        </p:txBody>
      </p:sp>
      <p:sp>
        <p:nvSpPr>
          <p:cNvPr id="3" name="Rectangle 2"/>
          <p:cNvSpPr>
            <a:spLocks noGrp="1"/>
          </p:cNvSpPr>
          <p:nvPr>
            <p:ph sz="quarter" idx="13"/>
          </p:nvPr>
        </p:nvSpPr>
        <p:spPr>
          <a:xfrm>
            <a:off x="0" y="1635646"/>
            <a:ext cx="9144000" cy="4032448"/>
          </a:xfrm>
        </p:spPr>
        <p:txBody>
          <a:bodyPr vert="horz" lIns="91440" tIns="45720" rIns="91440" bIns="45720" anchor="ctr">
            <a:normAutofit/>
          </a:bodyPr>
          <a:lstStyle/>
          <a:p>
            <a:r>
              <a:rPr lang="pt-BR" sz="2000" dirty="0"/>
              <a:t>✅ </a:t>
            </a:r>
            <a:r>
              <a:rPr lang="pt-BR" sz="2000" b="1" dirty="0"/>
              <a:t>Requisitos para Aprovação: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final:</a:t>
            </a:r>
            <a:r>
              <a:rPr lang="pt-BR" sz="2000" dirty="0"/>
              <a:t> É necessário obter </a:t>
            </a:r>
            <a:r>
              <a:rPr lang="pt-BR" sz="2000" b="1" dirty="0"/>
              <a:t>GGTI &gt;= 6</a:t>
            </a:r>
            <a:r>
              <a:rPr lang="pt-BR" sz="2000" dirty="0"/>
              <a:t> para que a nota do API seja considerada.</a:t>
            </a:r>
            <a:br>
              <a:rPr lang="pt-BR" sz="2000" dirty="0"/>
            </a:br>
            <a:r>
              <a:rPr lang="pt-BR" sz="2000" dirty="0"/>
              <a:t>A disciplina </a:t>
            </a:r>
            <a:r>
              <a:rPr lang="pt-BR" sz="2000" b="1" dirty="0"/>
              <a:t>GGTI</a:t>
            </a:r>
            <a:r>
              <a:rPr lang="pt-BR" sz="2000" dirty="0"/>
              <a:t> contará com </a:t>
            </a:r>
            <a:r>
              <a:rPr lang="pt-BR" sz="2000" b="1" dirty="0"/>
              <a:t>3 atividades avaliativas individuais</a:t>
            </a:r>
            <a:r>
              <a:rPr lang="pt-BR" sz="2000" dirty="0"/>
              <a:t> e </a:t>
            </a:r>
            <a:r>
              <a:rPr lang="pt-BR" sz="2000" b="1" dirty="0"/>
              <a:t>2 provas e/ou 1 subs</a:t>
            </a:r>
            <a:r>
              <a:rPr lang="pt-BR" sz="2000" b="1"/>
              <a:t>tituição</a:t>
            </a:r>
            <a:r>
              <a:rPr lang="pt-BR" sz="2000" dirty="0"/>
              <a:t> ao longo do semestre.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📋 </a:t>
            </a:r>
            <a:r>
              <a:rPr lang="pt-BR" sz="2000" b="1" dirty="0"/>
              <a:t>Conceito e Situação: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20 faltas:</a:t>
            </a:r>
            <a:r>
              <a:rPr lang="pt-BR" sz="2000" dirty="0"/>
              <a:t> ❌ </a:t>
            </a:r>
            <a:r>
              <a:rPr lang="pt-BR" sz="2000" i="1" dirty="0"/>
              <a:t>Reprovado por faltas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&lt; 6:</a:t>
            </a:r>
            <a:r>
              <a:rPr lang="pt-BR" sz="2000" dirty="0"/>
              <a:t> ❌ </a:t>
            </a:r>
            <a:r>
              <a:rPr lang="pt-BR" sz="2000" i="1" dirty="0"/>
              <a:t>Reprovado</a:t>
            </a: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b="1" dirty="0"/>
              <a:t>Média Final ≥ 6:</a:t>
            </a:r>
            <a:r>
              <a:rPr lang="pt-BR" sz="2000" dirty="0"/>
              <a:t> ✅ </a:t>
            </a:r>
            <a:r>
              <a:rPr lang="pt-BR" sz="2000" i="1" dirty="0"/>
              <a:t>Aprovado</a:t>
            </a:r>
            <a:endParaRPr lang="pt-BR" sz="2000" dirty="0"/>
          </a:p>
          <a:p>
            <a:r>
              <a:rPr lang="pt-BR" sz="2000" dirty="0"/>
              <a:t>🚫 </a:t>
            </a:r>
            <a:r>
              <a:rPr lang="pt-BR" sz="2000" b="1" dirty="0"/>
              <a:t>Atenção:</a:t>
            </a:r>
            <a:br>
              <a:rPr lang="pt-BR" sz="2000" dirty="0"/>
            </a:br>
            <a:r>
              <a:rPr lang="pt-BR" sz="2000" b="1" dirty="0"/>
              <a:t>EXAME FINAL.</a:t>
            </a:r>
            <a:endParaRPr lang="pt-BR" sz="2000" dirty="0"/>
          </a:p>
          <a:p>
            <a:pPr marL="0" lvl="1" indent="0">
              <a:buNone/>
            </a:pPr>
            <a:endParaRPr lang="pt-BR" sz="2800" dirty="0"/>
          </a:p>
          <a:p>
            <a:pPr marL="274320" lvl="1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8410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30843-7C16-60AE-F759-33880D42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Temas para as AAI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A3F72A-C08B-6B2B-FA24-155F2AC654EA}"/>
              </a:ext>
            </a:extLst>
          </p:cNvPr>
          <p:cNvSpPr txBox="1"/>
          <p:nvPr/>
        </p:nvSpPr>
        <p:spPr>
          <a:xfrm>
            <a:off x="0" y="2387084"/>
            <a:ext cx="88518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hlinkClick r:id="rId2"/>
              </a:rPr>
              <a:t>https://docs.google.com/spreadsheets/d/1ArLo94Gqr4WNWnIVKtO_HH8L5gz-2JAaNhax8YgW4Ek/edit?usp=sharing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00332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1975DB-D8AB-438A-8F01-CA21C51A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35" y="195263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pt-BR"/>
              <a:t>Bibliografia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466769-46F1-4B53-8844-2DB6432AB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IT Governance Institute. (2019). COBIT 2019 Framework: Introduction and Methodology.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Axelos. (2019). ITIL Foundation: IT Service Management.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ISO/IEC. (2013). ISO/IEC 27001: Information Security Management Systems - Requirements.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resentação em Tela Larga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12805DCBDE707458BB9FA953E6A68AE" ma:contentTypeVersion="11" ma:contentTypeDescription="Crie um novo documento." ma:contentTypeScope="" ma:versionID="5c57885b02ce926a14bdbbccd70b1c80">
  <xsd:schema xmlns:xsd="http://www.w3.org/2001/XMLSchema" xmlns:xs="http://www.w3.org/2001/XMLSchema" xmlns:p="http://schemas.microsoft.com/office/2006/metadata/properties" xmlns:ns2="022b4726-8909-4e0a-ad20-639ac2ff6b7a" xmlns:ns3="bf55bb95-0e2d-49eb-8730-bda5c0a73d75" targetNamespace="http://schemas.microsoft.com/office/2006/metadata/properties" ma:root="true" ma:fieldsID="25ef80feea7cd1bf4aff6232f55ebfce" ns2:_="" ns3:_="">
    <xsd:import namespace="022b4726-8909-4e0a-ad20-639ac2ff6b7a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b4726-8909-4e0a-ad20-639ac2ff6b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69aee0-6040-483a-abf4-1bfa4a73a40c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022b4726-8909-4e0a-ad20-639ac2ff6b7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E4CE109-BB9A-4059-9BDF-8C6C0608A5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E5C3B4-2D4C-4454-A949-06478EBE25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2b4726-8909-4e0a-ad20-639ac2ff6b7a"/>
    <ds:schemaRef ds:uri="bf55bb95-0e2d-49eb-8730-bda5c0a73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582C976-5D49-4B8A-A868-9E156B9CFD90}">
  <ds:schemaRefs>
    <ds:schemaRef ds:uri="8f94e721-8c3d-4d58-ab47-46c3fe6735fe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06ba939-f0a4-4dd1-a8bd-bd4679773681"/>
    <ds:schemaRef ds:uri="http://schemas.microsoft.com/office/2006/metadata/properties"/>
    <ds:schemaRef ds:uri="bf55bb95-0e2d-49eb-8730-bda5c0a73d75"/>
    <ds:schemaRef ds:uri="022b4726-8909-4e0a-ad20-639ac2ff6b7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374</Words>
  <Application>Microsoft Office PowerPoint</Application>
  <PresentationFormat>Apresentação na tela (16:9)</PresentationFormat>
  <Paragraphs>54</Paragraphs>
  <Slides>9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Apresentação em Tela Larga</vt:lpstr>
      <vt:lpstr>Gestão e Governança Tecnologia  da Informação</vt:lpstr>
      <vt:lpstr>Apresentação do PowerPoint</vt:lpstr>
      <vt:lpstr>Objetivos</vt:lpstr>
      <vt:lpstr>Ementa</vt:lpstr>
      <vt:lpstr>Metodologia</vt:lpstr>
      <vt:lpstr>Carga Horária da Disciplina</vt:lpstr>
      <vt:lpstr>Critério de Avaliação</vt:lpstr>
      <vt:lpstr>Temas para as AAI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2012-07-30T18:40:18Z</dcterms:created>
  <dcterms:modified xsi:type="dcterms:W3CDTF">2026-08-04T17:57:34Z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1046</vt:i4>
  </property>
  <property fmtid="{D5CDD505-2E9C-101B-9397-08002B2CF9AE}" pid="3" name="_Version">
    <vt:lpwstr>12.0.4518</vt:lpwstr>
  </property>
  <property fmtid="{D5CDD505-2E9C-101B-9397-08002B2CF9AE}" pid="4" name="ContentTypeId">
    <vt:lpwstr>0x010100A12805DCBDE707458BB9FA953E6A68AE</vt:lpwstr>
  </property>
  <property fmtid="{D5CDD505-2E9C-101B-9397-08002B2CF9AE}" pid="5" name="MediaServiceImageTags">
    <vt:lpwstr/>
  </property>
  <property fmtid="{D5CDD505-2E9C-101B-9397-08002B2CF9AE}" pid="6" name="Order">
    <vt:r8>300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